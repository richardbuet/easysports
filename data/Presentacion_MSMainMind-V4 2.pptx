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30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304" r:id="rId31"/>
    <p:sldId id="289" r:id="rId32"/>
    <p:sldId id="305" r:id="rId33"/>
    <p:sldId id="306" r:id="rId34"/>
    <p:sldId id="291" r:id="rId35"/>
    <p:sldId id="292" r:id="rId36"/>
    <p:sldId id="293" r:id="rId37"/>
    <p:sldId id="294" r:id="rId38"/>
    <p:sldId id="295" r:id="rId39"/>
    <p:sldId id="299" r:id="rId40"/>
    <p:sldId id="307" r:id="rId41"/>
    <p:sldId id="300" r:id="rId4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488"/>
    <a:srgbClr val="7BD4F7"/>
    <a:srgbClr val="0091D2"/>
    <a:srgbClr val="F51339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27" autoAdjust="0"/>
  </p:normalViewPr>
  <p:slideViewPr>
    <p:cSldViewPr>
      <p:cViewPr varScale="1">
        <p:scale>
          <a:sx n="92" d="100"/>
          <a:sy n="92" d="100"/>
        </p:scale>
        <p:origin x="39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115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1253A-586F-42A5-99F8-A9DF3085288B}" type="datetimeFigureOut">
              <a:rPr lang="es-AR" smtClean="0"/>
              <a:t>13/9/2026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86361-F031-4E9B-9DB0-3A4A23651F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456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Elegimos el nombre MS </a:t>
            </a:r>
            <a:r>
              <a:rPr lang="es-MX" dirty="0" err="1"/>
              <a:t>Main</a:t>
            </a:r>
            <a:r>
              <a:rPr lang="es-MX" dirty="0"/>
              <a:t> </a:t>
            </a:r>
            <a:r>
              <a:rPr lang="es-MX" dirty="0" err="1"/>
              <a:t>Mind</a:t>
            </a:r>
            <a:r>
              <a:rPr lang="es-MX" dirty="0"/>
              <a:t> porque somos integrantes de distintas líneas, pero trabajamos como un solo equipo. </a:t>
            </a:r>
            <a:r>
              <a:rPr lang="es-MX" dirty="0" err="1"/>
              <a:t>Main</a:t>
            </a:r>
            <a:r>
              <a:rPr lang="es-MX" dirty="0"/>
              <a:t> </a:t>
            </a:r>
            <a:r>
              <a:rPr lang="es-MX" dirty="0" err="1"/>
              <a:t>Mind</a:t>
            </a:r>
            <a:r>
              <a:rPr lang="es-MX" dirty="0"/>
              <a:t> representa justamente esa mentalidad colectiva: unir nuestras experiencias y conocimientos para detectar oportunidades de mejora y desarrollar proyectos que puedan beneficiar a todo MS.”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86361-F031-4E9B-9DB0-3A4A23651FA1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544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90599"/>
            <a:ext cx="2162175" cy="4152900"/>
          </a:xfrm>
          <a:custGeom>
            <a:avLst/>
            <a:gdLst/>
            <a:ahLst/>
            <a:cxnLst/>
            <a:rect l="l" t="t" r="r" b="b"/>
            <a:pathLst>
              <a:path w="2162175" h="4152900">
                <a:moveTo>
                  <a:pt x="2162175" y="0"/>
                </a:moveTo>
                <a:lnTo>
                  <a:pt x="0" y="0"/>
                </a:lnTo>
                <a:lnTo>
                  <a:pt x="0" y="4152900"/>
                </a:lnTo>
                <a:lnTo>
                  <a:pt x="2162175" y="4152900"/>
                </a:lnTo>
                <a:lnTo>
                  <a:pt x="2162175" y="0"/>
                </a:lnTo>
                <a:close/>
              </a:path>
            </a:pathLst>
          </a:custGeom>
          <a:solidFill>
            <a:srgbClr val="2E7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0"/>
            <a:ext cx="7315200" cy="51434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2752725" cy="5143500"/>
          </a:xfrm>
          <a:custGeom>
            <a:avLst/>
            <a:gdLst/>
            <a:ahLst/>
            <a:cxnLst/>
            <a:rect l="l" t="t" r="r" b="b"/>
            <a:pathLst>
              <a:path w="2752725" h="5143500">
                <a:moveTo>
                  <a:pt x="2752725" y="0"/>
                </a:moveTo>
                <a:lnTo>
                  <a:pt x="0" y="0"/>
                </a:lnTo>
                <a:lnTo>
                  <a:pt x="0" y="5143500"/>
                </a:lnTo>
                <a:lnTo>
                  <a:pt x="2752725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3375" y="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590550" y="0"/>
                </a:moveTo>
                <a:lnTo>
                  <a:pt x="0" y="0"/>
                </a:lnTo>
                <a:lnTo>
                  <a:pt x="0" y="492125"/>
                </a:lnTo>
                <a:lnTo>
                  <a:pt x="7735" y="530435"/>
                </a:lnTo>
                <a:lnTo>
                  <a:pt x="28828" y="561721"/>
                </a:lnTo>
                <a:lnTo>
                  <a:pt x="60114" y="582814"/>
                </a:lnTo>
                <a:lnTo>
                  <a:pt x="98425" y="590550"/>
                </a:lnTo>
                <a:lnTo>
                  <a:pt x="492125" y="590550"/>
                </a:lnTo>
                <a:lnTo>
                  <a:pt x="530435" y="582814"/>
                </a:lnTo>
                <a:lnTo>
                  <a:pt x="561721" y="561720"/>
                </a:lnTo>
                <a:lnTo>
                  <a:pt x="582814" y="530435"/>
                </a:lnTo>
                <a:lnTo>
                  <a:pt x="590550" y="492125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612" y="1452625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425" y="209549"/>
            <a:ext cx="561975" cy="180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5277" y="813752"/>
            <a:ext cx="1353820" cy="504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4E6C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4E6C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4E6C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91D2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2743200" cy="2724150"/>
          </a:xfrm>
          <a:custGeom>
            <a:avLst/>
            <a:gdLst/>
            <a:ahLst/>
            <a:cxnLst/>
            <a:rect l="l" t="t" r="r" b="b"/>
            <a:pathLst>
              <a:path w="2743200" h="2724150">
                <a:moveTo>
                  <a:pt x="2743200" y="114300"/>
                </a:moveTo>
                <a:lnTo>
                  <a:pt x="2461476" y="114300"/>
                </a:lnTo>
                <a:lnTo>
                  <a:pt x="2580843" y="0"/>
                </a:lnTo>
                <a:lnTo>
                  <a:pt x="1333703" y="0"/>
                </a:lnTo>
                <a:lnTo>
                  <a:pt x="0" y="1277124"/>
                </a:lnTo>
                <a:lnTo>
                  <a:pt x="0" y="2471420"/>
                </a:lnTo>
                <a:lnTo>
                  <a:pt x="47625" y="2425814"/>
                </a:lnTo>
                <a:lnTo>
                  <a:pt x="47625" y="2724150"/>
                </a:lnTo>
                <a:lnTo>
                  <a:pt x="2743200" y="11430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372225" y="2325834"/>
            <a:ext cx="2771775" cy="2818130"/>
          </a:xfrm>
          <a:custGeom>
            <a:avLst/>
            <a:gdLst/>
            <a:ahLst/>
            <a:cxnLst/>
            <a:rect l="l" t="t" r="r" b="b"/>
            <a:pathLst>
              <a:path w="2771775" h="2818129">
                <a:moveTo>
                  <a:pt x="2771774" y="0"/>
                </a:moveTo>
                <a:lnTo>
                  <a:pt x="0" y="2817664"/>
                </a:lnTo>
                <a:lnTo>
                  <a:pt x="2771774" y="2817664"/>
                </a:lnTo>
                <a:lnTo>
                  <a:pt x="2771774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8884285" y="0"/>
                </a:lnTo>
                <a:lnTo>
                  <a:pt x="8884285" y="250190"/>
                </a:lnTo>
                <a:lnTo>
                  <a:pt x="8884285" y="4883150"/>
                </a:lnTo>
                <a:lnTo>
                  <a:pt x="259765" y="4883150"/>
                </a:lnTo>
                <a:lnTo>
                  <a:pt x="259765" y="250190"/>
                </a:lnTo>
                <a:lnTo>
                  <a:pt x="8884285" y="250190"/>
                </a:lnTo>
                <a:lnTo>
                  <a:pt x="8884285" y="0"/>
                </a:lnTo>
                <a:lnTo>
                  <a:pt x="0" y="0"/>
                </a:lnTo>
                <a:lnTo>
                  <a:pt x="0" y="250190"/>
                </a:lnTo>
                <a:lnTo>
                  <a:pt x="0" y="488315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4883734"/>
                </a:lnTo>
                <a:lnTo>
                  <a:pt x="9144000" y="4883150"/>
                </a:lnTo>
                <a:lnTo>
                  <a:pt x="9144000" y="25019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91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276725" y="0"/>
            <a:ext cx="590550" cy="5143500"/>
          </a:xfrm>
          <a:custGeom>
            <a:avLst/>
            <a:gdLst/>
            <a:ahLst/>
            <a:cxnLst/>
            <a:rect l="l" t="t" r="r" b="b"/>
            <a:pathLst>
              <a:path w="590550" h="5143500">
                <a:moveTo>
                  <a:pt x="590550" y="4651375"/>
                </a:moveTo>
                <a:lnTo>
                  <a:pt x="582803" y="4613072"/>
                </a:lnTo>
                <a:lnTo>
                  <a:pt x="561721" y="4581779"/>
                </a:lnTo>
                <a:lnTo>
                  <a:pt x="530428" y="4560697"/>
                </a:lnTo>
                <a:lnTo>
                  <a:pt x="492125" y="4552950"/>
                </a:lnTo>
                <a:lnTo>
                  <a:pt x="98425" y="4552950"/>
                </a:lnTo>
                <a:lnTo>
                  <a:pt x="60109" y="4560697"/>
                </a:lnTo>
                <a:lnTo>
                  <a:pt x="28829" y="4581779"/>
                </a:lnTo>
                <a:lnTo>
                  <a:pt x="7734" y="4613072"/>
                </a:lnTo>
                <a:lnTo>
                  <a:pt x="0" y="4651375"/>
                </a:lnTo>
                <a:lnTo>
                  <a:pt x="0" y="5143500"/>
                </a:lnTo>
                <a:lnTo>
                  <a:pt x="590550" y="5143500"/>
                </a:lnTo>
                <a:lnTo>
                  <a:pt x="590550" y="4651375"/>
                </a:lnTo>
                <a:close/>
              </a:path>
              <a:path w="590550" h="5143500">
                <a:moveTo>
                  <a:pt x="590550" y="0"/>
                </a:moveTo>
                <a:lnTo>
                  <a:pt x="0" y="0"/>
                </a:lnTo>
                <a:lnTo>
                  <a:pt x="0" y="482600"/>
                </a:lnTo>
                <a:lnTo>
                  <a:pt x="7734" y="520915"/>
                </a:lnTo>
                <a:lnTo>
                  <a:pt x="28829" y="552196"/>
                </a:lnTo>
                <a:lnTo>
                  <a:pt x="60109" y="573290"/>
                </a:lnTo>
                <a:lnTo>
                  <a:pt x="98425" y="581025"/>
                </a:lnTo>
                <a:lnTo>
                  <a:pt x="492125" y="581025"/>
                </a:lnTo>
                <a:lnTo>
                  <a:pt x="530428" y="573290"/>
                </a:lnTo>
                <a:lnTo>
                  <a:pt x="561721" y="552196"/>
                </a:lnTo>
                <a:lnTo>
                  <a:pt x="582803" y="520915"/>
                </a:lnTo>
                <a:lnTo>
                  <a:pt x="590550" y="482600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5775" y="4752975"/>
            <a:ext cx="561975" cy="180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4E6C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83150"/>
            <a:ext cx="9144000" cy="260350"/>
          </a:xfrm>
          <a:custGeom>
            <a:avLst/>
            <a:gdLst/>
            <a:ahLst/>
            <a:cxnLst/>
            <a:rect l="l" t="t" r="r" b="b"/>
            <a:pathLst>
              <a:path w="9144000" h="260350">
                <a:moveTo>
                  <a:pt x="0" y="260350"/>
                </a:moveTo>
                <a:lnTo>
                  <a:pt x="9144000" y="260350"/>
                </a:lnTo>
                <a:lnTo>
                  <a:pt x="9144000" y="0"/>
                </a:lnTo>
                <a:lnTo>
                  <a:pt x="0" y="0"/>
                </a:lnTo>
                <a:lnTo>
                  <a:pt x="0" y="260350"/>
                </a:lnTo>
                <a:close/>
              </a:path>
            </a:pathLst>
          </a:custGeom>
          <a:solidFill>
            <a:srgbClr val="0091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4883785"/>
          </a:xfrm>
          <a:custGeom>
            <a:avLst/>
            <a:gdLst/>
            <a:ahLst/>
            <a:cxnLst/>
            <a:rect l="l" t="t" r="r" b="b"/>
            <a:pathLst>
              <a:path w="9144000" h="4883785">
                <a:moveTo>
                  <a:pt x="9144000" y="0"/>
                </a:moveTo>
                <a:lnTo>
                  <a:pt x="0" y="0"/>
                </a:lnTo>
                <a:lnTo>
                  <a:pt x="0" y="250190"/>
                </a:lnTo>
                <a:lnTo>
                  <a:pt x="0" y="4883150"/>
                </a:lnTo>
                <a:lnTo>
                  <a:pt x="259765" y="4883150"/>
                </a:lnTo>
                <a:lnTo>
                  <a:pt x="259765" y="250190"/>
                </a:lnTo>
                <a:lnTo>
                  <a:pt x="8884285" y="250190"/>
                </a:lnTo>
                <a:lnTo>
                  <a:pt x="8884285" y="4883734"/>
                </a:lnTo>
                <a:lnTo>
                  <a:pt x="9144000" y="4883734"/>
                </a:lnTo>
                <a:lnTo>
                  <a:pt x="9144000" y="25019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91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8150" y="0"/>
            <a:ext cx="647700" cy="352425"/>
          </a:xfrm>
          <a:custGeom>
            <a:avLst/>
            <a:gdLst/>
            <a:ahLst/>
            <a:cxnLst/>
            <a:rect l="l" t="t" r="r" b="b"/>
            <a:pathLst>
              <a:path w="647700" h="352425">
                <a:moveTo>
                  <a:pt x="647700" y="0"/>
                </a:moveTo>
                <a:lnTo>
                  <a:pt x="0" y="0"/>
                </a:lnTo>
                <a:lnTo>
                  <a:pt x="0" y="292100"/>
                </a:lnTo>
                <a:lnTo>
                  <a:pt x="4746" y="315563"/>
                </a:lnTo>
                <a:lnTo>
                  <a:pt x="17684" y="334740"/>
                </a:lnTo>
                <a:lnTo>
                  <a:pt x="36861" y="347678"/>
                </a:lnTo>
                <a:lnTo>
                  <a:pt x="60325" y="352425"/>
                </a:lnTo>
                <a:lnTo>
                  <a:pt x="587375" y="352425"/>
                </a:lnTo>
                <a:lnTo>
                  <a:pt x="610838" y="347678"/>
                </a:lnTo>
                <a:lnTo>
                  <a:pt x="630015" y="334740"/>
                </a:lnTo>
                <a:lnTo>
                  <a:pt x="642953" y="315563"/>
                </a:lnTo>
                <a:lnTo>
                  <a:pt x="647700" y="292100"/>
                </a:lnTo>
                <a:lnTo>
                  <a:pt x="647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0" y="142875"/>
            <a:ext cx="571500" cy="18097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88378" y="703071"/>
            <a:ext cx="8545830" cy="4236720"/>
          </a:xfrm>
          <a:custGeom>
            <a:avLst/>
            <a:gdLst/>
            <a:ahLst/>
            <a:cxnLst/>
            <a:rect l="l" t="t" r="r" b="b"/>
            <a:pathLst>
              <a:path w="8545830" h="4236720">
                <a:moveTo>
                  <a:pt x="252006" y="502932"/>
                </a:moveTo>
                <a:lnTo>
                  <a:pt x="0" y="502932"/>
                </a:lnTo>
                <a:lnTo>
                  <a:pt x="0" y="838200"/>
                </a:lnTo>
                <a:lnTo>
                  <a:pt x="0" y="1097280"/>
                </a:lnTo>
                <a:lnTo>
                  <a:pt x="0" y="4236720"/>
                </a:lnTo>
                <a:lnTo>
                  <a:pt x="252006" y="4236720"/>
                </a:lnTo>
                <a:lnTo>
                  <a:pt x="252006" y="838200"/>
                </a:lnTo>
                <a:lnTo>
                  <a:pt x="252006" y="502932"/>
                </a:lnTo>
                <a:close/>
              </a:path>
              <a:path w="8545830" h="4236720">
                <a:moveTo>
                  <a:pt x="8545741" y="0"/>
                </a:moveTo>
                <a:lnTo>
                  <a:pt x="5867946" y="0"/>
                </a:lnTo>
                <a:lnTo>
                  <a:pt x="3059976" y="0"/>
                </a:lnTo>
                <a:lnTo>
                  <a:pt x="252006" y="0"/>
                </a:lnTo>
                <a:lnTo>
                  <a:pt x="0" y="0"/>
                </a:lnTo>
                <a:lnTo>
                  <a:pt x="0" y="243840"/>
                </a:lnTo>
                <a:lnTo>
                  <a:pt x="0" y="502920"/>
                </a:lnTo>
                <a:lnTo>
                  <a:pt x="252006" y="502920"/>
                </a:lnTo>
                <a:lnTo>
                  <a:pt x="252006" y="243840"/>
                </a:lnTo>
                <a:lnTo>
                  <a:pt x="3059976" y="243840"/>
                </a:lnTo>
                <a:lnTo>
                  <a:pt x="5867946" y="243840"/>
                </a:lnTo>
                <a:lnTo>
                  <a:pt x="8545741" y="243840"/>
                </a:lnTo>
                <a:lnTo>
                  <a:pt x="854574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40385" y="4680712"/>
            <a:ext cx="7488555" cy="259079"/>
          </a:xfrm>
          <a:custGeom>
            <a:avLst/>
            <a:gdLst/>
            <a:ahLst/>
            <a:cxnLst/>
            <a:rect l="l" t="t" r="r" b="b"/>
            <a:pathLst>
              <a:path w="7488555" h="259079">
                <a:moveTo>
                  <a:pt x="1871992" y="0"/>
                </a:moveTo>
                <a:lnTo>
                  <a:pt x="935990" y="0"/>
                </a:lnTo>
                <a:lnTo>
                  <a:pt x="0" y="0"/>
                </a:lnTo>
                <a:lnTo>
                  <a:pt x="0" y="259080"/>
                </a:lnTo>
                <a:lnTo>
                  <a:pt x="935990" y="259080"/>
                </a:lnTo>
                <a:lnTo>
                  <a:pt x="1871992" y="259080"/>
                </a:lnTo>
                <a:lnTo>
                  <a:pt x="1871992" y="0"/>
                </a:lnTo>
                <a:close/>
              </a:path>
              <a:path w="7488555" h="259079">
                <a:moveTo>
                  <a:pt x="4679962" y="0"/>
                </a:moveTo>
                <a:lnTo>
                  <a:pt x="3743972" y="0"/>
                </a:lnTo>
                <a:lnTo>
                  <a:pt x="2807970" y="0"/>
                </a:lnTo>
                <a:lnTo>
                  <a:pt x="2807970" y="259080"/>
                </a:lnTo>
                <a:lnTo>
                  <a:pt x="3743960" y="259080"/>
                </a:lnTo>
                <a:lnTo>
                  <a:pt x="4679962" y="259080"/>
                </a:lnTo>
                <a:lnTo>
                  <a:pt x="4679962" y="0"/>
                </a:lnTo>
                <a:close/>
              </a:path>
              <a:path w="7488555" h="259079">
                <a:moveTo>
                  <a:pt x="6551943" y="0"/>
                </a:moveTo>
                <a:lnTo>
                  <a:pt x="5615940" y="0"/>
                </a:lnTo>
                <a:lnTo>
                  <a:pt x="5615940" y="259080"/>
                </a:lnTo>
                <a:lnTo>
                  <a:pt x="6551943" y="259080"/>
                </a:lnTo>
                <a:lnTo>
                  <a:pt x="6551943" y="0"/>
                </a:lnTo>
                <a:close/>
              </a:path>
              <a:path w="7488555" h="259079">
                <a:moveTo>
                  <a:pt x="7488060" y="0"/>
                </a:moveTo>
                <a:lnTo>
                  <a:pt x="6552057" y="0"/>
                </a:lnTo>
                <a:lnTo>
                  <a:pt x="6552057" y="259080"/>
                </a:lnTo>
                <a:lnTo>
                  <a:pt x="7488060" y="259080"/>
                </a:lnTo>
                <a:lnTo>
                  <a:pt x="7488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88378" y="4939797"/>
            <a:ext cx="252095" cy="203835"/>
          </a:xfrm>
          <a:custGeom>
            <a:avLst/>
            <a:gdLst/>
            <a:ahLst/>
            <a:cxnLst/>
            <a:rect l="l" t="t" r="r" b="b"/>
            <a:pathLst>
              <a:path w="252095" h="203835">
                <a:moveTo>
                  <a:pt x="252006" y="0"/>
                </a:moveTo>
                <a:lnTo>
                  <a:pt x="0" y="0"/>
                </a:lnTo>
                <a:lnTo>
                  <a:pt x="0" y="203702"/>
                </a:lnTo>
                <a:lnTo>
                  <a:pt x="252006" y="203702"/>
                </a:lnTo>
                <a:lnTo>
                  <a:pt x="252006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540385" y="4939804"/>
            <a:ext cx="7488555" cy="203835"/>
          </a:xfrm>
          <a:custGeom>
            <a:avLst/>
            <a:gdLst/>
            <a:ahLst/>
            <a:cxnLst/>
            <a:rect l="l" t="t" r="r" b="b"/>
            <a:pathLst>
              <a:path w="7488555" h="203835">
                <a:moveTo>
                  <a:pt x="1871992" y="0"/>
                </a:moveTo>
                <a:lnTo>
                  <a:pt x="935990" y="0"/>
                </a:lnTo>
                <a:lnTo>
                  <a:pt x="0" y="0"/>
                </a:lnTo>
                <a:lnTo>
                  <a:pt x="0" y="203695"/>
                </a:lnTo>
                <a:lnTo>
                  <a:pt x="935990" y="203695"/>
                </a:lnTo>
                <a:lnTo>
                  <a:pt x="1871992" y="203695"/>
                </a:lnTo>
                <a:lnTo>
                  <a:pt x="1871992" y="0"/>
                </a:lnTo>
                <a:close/>
              </a:path>
              <a:path w="7488555" h="203835">
                <a:moveTo>
                  <a:pt x="4679962" y="0"/>
                </a:moveTo>
                <a:lnTo>
                  <a:pt x="3743972" y="0"/>
                </a:lnTo>
                <a:lnTo>
                  <a:pt x="2807970" y="0"/>
                </a:lnTo>
                <a:lnTo>
                  <a:pt x="2807970" y="203695"/>
                </a:lnTo>
                <a:lnTo>
                  <a:pt x="3743960" y="203695"/>
                </a:lnTo>
                <a:lnTo>
                  <a:pt x="4679962" y="203695"/>
                </a:lnTo>
                <a:lnTo>
                  <a:pt x="4679962" y="0"/>
                </a:lnTo>
                <a:close/>
              </a:path>
              <a:path w="7488555" h="203835">
                <a:moveTo>
                  <a:pt x="6551943" y="0"/>
                </a:moveTo>
                <a:lnTo>
                  <a:pt x="5615940" y="0"/>
                </a:lnTo>
                <a:lnTo>
                  <a:pt x="5615940" y="203695"/>
                </a:lnTo>
                <a:lnTo>
                  <a:pt x="6551943" y="203695"/>
                </a:lnTo>
                <a:lnTo>
                  <a:pt x="6551943" y="0"/>
                </a:lnTo>
                <a:close/>
              </a:path>
              <a:path w="7488555" h="203835">
                <a:moveTo>
                  <a:pt x="7488060" y="0"/>
                </a:moveTo>
                <a:lnTo>
                  <a:pt x="6552057" y="0"/>
                </a:lnTo>
                <a:lnTo>
                  <a:pt x="6552057" y="203695"/>
                </a:lnTo>
                <a:lnTo>
                  <a:pt x="7488060" y="203695"/>
                </a:lnTo>
                <a:lnTo>
                  <a:pt x="7488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420" y="140969"/>
            <a:ext cx="8858631" cy="597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4E6C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472" y="1038225"/>
            <a:ext cx="7852409" cy="239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1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23849"/>
              <a:ext cx="9144000" cy="4819650"/>
            </a:xfrm>
            <a:custGeom>
              <a:avLst/>
              <a:gdLst/>
              <a:ahLst/>
              <a:cxnLst/>
              <a:rect l="l" t="t" r="r" b="b"/>
              <a:pathLst>
                <a:path w="9144000" h="4819650">
                  <a:moveTo>
                    <a:pt x="9144000" y="0"/>
                  </a:moveTo>
                  <a:lnTo>
                    <a:pt x="0" y="0"/>
                  </a:lnTo>
                  <a:lnTo>
                    <a:pt x="0" y="4819650"/>
                  </a:lnTo>
                  <a:lnTo>
                    <a:pt x="9144000" y="48196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5334000" cy="5143500"/>
            </a:xfrm>
            <a:custGeom>
              <a:avLst/>
              <a:gdLst/>
              <a:ahLst/>
              <a:cxnLst/>
              <a:rect l="l" t="t" r="r" b="b"/>
              <a:pathLst>
                <a:path w="5334000" h="5143500">
                  <a:moveTo>
                    <a:pt x="0" y="0"/>
                  </a:moveTo>
                  <a:lnTo>
                    <a:pt x="0" y="5143499"/>
                  </a:lnTo>
                  <a:lnTo>
                    <a:pt x="5334000" y="514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8000" y="361950"/>
              <a:ext cx="6096000" cy="4781550"/>
            </a:xfrm>
            <a:custGeom>
              <a:avLst/>
              <a:gdLst/>
              <a:ahLst/>
              <a:cxnLst/>
              <a:rect l="l" t="t" r="r" b="b"/>
              <a:pathLst>
                <a:path w="6096000" h="4781550">
                  <a:moveTo>
                    <a:pt x="0" y="4781549"/>
                  </a:moveTo>
                  <a:lnTo>
                    <a:pt x="6096000" y="4781549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4781549"/>
                  </a:lnTo>
                  <a:close/>
                </a:path>
              </a:pathLst>
            </a:custGeom>
            <a:solidFill>
              <a:srgbClr val="6CCFF6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38475" y="371475"/>
              <a:ext cx="6086475" cy="4772025"/>
            </a:xfrm>
            <a:custGeom>
              <a:avLst/>
              <a:gdLst/>
              <a:ahLst/>
              <a:cxnLst/>
              <a:rect l="l" t="t" r="r" b="b"/>
              <a:pathLst>
                <a:path w="6086475" h="4772025">
                  <a:moveTo>
                    <a:pt x="6086475" y="0"/>
                  </a:moveTo>
                  <a:lnTo>
                    <a:pt x="3270504" y="0"/>
                  </a:lnTo>
                  <a:lnTo>
                    <a:pt x="0" y="2564130"/>
                  </a:lnTo>
                  <a:lnTo>
                    <a:pt x="0" y="4772024"/>
                  </a:lnTo>
                  <a:lnTo>
                    <a:pt x="6086475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19425" y="371474"/>
              <a:ext cx="6124575" cy="4772025"/>
            </a:xfrm>
            <a:custGeom>
              <a:avLst/>
              <a:gdLst/>
              <a:ahLst/>
              <a:cxnLst/>
              <a:rect l="l" t="t" r="r" b="b"/>
              <a:pathLst>
                <a:path w="6124575" h="4772025">
                  <a:moveTo>
                    <a:pt x="2686050" y="0"/>
                  </a:moveTo>
                  <a:lnTo>
                    <a:pt x="1443355" y="0"/>
                  </a:lnTo>
                  <a:lnTo>
                    <a:pt x="0" y="1110615"/>
                  </a:lnTo>
                  <a:lnTo>
                    <a:pt x="0" y="2066925"/>
                  </a:lnTo>
                  <a:lnTo>
                    <a:pt x="2686050" y="0"/>
                  </a:lnTo>
                  <a:close/>
                </a:path>
                <a:path w="6124575" h="4772025">
                  <a:moveTo>
                    <a:pt x="6124575" y="2943377"/>
                  </a:moveTo>
                  <a:lnTo>
                    <a:pt x="4324350" y="4772025"/>
                  </a:lnTo>
                  <a:lnTo>
                    <a:pt x="6124575" y="4772025"/>
                  </a:lnTo>
                  <a:lnTo>
                    <a:pt x="6124575" y="2943377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85950" y="2943225"/>
              <a:ext cx="1162050" cy="1152525"/>
            </a:xfrm>
            <a:custGeom>
              <a:avLst/>
              <a:gdLst/>
              <a:ahLst/>
              <a:cxnLst/>
              <a:rect l="l" t="t" r="r" b="b"/>
              <a:pathLst>
                <a:path w="1162050" h="1152525">
                  <a:moveTo>
                    <a:pt x="1162050" y="0"/>
                  </a:moveTo>
                  <a:lnTo>
                    <a:pt x="192150" y="0"/>
                  </a:lnTo>
                  <a:lnTo>
                    <a:pt x="148076" y="5072"/>
                  </a:lnTo>
                  <a:lnTo>
                    <a:pt x="107626" y="19521"/>
                  </a:lnTo>
                  <a:lnTo>
                    <a:pt x="71949" y="42197"/>
                  </a:lnTo>
                  <a:lnTo>
                    <a:pt x="42197" y="71949"/>
                  </a:lnTo>
                  <a:lnTo>
                    <a:pt x="19521" y="107626"/>
                  </a:lnTo>
                  <a:lnTo>
                    <a:pt x="5072" y="148076"/>
                  </a:lnTo>
                  <a:lnTo>
                    <a:pt x="0" y="192150"/>
                  </a:lnTo>
                  <a:lnTo>
                    <a:pt x="0" y="960437"/>
                  </a:lnTo>
                  <a:lnTo>
                    <a:pt x="5072" y="1004480"/>
                  </a:lnTo>
                  <a:lnTo>
                    <a:pt x="19521" y="1044911"/>
                  </a:lnTo>
                  <a:lnTo>
                    <a:pt x="42197" y="1080576"/>
                  </a:lnTo>
                  <a:lnTo>
                    <a:pt x="71949" y="1110324"/>
                  </a:lnTo>
                  <a:lnTo>
                    <a:pt x="107626" y="1133000"/>
                  </a:lnTo>
                  <a:lnTo>
                    <a:pt x="148076" y="1147451"/>
                  </a:lnTo>
                  <a:lnTo>
                    <a:pt x="192150" y="1152525"/>
                  </a:lnTo>
                  <a:lnTo>
                    <a:pt x="1162050" y="1152525"/>
                  </a:lnTo>
                  <a:lnTo>
                    <a:pt x="1162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19525" y="4067175"/>
              <a:ext cx="695960" cy="38100"/>
            </a:xfrm>
            <a:custGeom>
              <a:avLst/>
              <a:gdLst/>
              <a:ahLst/>
              <a:cxnLst/>
              <a:rect l="l" t="t" r="r" b="b"/>
              <a:pathLst>
                <a:path w="695960" h="38100">
                  <a:moveTo>
                    <a:pt x="69570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695706" y="38100"/>
                  </a:lnTo>
                  <a:lnTo>
                    <a:pt x="6957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361950"/>
            </a:xfrm>
            <a:custGeom>
              <a:avLst/>
              <a:gdLst/>
              <a:ahLst/>
              <a:cxnLst/>
              <a:rect l="l" t="t" r="r" b="b"/>
              <a:pathLst>
                <a:path w="9144000" h="361950">
                  <a:moveTo>
                    <a:pt x="91440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9144000" y="3619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0050" y="38100"/>
              <a:ext cx="1085850" cy="2857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4525" y="3343275"/>
              <a:ext cx="1104900" cy="352425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3756297" y="3343275"/>
            <a:ext cx="314007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70" dirty="0">
                <a:solidFill>
                  <a:srgbClr val="FFFFFF"/>
                </a:solidFill>
              </a:rPr>
              <a:t>M</a:t>
            </a:r>
            <a:r>
              <a:rPr lang="es-AR" sz="3600" spc="270" dirty="0">
                <a:solidFill>
                  <a:srgbClr val="FFFFFF"/>
                </a:solidFill>
              </a:rPr>
              <a:t>S</a:t>
            </a:r>
            <a:r>
              <a:rPr sz="3600" spc="-2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Maind</a:t>
            </a:r>
            <a:r>
              <a:rPr sz="3600" spc="-275" dirty="0">
                <a:solidFill>
                  <a:srgbClr val="FFFFFF"/>
                </a:solidFill>
              </a:rPr>
              <a:t> </a:t>
            </a:r>
            <a:r>
              <a:rPr sz="3600" spc="-20" dirty="0">
                <a:solidFill>
                  <a:srgbClr val="FFFFFF"/>
                </a:solidFill>
              </a:rPr>
              <a:t>Mind</a:t>
            </a:r>
            <a:endParaRPr sz="3600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391EC1EE-CDEC-4F3C-AFF7-9D3576CBE826}"/>
              </a:ext>
            </a:extLst>
          </p:cNvPr>
          <p:cNvGrpSpPr/>
          <p:nvPr/>
        </p:nvGrpSpPr>
        <p:grpSpPr>
          <a:xfrm>
            <a:off x="3271837" y="677900"/>
            <a:ext cx="4181475" cy="2800162"/>
            <a:chOff x="3271837" y="677900"/>
            <a:chExt cx="4181475" cy="2800162"/>
          </a:xfrm>
        </p:grpSpPr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0ED215A7-5A49-4837-AD86-0E42E12D407D}"/>
                </a:ext>
              </a:extLst>
            </p:cNvPr>
            <p:cNvPicPr/>
            <p:nvPr/>
          </p:nvPicPr>
          <p:blipFill rotWithShape="1">
            <a:blip r:embed="rId5" cstate="print">
              <a:clrChange>
                <a:clrFrom>
                  <a:srgbClr val="FCFCFC"/>
                </a:clrFrom>
                <a:clrTo>
                  <a:srgbClr val="FCFCFC">
                    <a:alpha val="0"/>
                  </a:srgbClr>
                </a:clrTo>
              </a:clrChange>
              <a:alphaModFix amt="50000"/>
            </a:blip>
            <a:srcRect b="9117"/>
            <a:stretch/>
          </p:blipFill>
          <p:spPr>
            <a:xfrm>
              <a:off x="3271837" y="677900"/>
              <a:ext cx="4181475" cy="2800162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78AE4930-C909-4B16-B458-45127CF16F9C}"/>
                </a:ext>
              </a:extLst>
            </p:cNvPr>
            <p:cNvSpPr/>
            <p:nvPr/>
          </p:nvSpPr>
          <p:spPr>
            <a:xfrm rot="395949">
              <a:off x="4458349" y="2849092"/>
              <a:ext cx="1580996" cy="135567"/>
            </a:xfrm>
            <a:custGeom>
              <a:avLst/>
              <a:gdLst>
                <a:gd name="connsiteX0" fmla="*/ 0 w 1528594"/>
                <a:gd name="connsiteY0" fmla="*/ 0 h 108000"/>
                <a:gd name="connsiteX1" fmla="*/ 1528594 w 1528594"/>
                <a:gd name="connsiteY1" fmla="*/ 0 h 108000"/>
                <a:gd name="connsiteX2" fmla="*/ 1528594 w 1528594"/>
                <a:gd name="connsiteY2" fmla="*/ 108000 h 108000"/>
                <a:gd name="connsiteX3" fmla="*/ 0 w 1528594"/>
                <a:gd name="connsiteY3" fmla="*/ 108000 h 108000"/>
                <a:gd name="connsiteX4" fmla="*/ 0 w 1528594"/>
                <a:gd name="connsiteY4" fmla="*/ 0 h 108000"/>
                <a:gd name="connsiteX0" fmla="*/ 35616 w 1564210"/>
                <a:gd name="connsiteY0" fmla="*/ 0 h 109563"/>
                <a:gd name="connsiteX1" fmla="*/ 1564210 w 1564210"/>
                <a:gd name="connsiteY1" fmla="*/ 0 h 109563"/>
                <a:gd name="connsiteX2" fmla="*/ 1564210 w 1564210"/>
                <a:gd name="connsiteY2" fmla="*/ 108000 h 109563"/>
                <a:gd name="connsiteX3" fmla="*/ 0 w 1564210"/>
                <a:gd name="connsiteY3" fmla="*/ 109563 h 109563"/>
                <a:gd name="connsiteX4" fmla="*/ 35616 w 1564210"/>
                <a:gd name="connsiteY4" fmla="*/ 0 h 109563"/>
                <a:gd name="connsiteX0" fmla="*/ 14555 w 1564210"/>
                <a:gd name="connsiteY0" fmla="*/ 0 h 114797"/>
                <a:gd name="connsiteX1" fmla="*/ 1564210 w 1564210"/>
                <a:gd name="connsiteY1" fmla="*/ 5234 h 114797"/>
                <a:gd name="connsiteX2" fmla="*/ 1564210 w 1564210"/>
                <a:gd name="connsiteY2" fmla="*/ 113234 h 114797"/>
                <a:gd name="connsiteX3" fmla="*/ 0 w 1564210"/>
                <a:gd name="connsiteY3" fmla="*/ 114797 h 114797"/>
                <a:gd name="connsiteX4" fmla="*/ 14555 w 1564210"/>
                <a:gd name="connsiteY4" fmla="*/ 0 h 114797"/>
                <a:gd name="connsiteX0" fmla="*/ 14555 w 1580996"/>
                <a:gd name="connsiteY0" fmla="*/ 4379 h 119176"/>
                <a:gd name="connsiteX1" fmla="*/ 1580996 w 1580996"/>
                <a:gd name="connsiteY1" fmla="*/ 0 h 119176"/>
                <a:gd name="connsiteX2" fmla="*/ 1564210 w 1580996"/>
                <a:gd name="connsiteY2" fmla="*/ 117613 h 119176"/>
                <a:gd name="connsiteX3" fmla="*/ 0 w 1580996"/>
                <a:gd name="connsiteY3" fmla="*/ 119176 h 119176"/>
                <a:gd name="connsiteX4" fmla="*/ 14555 w 1580996"/>
                <a:gd name="connsiteY4" fmla="*/ 4379 h 119176"/>
                <a:gd name="connsiteX0" fmla="*/ 14555 w 1580996"/>
                <a:gd name="connsiteY0" fmla="*/ 4379 h 135567"/>
                <a:gd name="connsiteX1" fmla="*/ 1580996 w 1580996"/>
                <a:gd name="connsiteY1" fmla="*/ 0 h 135567"/>
                <a:gd name="connsiteX2" fmla="*/ 1563730 w 1580996"/>
                <a:gd name="connsiteY2" fmla="*/ 135567 h 135567"/>
                <a:gd name="connsiteX3" fmla="*/ 0 w 1580996"/>
                <a:gd name="connsiteY3" fmla="*/ 119176 h 135567"/>
                <a:gd name="connsiteX4" fmla="*/ 14555 w 1580996"/>
                <a:gd name="connsiteY4" fmla="*/ 4379 h 135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0996" h="135567">
                  <a:moveTo>
                    <a:pt x="14555" y="4379"/>
                  </a:moveTo>
                  <a:lnTo>
                    <a:pt x="1580996" y="0"/>
                  </a:lnTo>
                  <a:lnTo>
                    <a:pt x="1563730" y="135567"/>
                  </a:lnTo>
                  <a:lnTo>
                    <a:pt x="0" y="119176"/>
                  </a:lnTo>
                  <a:lnTo>
                    <a:pt x="14555" y="4379"/>
                  </a:lnTo>
                  <a:close/>
                </a:path>
              </a:pathLst>
            </a:custGeom>
            <a:solidFill>
              <a:srgbClr val="4374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6CC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66970" y="0"/>
            <a:ext cx="5777230" cy="5143500"/>
            <a:chOff x="3366970" y="0"/>
            <a:chExt cx="5777230" cy="5143500"/>
          </a:xfrm>
        </p:grpSpPr>
        <p:sp>
          <p:nvSpPr>
            <p:cNvPr id="4" name="object 4"/>
            <p:cNvSpPr/>
            <p:nvPr/>
          </p:nvSpPr>
          <p:spPr>
            <a:xfrm>
              <a:off x="3366970" y="0"/>
              <a:ext cx="5767705" cy="5143500"/>
            </a:xfrm>
            <a:custGeom>
              <a:avLst/>
              <a:gdLst/>
              <a:ahLst/>
              <a:cxnLst/>
              <a:rect l="l" t="t" r="r" b="b"/>
              <a:pathLst>
                <a:path w="5767705" h="5143500">
                  <a:moveTo>
                    <a:pt x="5767662" y="0"/>
                  </a:moveTo>
                  <a:lnTo>
                    <a:pt x="5058494" y="0"/>
                  </a:lnTo>
                  <a:lnTo>
                    <a:pt x="0" y="5143500"/>
                  </a:lnTo>
                  <a:lnTo>
                    <a:pt x="709167" y="5143500"/>
                  </a:lnTo>
                  <a:lnTo>
                    <a:pt x="5767662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86300" y="609600"/>
              <a:ext cx="4457700" cy="4533900"/>
            </a:xfrm>
            <a:custGeom>
              <a:avLst/>
              <a:gdLst/>
              <a:ahLst/>
              <a:cxnLst/>
              <a:rect l="l" t="t" r="r" b="b"/>
              <a:pathLst>
                <a:path w="4457700" h="4533900">
                  <a:moveTo>
                    <a:pt x="4457700" y="0"/>
                  </a:moveTo>
                  <a:lnTo>
                    <a:pt x="0" y="4533900"/>
                  </a:lnTo>
                  <a:lnTo>
                    <a:pt x="4457700" y="4533900"/>
                  </a:lnTo>
                  <a:lnTo>
                    <a:pt x="4457700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62950" y="455295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492125" y="0"/>
                  </a:moveTo>
                  <a:lnTo>
                    <a:pt x="98425" y="0"/>
                  </a:lnTo>
                  <a:lnTo>
                    <a:pt x="60114" y="7735"/>
                  </a:lnTo>
                  <a:lnTo>
                    <a:pt x="28828" y="28829"/>
                  </a:lnTo>
                  <a:lnTo>
                    <a:pt x="7735" y="60114"/>
                  </a:lnTo>
                  <a:lnTo>
                    <a:pt x="0" y="98425"/>
                  </a:lnTo>
                  <a:lnTo>
                    <a:pt x="0" y="590549"/>
                  </a:lnTo>
                  <a:lnTo>
                    <a:pt x="590550" y="590549"/>
                  </a:lnTo>
                  <a:lnTo>
                    <a:pt x="590550" y="98425"/>
                  </a:lnTo>
                  <a:lnTo>
                    <a:pt x="582814" y="60114"/>
                  </a:lnTo>
                  <a:lnTo>
                    <a:pt x="561720" y="28829"/>
                  </a:lnTo>
                  <a:lnTo>
                    <a:pt x="530435" y="7735"/>
                  </a:lnTo>
                  <a:lnTo>
                    <a:pt x="49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9275" y="1524000"/>
              <a:ext cx="1419225" cy="36004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9950" y="1524000"/>
              <a:ext cx="885825" cy="3600448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328800" y="823975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88669" y="904176"/>
            <a:ext cx="3582035" cy="32219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0"/>
              </a:spcBef>
              <a:buClr>
                <a:srgbClr val="EC1B2E"/>
              </a:buClr>
              <a:buFont typeface="Calibri"/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Formación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4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círculo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Clr>
                <a:srgbClr val="EC1B2E"/>
              </a:buClr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Origen</a:t>
            </a:r>
            <a:r>
              <a:rPr sz="1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nombre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círculo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EC1B2E"/>
              </a:buClr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Cronograma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actividades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Clr>
                <a:srgbClr val="EC1B2E"/>
              </a:buClr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Selección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tema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lr>
                <a:srgbClr val="EC1B2E"/>
              </a:buClr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situación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EC1B2E"/>
              </a:buClr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causas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Clr>
                <a:srgbClr val="EC1B2E"/>
              </a:buClr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Objetivos y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Metas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EC1B2E"/>
              </a:buClr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Estudio</a:t>
            </a:r>
            <a:r>
              <a:rPr sz="1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Implementación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soluciones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Clr>
                <a:srgbClr val="EC1B2E"/>
              </a:buClr>
              <a:buAutoNum type="arabicPeriod"/>
              <a:tabLst>
                <a:tab pos="35560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resultados</a:t>
            </a:r>
            <a:endParaRPr sz="1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spcBef>
                <a:spcPts val="575"/>
              </a:spcBef>
              <a:buClr>
                <a:srgbClr val="EC1B2E"/>
              </a:buClr>
              <a:buAutoNum type="arabicPeriod"/>
              <a:tabLst>
                <a:tab pos="35306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Freno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contra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retroceso</a:t>
            </a:r>
            <a:endParaRPr sz="1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spcBef>
                <a:spcPts val="570"/>
              </a:spcBef>
              <a:buClr>
                <a:srgbClr val="EC1B2E"/>
              </a:buClr>
              <a:buAutoNum type="arabicPeriod"/>
              <a:tabLst>
                <a:tab pos="35306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Trabajos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Futuros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246" rIns="0" bIns="0" rtlCol="0">
            <a:spAutoFit/>
          </a:bodyPr>
          <a:lstStyle/>
          <a:p>
            <a:pPr marL="113474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</a:rPr>
              <a:t>Índice</a:t>
            </a:r>
            <a:endParaRPr sz="1800"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0" y="4752975"/>
            <a:ext cx="5619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8BD9F8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71596" y="1791806"/>
            <a:ext cx="2506980" cy="10096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3950" spc="-10" dirty="0">
                <a:solidFill>
                  <a:srgbClr val="FFFFFF"/>
                </a:solidFill>
              </a:rPr>
              <a:t>Formación</a:t>
            </a:r>
            <a:endParaRPr sz="3950"/>
          </a:p>
          <a:p>
            <a:pPr marL="10160" algn="ctr">
              <a:lnSpc>
                <a:spcPct val="100000"/>
              </a:lnSpc>
              <a:spcBef>
                <a:spcPts val="215"/>
              </a:spcBef>
            </a:pPr>
            <a:r>
              <a:rPr sz="2000" b="0" spc="-40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000" b="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círculo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Formación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del </a:t>
            </a:r>
            <a:r>
              <a:rPr spc="-10" dirty="0">
                <a:solidFill>
                  <a:srgbClr val="FFFFFF"/>
                </a:solidFill>
              </a:rPr>
              <a:t>círculo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620" y="1581848"/>
            <a:ext cx="121285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¿Dónde</a:t>
            </a:r>
            <a:r>
              <a:rPr sz="1550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Calibri"/>
                <a:cs typeface="Calibri"/>
              </a:rPr>
              <a:t>nos </a:t>
            </a: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encontramos?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76722" y="3838575"/>
            <a:ext cx="1172210" cy="552450"/>
          </a:xfrm>
          <a:custGeom>
            <a:avLst/>
            <a:gdLst/>
            <a:ahLst/>
            <a:cxnLst/>
            <a:rect l="l" t="t" r="r" b="b"/>
            <a:pathLst>
              <a:path w="1172210" h="552450">
                <a:moveTo>
                  <a:pt x="1171702" y="0"/>
                </a:moveTo>
                <a:lnTo>
                  <a:pt x="133476" y="0"/>
                </a:lnTo>
                <a:lnTo>
                  <a:pt x="133476" y="92075"/>
                </a:lnTo>
                <a:lnTo>
                  <a:pt x="0" y="15875"/>
                </a:lnTo>
                <a:lnTo>
                  <a:pt x="133476" y="230187"/>
                </a:lnTo>
                <a:lnTo>
                  <a:pt x="133476" y="552450"/>
                </a:lnTo>
                <a:lnTo>
                  <a:pt x="1171702" y="552450"/>
                </a:lnTo>
                <a:lnTo>
                  <a:pt x="1171702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93639" y="3878262"/>
            <a:ext cx="631825" cy="468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40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Argentina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Buenos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Aires</a:t>
            </a:r>
            <a:r>
              <a:rPr sz="9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Campana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76888" y="2847974"/>
            <a:ext cx="2133600" cy="2295525"/>
            <a:chOff x="5076888" y="2847974"/>
            <a:chExt cx="2133600" cy="22955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6888" y="3695763"/>
              <a:ext cx="123825" cy="123825"/>
            </a:xfrm>
            <a:prstGeom prst="rect">
              <a:avLst/>
            </a:prstGeom>
          </p:spPr>
        </p:pic>
        <p:pic>
          <p:nvPicPr>
            <p:cNvPr id="8" name="object 8" descr="Dibujo de una persona  Descripción generada automáticamente con confianza baja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4150" y="2847974"/>
              <a:ext cx="676275" cy="22955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00" y="0"/>
              <a:ext cx="3048000" cy="5143500"/>
            </a:xfrm>
            <a:custGeom>
              <a:avLst/>
              <a:gdLst/>
              <a:ahLst/>
              <a:cxnLst/>
              <a:rect l="l" t="t" r="r" b="b"/>
              <a:pathLst>
                <a:path w="3048000" h="5143500">
                  <a:moveTo>
                    <a:pt x="3048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048000" y="514350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6096000" cy="5143500"/>
            </a:xfrm>
            <a:custGeom>
              <a:avLst/>
              <a:gdLst/>
              <a:ahLst/>
              <a:cxnLst/>
              <a:rect l="l" t="t" r="r" b="b"/>
              <a:pathLst>
                <a:path w="6096000" h="5143500">
                  <a:moveTo>
                    <a:pt x="0" y="5143499"/>
                  </a:moveTo>
                  <a:lnTo>
                    <a:pt x="6095999" y="51435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6CCFF6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2475" y="4552949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492125" y="0"/>
                  </a:moveTo>
                  <a:lnTo>
                    <a:pt x="98425" y="0"/>
                  </a:lnTo>
                  <a:lnTo>
                    <a:pt x="60114" y="7735"/>
                  </a:lnTo>
                  <a:lnTo>
                    <a:pt x="28828" y="28829"/>
                  </a:lnTo>
                  <a:lnTo>
                    <a:pt x="7735" y="60114"/>
                  </a:lnTo>
                  <a:lnTo>
                    <a:pt x="0" y="98425"/>
                  </a:lnTo>
                  <a:lnTo>
                    <a:pt x="0" y="590549"/>
                  </a:lnTo>
                  <a:lnTo>
                    <a:pt x="590550" y="590549"/>
                  </a:lnTo>
                  <a:lnTo>
                    <a:pt x="590550" y="98425"/>
                  </a:lnTo>
                  <a:lnTo>
                    <a:pt x="582814" y="60114"/>
                  </a:lnTo>
                  <a:lnTo>
                    <a:pt x="561720" y="28829"/>
                  </a:lnTo>
                  <a:lnTo>
                    <a:pt x="530435" y="7735"/>
                  </a:lnTo>
                  <a:lnTo>
                    <a:pt x="49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67526" y="871600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4">
                  <a:moveTo>
                    <a:pt x="0" y="0"/>
                  </a:moveTo>
                  <a:lnTo>
                    <a:pt x="452374" y="0"/>
                  </a:lnTo>
                </a:path>
              </a:pathLst>
            </a:custGeom>
            <a:ln w="28575">
              <a:solidFill>
                <a:srgbClr val="EC1B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05450" y="437197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98425" y="0"/>
                  </a:lnTo>
                  <a:lnTo>
                    <a:pt x="60114" y="7735"/>
                  </a:lnTo>
                  <a:lnTo>
                    <a:pt x="28829" y="28829"/>
                  </a:lnTo>
                  <a:lnTo>
                    <a:pt x="7735" y="60114"/>
                  </a:lnTo>
                  <a:lnTo>
                    <a:pt x="0" y="98425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590550" y="590550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4219575" cy="5143500"/>
            </a:xfrm>
            <a:custGeom>
              <a:avLst/>
              <a:gdLst/>
              <a:ahLst/>
              <a:cxnLst/>
              <a:rect l="l" t="t" r="r" b="b"/>
              <a:pathLst>
                <a:path w="4219575" h="5143500">
                  <a:moveTo>
                    <a:pt x="4219575" y="5143500"/>
                  </a:moveTo>
                  <a:lnTo>
                    <a:pt x="0" y="0"/>
                  </a:lnTo>
                  <a:lnTo>
                    <a:pt x="0" y="2686050"/>
                  </a:lnTo>
                  <a:lnTo>
                    <a:pt x="0" y="5143500"/>
                  </a:lnTo>
                  <a:lnTo>
                    <a:pt x="2019300" y="5143500"/>
                  </a:lnTo>
                  <a:lnTo>
                    <a:pt x="4219575" y="5143500"/>
                  </a:lnTo>
                  <a:close/>
                </a:path>
              </a:pathLst>
            </a:custGeom>
            <a:solidFill>
              <a:srgbClr val="FFFFFF">
                <a:alpha val="2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4500" y="4581524"/>
              <a:ext cx="561975" cy="180975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370320" y="157797"/>
            <a:ext cx="152400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10" dirty="0">
                <a:solidFill>
                  <a:srgbClr val="EC1B2E"/>
                </a:solidFill>
              </a:rPr>
              <a:t>Formación</a:t>
            </a:r>
            <a:r>
              <a:rPr sz="1800" spc="-240" dirty="0">
                <a:solidFill>
                  <a:srgbClr val="EC1B2E"/>
                </a:solidFill>
              </a:rPr>
              <a:t> </a:t>
            </a:r>
            <a:r>
              <a:rPr sz="1800" spc="-25" dirty="0">
                <a:solidFill>
                  <a:srgbClr val="EC1B2E"/>
                </a:solidFill>
              </a:rPr>
              <a:t>del </a:t>
            </a:r>
            <a:r>
              <a:rPr sz="1800" spc="-10" dirty="0">
                <a:solidFill>
                  <a:srgbClr val="EC1B2E"/>
                </a:solidFill>
              </a:rPr>
              <a:t>círculo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6388353" y="972248"/>
            <a:ext cx="177990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Honda.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Motor de</a:t>
            </a:r>
            <a:r>
              <a:rPr sz="14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Argentina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 S.A.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05550" y="3228975"/>
            <a:ext cx="2609850" cy="1647825"/>
            <a:chOff x="6305550" y="3228975"/>
            <a:chExt cx="2609850" cy="164782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5550" y="3228975"/>
              <a:ext cx="2609850" cy="16478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259117" y="3534409"/>
              <a:ext cx="104775" cy="67310"/>
            </a:xfrm>
            <a:custGeom>
              <a:avLst/>
              <a:gdLst/>
              <a:ahLst/>
              <a:cxnLst/>
              <a:rect l="l" t="t" r="r" b="b"/>
              <a:pathLst>
                <a:path w="104775" h="67310">
                  <a:moveTo>
                    <a:pt x="0" y="67309"/>
                  </a:moveTo>
                  <a:lnTo>
                    <a:pt x="104189" y="67309"/>
                  </a:lnTo>
                  <a:lnTo>
                    <a:pt x="104189" y="0"/>
                  </a:lnTo>
                  <a:lnTo>
                    <a:pt x="0" y="0"/>
                  </a:lnTo>
                  <a:lnTo>
                    <a:pt x="0" y="67309"/>
                  </a:lnTo>
                  <a:close/>
                </a:path>
              </a:pathLst>
            </a:custGeom>
            <a:solidFill>
              <a:srgbClr val="FF84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13220" y="3271380"/>
            <a:ext cx="838200" cy="272415"/>
          </a:xfrm>
          <a:prstGeom prst="rect">
            <a:avLst/>
          </a:prstGeom>
          <a:solidFill>
            <a:srgbClr val="FF8403"/>
          </a:solidFill>
        </p:spPr>
        <p:txBody>
          <a:bodyPr vert="horz" wrap="square" lIns="0" tIns="4318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340"/>
              </a:spcBef>
            </a:pP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MS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05626" y="1690751"/>
            <a:ext cx="10668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vert="horz" wrap="square" lIns="0" tIns="1587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250"/>
              </a:spcBef>
            </a:pPr>
            <a:r>
              <a:rPr sz="1100" dirty="0">
                <a:solidFill>
                  <a:srgbClr val="7E7E7E"/>
                </a:solidFill>
                <a:latin typeface="Calibri"/>
                <a:cs typeface="Calibri"/>
              </a:rPr>
              <a:t>MS</a:t>
            </a:r>
            <a:r>
              <a:rPr sz="1100" spc="-10" dirty="0">
                <a:solidFill>
                  <a:srgbClr val="7E7E7E"/>
                </a:solidFill>
                <a:latin typeface="Calibri"/>
                <a:cs typeface="Calibri"/>
              </a:rPr>
              <a:t> Main </a:t>
            </a:r>
            <a:r>
              <a:rPr sz="1100" spc="-20" dirty="0">
                <a:solidFill>
                  <a:srgbClr val="7E7E7E"/>
                </a:solidFill>
                <a:latin typeface="Calibri"/>
                <a:cs typeface="Calibri"/>
              </a:rPr>
              <a:t>Mind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05626" y="2311903"/>
            <a:ext cx="2609850" cy="34714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100" b="1" spc="-25" dirty="0">
                <a:solidFill>
                  <a:schemeClr val="tx1"/>
                </a:solidFill>
                <a:latin typeface="Trebuchet MS"/>
                <a:cs typeface="Trebuchet MS"/>
              </a:rPr>
              <a:t>EL</a:t>
            </a:r>
            <a:r>
              <a:rPr sz="1100" b="1" spc="-1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chemeClr val="tx1"/>
                </a:solidFill>
                <a:latin typeface="Trebuchet MS"/>
                <a:cs typeface="Trebuchet MS"/>
              </a:rPr>
              <a:t>SECTOR</a:t>
            </a:r>
            <a:r>
              <a:rPr sz="1100" b="1" spc="-1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chemeClr val="tx1"/>
                </a:solidFill>
                <a:latin typeface="Trebuchet MS"/>
                <a:cs typeface="Trebuchet MS"/>
              </a:rPr>
              <a:t>PERTENECE</a:t>
            </a:r>
            <a:r>
              <a:rPr sz="1100" b="1" spc="-1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chemeClr val="tx1"/>
                </a:solidFill>
                <a:latin typeface="Trebuchet MS"/>
                <a:cs typeface="Trebuchet MS"/>
              </a:rPr>
              <a:t>AL</a:t>
            </a:r>
            <a:r>
              <a:rPr sz="1100" b="1" spc="-1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chemeClr val="tx1"/>
                </a:solidFill>
                <a:latin typeface="Trebuchet MS"/>
                <a:cs typeface="Trebuchet MS"/>
              </a:rPr>
              <a:t>AREA</a:t>
            </a:r>
            <a:r>
              <a:rPr sz="1100" b="1" spc="-1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chemeClr val="tx1"/>
                </a:solidFill>
                <a:latin typeface="Trebuchet MS"/>
                <a:cs typeface="Trebuchet MS"/>
              </a:rPr>
              <a:t>DE DESEMBALAJE</a:t>
            </a:r>
            <a:r>
              <a:rPr sz="1100" b="1" spc="-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100" b="1" spc="70" dirty="0">
                <a:solidFill>
                  <a:schemeClr val="tx1"/>
                </a:solidFill>
                <a:latin typeface="Trebuchet MS"/>
                <a:cs typeface="Trebuchet MS"/>
              </a:rPr>
              <a:t>MS</a:t>
            </a:r>
            <a:endParaRPr sz="11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96000" cy="51434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6CCFF6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772025" y="0"/>
            <a:ext cx="4371975" cy="5143500"/>
            <a:chOff x="4772025" y="0"/>
            <a:chExt cx="4371975" cy="5143500"/>
          </a:xfrm>
        </p:grpSpPr>
        <p:sp>
          <p:nvSpPr>
            <p:cNvPr id="5" name="object 5"/>
            <p:cNvSpPr/>
            <p:nvPr/>
          </p:nvSpPr>
          <p:spPr>
            <a:xfrm>
              <a:off x="4772025" y="0"/>
              <a:ext cx="4371975" cy="5143500"/>
            </a:xfrm>
            <a:custGeom>
              <a:avLst/>
              <a:gdLst/>
              <a:ahLst/>
              <a:cxnLst/>
              <a:rect l="l" t="t" r="r" b="b"/>
              <a:pathLst>
                <a:path w="4371975" h="5143500">
                  <a:moveTo>
                    <a:pt x="4371975" y="0"/>
                  </a:moveTo>
                  <a:lnTo>
                    <a:pt x="1092962" y="0"/>
                  </a:lnTo>
                  <a:lnTo>
                    <a:pt x="0" y="5143499"/>
                  </a:lnTo>
                  <a:lnTo>
                    <a:pt x="3279013" y="5143499"/>
                  </a:lnTo>
                  <a:lnTo>
                    <a:pt x="4371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96050" y="1033525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4">
                  <a:moveTo>
                    <a:pt x="0" y="0"/>
                  </a:moveTo>
                  <a:lnTo>
                    <a:pt x="452374" y="0"/>
                  </a:lnTo>
                </a:path>
              </a:pathLst>
            </a:custGeom>
            <a:ln w="28575">
              <a:solidFill>
                <a:srgbClr val="0091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72475" y="455295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492125" y="0"/>
                  </a:moveTo>
                  <a:lnTo>
                    <a:pt x="98425" y="0"/>
                  </a:lnTo>
                  <a:lnTo>
                    <a:pt x="60114" y="7735"/>
                  </a:lnTo>
                  <a:lnTo>
                    <a:pt x="28828" y="28829"/>
                  </a:lnTo>
                  <a:lnTo>
                    <a:pt x="7735" y="60114"/>
                  </a:lnTo>
                  <a:lnTo>
                    <a:pt x="0" y="98425"/>
                  </a:lnTo>
                  <a:lnTo>
                    <a:pt x="0" y="590549"/>
                  </a:lnTo>
                  <a:lnTo>
                    <a:pt x="590550" y="590549"/>
                  </a:lnTo>
                  <a:lnTo>
                    <a:pt x="590550" y="98425"/>
                  </a:lnTo>
                  <a:lnTo>
                    <a:pt x="582814" y="60114"/>
                  </a:lnTo>
                  <a:lnTo>
                    <a:pt x="561720" y="28829"/>
                  </a:lnTo>
                  <a:lnTo>
                    <a:pt x="530435" y="7735"/>
                  </a:lnTo>
                  <a:lnTo>
                    <a:pt x="49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0" y="4752975"/>
              <a:ext cx="571500" cy="18097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004178" y="315277"/>
            <a:ext cx="1334770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10" dirty="0">
                <a:solidFill>
                  <a:srgbClr val="EC1B2E"/>
                </a:solidFill>
              </a:rPr>
              <a:t>¿Dónde trabajamos?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6022340" y="1129728"/>
            <a:ext cx="1929764" cy="4622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EL</a:t>
            </a:r>
            <a:r>
              <a:rPr sz="14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EQUIPÓ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SE</a:t>
            </a:r>
            <a:r>
              <a:rPr sz="1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CONFORMA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sz="14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TRES</a:t>
            </a:r>
            <a:r>
              <a:rPr sz="1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SECTORES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29376" y="1690751"/>
            <a:ext cx="1657350" cy="1143000"/>
          </a:xfrm>
          <a:custGeom>
            <a:avLst/>
            <a:gdLst/>
            <a:ahLst/>
            <a:cxnLst/>
            <a:rect l="l" t="t" r="r" b="b"/>
            <a:pathLst>
              <a:path w="1657350" h="1143000">
                <a:moveTo>
                  <a:pt x="0" y="1143000"/>
                </a:moveTo>
                <a:lnTo>
                  <a:pt x="1657350" y="1143000"/>
                </a:lnTo>
                <a:lnTo>
                  <a:pt x="165735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A6A6A6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11545" y="1748472"/>
            <a:ext cx="1037590" cy="1126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dirty="0">
                <a:solidFill>
                  <a:srgbClr val="A6A6A6"/>
                </a:solidFill>
                <a:latin typeface="Calibri"/>
                <a:cs typeface="Calibri"/>
              </a:rPr>
              <a:t>MS</a:t>
            </a:r>
            <a:r>
              <a:rPr sz="24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A6A6A6"/>
                </a:solidFill>
                <a:latin typeface="Calibri"/>
                <a:cs typeface="Calibri"/>
              </a:rPr>
              <a:t>LM3 </a:t>
            </a:r>
            <a:r>
              <a:rPr sz="2400" dirty="0">
                <a:solidFill>
                  <a:srgbClr val="A6A6A6"/>
                </a:solidFill>
                <a:latin typeface="Calibri"/>
                <a:cs typeface="Calibri"/>
              </a:rPr>
              <a:t>MS</a:t>
            </a:r>
            <a:r>
              <a:rPr sz="24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A6A6A6"/>
                </a:solidFill>
                <a:latin typeface="Calibri"/>
                <a:cs typeface="Calibri"/>
              </a:rPr>
              <a:t>LM2 </a:t>
            </a:r>
            <a:r>
              <a:rPr sz="2400" dirty="0">
                <a:solidFill>
                  <a:srgbClr val="A6A6A6"/>
                </a:solidFill>
                <a:latin typeface="Calibri"/>
                <a:cs typeface="Calibri"/>
              </a:rPr>
              <a:t>MS</a:t>
            </a:r>
            <a:r>
              <a:rPr sz="2400" spc="-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A6A6A6"/>
                </a:solidFill>
                <a:latin typeface="Calibri"/>
                <a:cs typeface="Calibri"/>
              </a:rPr>
              <a:t>ATV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38475" y="1324609"/>
            <a:ext cx="1076325" cy="366142"/>
          </a:xfrm>
          <a:prstGeom prst="wedgeRectCallout">
            <a:avLst>
              <a:gd name="adj1" fmla="val -22905"/>
              <a:gd name="adj2" fmla="val 72096"/>
            </a:avLst>
          </a:pr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38475" y="1409700"/>
            <a:ext cx="1076325" cy="16991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MS</a:t>
            </a:r>
            <a:r>
              <a:rPr sz="10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LM2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0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LM3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56702" y="1846896"/>
            <a:ext cx="1076325" cy="351791"/>
          </a:xfrm>
          <a:prstGeom prst="wedgeRectCallout">
            <a:avLst>
              <a:gd name="adj1" fmla="val -20833"/>
              <a:gd name="adj2" fmla="val 77293"/>
            </a:avLst>
          </a:prstGeom>
          <a:solidFill>
            <a:srgbClr val="EC1B2E"/>
          </a:solidFill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1724025" y="1935478"/>
            <a:ext cx="582293" cy="1776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MS</a:t>
            </a:r>
            <a:r>
              <a:rPr sz="10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ATV</a:t>
            </a:r>
            <a:endParaRPr sz="10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6CC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2162175"/>
          </a:xfrm>
          <a:custGeom>
            <a:avLst/>
            <a:gdLst/>
            <a:ahLst/>
            <a:cxnLst/>
            <a:rect l="l" t="t" r="r" b="b"/>
            <a:pathLst>
              <a:path w="9144000" h="2162175">
                <a:moveTo>
                  <a:pt x="9144000" y="0"/>
                </a:moveTo>
                <a:lnTo>
                  <a:pt x="0" y="0"/>
                </a:lnTo>
                <a:lnTo>
                  <a:pt x="0" y="2162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516130"/>
            <a:ext cx="9144000" cy="2627630"/>
          </a:xfrm>
          <a:custGeom>
            <a:avLst/>
            <a:gdLst/>
            <a:ahLst/>
            <a:cxnLst/>
            <a:rect l="l" t="t" r="r" b="b"/>
            <a:pathLst>
              <a:path w="9144000" h="2627629">
                <a:moveTo>
                  <a:pt x="9144000" y="0"/>
                </a:moveTo>
                <a:lnTo>
                  <a:pt x="0" y="2627369"/>
                </a:lnTo>
                <a:lnTo>
                  <a:pt x="9144000" y="262736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4787" y="79540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628775" y="2886075"/>
            <a:ext cx="7515225" cy="2257425"/>
            <a:chOff x="1628775" y="2886075"/>
            <a:chExt cx="7515225" cy="2257425"/>
          </a:xfrm>
        </p:grpSpPr>
        <p:sp>
          <p:nvSpPr>
            <p:cNvPr id="7" name="object 7"/>
            <p:cNvSpPr/>
            <p:nvPr/>
          </p:nvSpPr>
          <p:spPr>
            <a:xfrm>
              <a:off x="1828797" y="3002465"/>
              <a:ext cx="7315200" cy="2141220"/>
            </a:xfrm>
            <a:custGeom>
              <a:avLst/>
              <a:gdLst/>
              <a:ahLst/>
              <a:cxnLst/>
              <a:rect l="l" t="t" r="r" b="b"/>
              <a:pathLst>
                <a:path w="7315200" h="2141220">
                  <a:moveTo>
                    <a:pt x="7315202" y="0"/>
                  </a:moveTo>
                  <a:lnTo>
                    <a:pt x="0" y="2141034"/>
                  </a:lnTo>
                  <a:lnTo>
                    <a:pt x="7315202" y="2141034"/>
                  </a:lnTo>
                  <a:lnTo>
                    <a:pt x="73152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72475" y="455295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492125" y="0"/>
                  </a:moveTo>
                  <a:lnTo>
                    <a:pt x="98425" y="0"/>
                  </a:lnTo>
                  <a:lnTo>
                    <a:pt x="60114" y="7735"/>
                  </a:lnTo>
                  <a:lnTo>
                    <a:pt x="28828" y="28829"/>
                  </a:lnTo>
                  <a:lnTo>
                    <a:pt x="7735" y="60114"/>
                  </a:lnTo>
                  <a:lnTo>
                    <a:pt x="0" y="98425"/>
                  </a:lnTo>
                  <a:lnTo>
                    <a:pt x="0" y="590549"/>
                  </a:lnTo>
                  <a:lnTo>
                    <a:pt x="590550" y="590549"/>
                  </a:lnTo>
                  <a:lnTo>
                    <a:pt x="590550" y="98425"/>
                  </a:lnTo>
                  <a:lnTo>
                    <a:pt x="582814" y="60114"/>
                  </a:lnTo>
                  <a:lnTo>
                    <a:pt x="561720" y="28829"/>
                  </a:lnTo>
                  <a:lnTo>
                    <a:pt x="530435" y="7735"/>
                  </a:lnTo>
                  <a:lnTo>
                    <a:pt x="492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0" y="4752975"/>
              <a:ext cx="561975" cy="1809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28775" y="2886074"/>
              <a:ext cx="5981700" cy="1295400"/>
            </a:xfrm>
            <a:custGeom>
              <a:avLst/>
              <a:gdLst/>
              <a:ahLst/>
              <a:cxnLst/>
              <a:rect l="l" t="t" r="r" b="b"/>
              <a:pathLst>
                <a:path w="5981700" h="1295400">
                  <a:moveTo>
                    <a:pt x="1466850" y="494792"/>
                  </a:moveTo>
                  <a:lnTo>
                    <a:pt x="733425" y="0"/>
                  </a:lnTo>
                  <a:lnTo>
                    <a:pt x="0" y="494792"/>
                  </a:lnTo>
                  <a:lnTo>
                    <a:pt x="280162" y="1295400"/>
                  </a:lnTo>
                  <a:lnTo>
                    <a:pt x="1186688" y="1295400"/>
                  </a:lnTo>
                  <a:lnTo>
                    <a:pt x="1466850" y="494792"/>
                  </a:lnTo>
                  <a:close/>
                </a:path>
                <a:path w="5981700" h="1295400">
                  <a:moveTo>
                    <a:pt x="3676650" y="494792"/>
                  </a:moveTo>
                  <a:lnTo>
                    <a:pt x="2943225" y="0"/>
                  </a:lnTo>
                  <a:lnTo>
                    <a:pt x="2209800" y="494792"/>
                  </a:lnTo>
                  <a:lnTo>
                    <a:pt x="2489962" y="1295400"/>
                  </a:lnTo>
                  <a:lnTo>
                    <a:pt x="3396488" y="1295400"/>
                  </a:lnTo>
                  <a:lnTo>
                    <a:pt x="3676650" y="494792"/>
                  </a:lnTo>
                  <a:close/>
                </a:path>
                <a:path w="5981700" h="1295400">
                  <a:moveTo>
                    <a:pt x="5981700" y="494792"/>
                  </a:moveTo>
                  <a:lnTo>
                    <a:pt x="5248275" y="0"/>
                  </a:lnTo>
                  <a:lnTo>
                    <a:pt x="4514850" y="494792"/>
                  </a:lnTo>
                  <a:lnTo>
                    <a:pt x="4795012" y="1295400"/>
                  </a:lnTo>
                  <a:lnTo>
                    <a:pt x="5701538" y="1295400"/>
                  </a:lnTo>
                  <a:lnTo>
                    <a:pt x="5981700" y="494792"/>
                  </a:lnTo>
                  <a:close/>
                </a:path>
              </a:pathLst>
            </a:custGeom>
            <a:solidFill>
              <a:srgbClr val="2B5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6124575" y="1009650"/>
            <a:ext cx="1466850" cy="1295400"/>
          </a:xfrm>
          <a:custGeom>
            <a:avLst/>
            <a:gdLst/>
            <a:ahLst/>
            <a:cxnLst/>
            <a:rect l="l" t="t" r="r" b="b"/>
            <a:pathLst>
              <a:path w="1466850" h="1295400">
                <a:moveTo>
                  <a:pt x="733425" y="0"/>
                </a:moveTo>
                <a:lnTo>
                  <a:pt x="0" y="494791"/>
                </a:lnTo>
                <a:lnTo>
                  <a:pt x="280162" y="1295400"/>
                </a:lnTo>
                <a:lnTo>
                  <a:pt x="1186688" y="1295400"/>
                </a:lnTo>
                <a:lnTo>
                  <a:pt x="1466850" y="494791"/>
                </a:lnTo>
                <a:lnTo>
                  <a:pt x="733425" y="0"/>
                </a:lnTo>
                <a:close/>
              </a:path>
            </a:pathLst>
          </a:custGeom>
          <a:solidFill>
            <a:srgbClr val="2B5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19525" y="1009650"/>
            <a:ext cx="1466850" cy="1295400"/>
          </a:xfrm>
          <a:custGeom>
            <a:avLst/>
            <a:gdLst/>
            <a:ahLst/>
            <a:cxnLst/>
            <a:rect l="l" t="t" r="r" b="b"/>
            <a:pathLst>
              <a:path w="1466850" h="1295400">
                <a:moveTo>
                  <a:pt x="733425" y="0"/>
                </a:moveTo>
                <a:lnTo>
                  <a:pt x="0" y="494791"/>
                </a:lnTo>
                <a:lnTo>
                  <a:pt x="280162" y="1295400"/>
                </a:lnTo>
                <a:lnTo>
                  <a:pt x="1186688" y="1295400"/>
                </a:lnTo>
                <a:lnTo>
                  <a:pt x="1466850" y="494791"/>
                </a:lnTo>
                <a:lnTo>
                  <a:pt x="733425" y="0"/>
                </a:lnTo>
                <a:close/>
              </a:path>
            </a:pathLst>
          </a:custGeom>
          <a:solidFill>
            <a:srgbClr val="2B5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09725" y="1009650"/>
            <a:ext cx="1466850" cy="1295400"/>
          </a:xfrm>
          <a:custGeom>
            <a:avLst/>
            <a:gdLst/>
            <a:ahLst/>
            <a:cxnLst/>
            <a:rect l="l" t="t" r="r" b="b"/>
            <a:pathLst>
              <a:path w="1466850" h="1295400">
                <a:moveTo>
                  <a:pt x="733425" y="0"/>
                </a:moveTo>
                <a:lnTo>
                  <a:pt x="0" y="494791"/>
                </a:lnTo>
                <a:lnTo>
                  <a:pt x="280162" y="1295400"/>
                </a:lnTo>
                <a:lnTo>
                  <a:pt x="1186688" y="1295400"/>
                </a:lnTo>
                <a:lnTo>
                  <a:pt x="1466850" y="494791"/>
                </a:lnTo>
                <a:lnTo>
                  <a:pt x="733425" y="0"/>
                </a:lnTo>
                <a:close/>
              </a:path>
            </a:pathLst>
          </a:custGeom>
          <a:solidFill>
            <a:srgbClr val="2B50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18970" y="2337170"/>
            <a:ext cx="852169" cy="3746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200" b="1" dirty="0">
                <a:solidFill>
                  <a:schemeClr val="tx1"/>
                </a:solidFill>
                <a:latin typeface="Calibri"/>
                <a:cs typeface="Calibri"/>
              </a:rPr>
              <a:t>Diego</a:t>
            </a:r>
            <a:r>
              <a:rPr sz="1200"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chemeClr val="tx1"/>
                </a:solidFill>
                <a:latin typeface="Calibri"/>
                <a:cs typeface="Calibri"/>
              </a:rPr>
              <a:t>Calleja</a:t>
            </a:r>
            <a:endParaRPr sz="12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6670">
              <a:lnSpc>
                <a:spcPct val="100000"/>
              </a:lnSpc>
              <a:spcBef>
                <a:spcPts val="85"/>
              </a:spcBef>
            </a:pP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MS</a:t>
            </a:r>
            <a:r>
              <a:rPr sz="950" spc="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LM2</a:t>
            </a:r>
            <a:r>
              <a:rPr sz="95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|</a:t>
            </a:r>
            <a:r>
              <a:rPr sz="950" spc="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chemeClr val="tx1"/>
                </a:solidFill>
                <a:latin typeface="Calibri"/>
                <a:cs typeface="Calibri"/>
              </a:rPr>
              <a:t>Líder</a:t>
            </a:r>
            <a:endParaRPr sz="95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FFFF"/>
                </a:solidFill>
              </a:rPr>
              <a:t>Formación</a:t>
            </a:r>
            <a:r>
              <a:rPr spc="2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del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>
                <a:solidFill>
                  <a:srgbClr val="FFFFFF"/>
                </a:solidFill>
              </a:rPr>
              <a:t>círculo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54450" y="2337170"/>
            <a:ext cx="1409700" cy="5276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75"/>
              </a:spcBef>
            </a:pPr>
            <a:r>
              <a:rPr sz="1200" b="1" dirty="0">
                <a:solidFill>
                  <a:schemeClr val="tx1"/>
                </a:solidFill>
                <a:latin typeface="Calibri"/>
                <a:cs typeface="Calibri"/>
              </a:rPr>
              <a:t>Ricardo</a:t>
            </a:r>
            <a:r>
              <a:rPr sz="1200" b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chemeClr val="tx1"/>
                </a:solidFill>
                <a:latin typeface="Calibri"/>
                <a:cs typeface="Calibri"/>
              </a:rPr>
              <a:t>Buet</a:t>
            </a:r>
            <a:endParaRPr sz="1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 marR="5080" indent="-4445" algn="ctr">
              <a:lnSpc>
                <a:spcPct val="105500"/>
              </a:lnSpc>
              <a:spcBef>
                <a:spcPts val="25"/>
              </a:spcBef>
            </a:pP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BP</a:t>
            </a:r>
            <a:r>
              <a:rPr sz="950" spc="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Planning</a:t>
            </a:r>
            <a:r>
              <a:rPr sz="950" spc="1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sz="950" spc="10" dirty="0">
                <a:solidFill>
                  <a:schemeClr val="tx1"/>
                </a:solidFill>
                <a:latin typeface="Calibri"/>
                <a:cs typeface="Calibri"/>
              </a:rPr>
              <a:t> Development</a:t>
            </a:r>
            <a:r>
              <a:rPr sz="950" spc="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spc="10" dirty="0">
                <a:solidFill>
                  <a:schemeClr val="tx1"/>
                </a:solidFill>
                <a:latin typeface="Calibri"/>
                <a:cs typeface="Calibri"/>
              </a:rPr>
              <a:t>|</a:t>
            </a:r>
            <a:r>
              <a:rPr sz="950" spc="1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chemeClr val="tx1"/>
                </a:solidFill>
                <a:latin typeface="Calibri"/>
                <a:cs typeface="Calibri"/>
              </a:rPr>
              <a:t>Orientador</a:t>
            </a:r>
            <a:endParaRPr sz="95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42126" y="2337170"/>
            <a:ext cx="1042669" cy="3746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75"/>
              </a:spcBef>
            </a:pPr>
            <a:r>
              <a:rPr sz="1200" b="1" dirty="0">
                <a:solidFill>
                  <a:schemeClr val="tx1"/>
                </a:solidFill>
                <a:latin typeface="Calibri"/>
                <a:cs typeface="Calibri"/>
              </a:rPr>
              <a:t>Ulises </a:t>
            </a:r>
            <a:r>
              <a:rPr sz="1200" b="1" spc="-10" dirty="0">
                <a:solidFill>
                  <a:schemeClr val="tx1"/>
                </a:solidFill>
                <a:latin typeface="Calibri"/>
                <a:cs typeface="Calibri"/>
              </a:rPr>
              <a:t>Schvindt</a:t>
            </a:r>
            <a:endParaRPr sz="120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MS</a:t>
            </a:r>
            <a:r>
              <a:rPr sz="950" spc="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LM3</a:t>
            </a:r>
            <a:r>
              <a:rPr sz="95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|</a:t>
            </a:r>
            <a:r>
              <a:rPr sz="950" spc="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chemeClr val="tx1"/>
                </a:solidFill>
                <a:latin typeface="Calibri"/>
                <a:cs typeface="Calibri"/>
              </a:rPr>
              <a:t>Miembro</a:t>
            </a:r>
            <a:endParaRPr sz="95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37689" y="4230916"/>
            <a:ext cx="1057275" cy="3746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200" b="1" dirty="0">
                <a:solidFill>
                  <a:schemeClr val="tx1"/>
                </a:solidFill>
                <a:latin typeface="Calibri"/>
                <a:cs typeface="Calibri"/>
              </a:rPr>
              <a:t>Ramiro</a:t>
            </a:r>
            <a:r>
              <a:rPr sz="1200" b="1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chemeClr val="tx1"/>
                </a:solidFill>
                <a:latin typeface="Calibri"/>
                <a:cs typeface="Calibri"/>
              </a:rPr>
              <a:t>Ferreyra</a:t>
            </a:r>
            <a:endParaRPr sz="1200">
              <a:solidFill>
                <a:schemeClr val="tx1"/>
              </a:solidFill>
              <a:latin typeface="Calibri"/>
              <a:cs typeface="Calibri"/>
            </a:endParaRPr>
          </a:p>
          <a:p>
            <a:pPr marL="46990">
              <a:lnSpc>
                <a:spcPct val="100000"/>
              </a:lnSpc>
              <a:spcBef>
                <a:spcPts val="85"/>
              </a:spcBef>
            </a:pP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ATV</a:t>
            </a:r>
            <a:r>
              <a:rPr sz="950" spc="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|</a:t>
            </a:r>
            <a:r>
              <a:rPr sz="950" spc="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chemeClr val="tx1"/>
                </a:solidFill>
                <a:latin typeface="Calibri"/>
                <a:cs typeface="Calibri"/>
              </a:rPr>
              <a:t>Presentador</a:t>
            </a:r>
            <a:endParaRPr sz="95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25315" y="4241711"/>
            <a:ext cx="1306195" cy="3746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200" b="1" dirty="0">
                <a:solidFill>
                  <a:schemeClr val="tx1"/>
                </a:solidFill>
                <a:latin typeface="Calibri"/>
                <a:cs typeface="Calibri"/>
              </a:rPr>
              <a:t>Gonzalo</a:t>
            </a:r>
            <a:r>
              <a:rPr sz="1200"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chemeClr val="tx1"/>
                </a:solidFill>
                <a:latin typeface="Calibri"/>
                <a:cs typeface="Calibri"/>
              </a:rPr>
              <a:t>Rabaschino</a:t>
            </a:r>
            <a:endParaRPr sz="1200">
              <a:solidFill>
                <a:schemeClr val="tx1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ATV</a:t>
            </a:r>
            <a:r>
              <a:rPr sz="950" spc="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|</a:t>
            </a:r>
            <a:r>
              <a:rPr sz="950" spc="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chemeClr val="tx1"/>
                </a:solidFill>
                <a:latin typeface="Calibri"/>
                <a:cs typeface="Calibri"/>
              </a:rPr>
              <a:t>Miembro</a:t>
            </a:r>
            <a:endParaRPr sz="95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69101" y="4230916"/>
            <a:ext cx="1229995" cy="3746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200" b="1" dirty="0">
                <a:solidFill>
                  <a:schemeClr val="tx1"/>
                </a:solidFill>
                <a:latin typeface="Calibri"/>
                <a:cs typeface="Calibri"/>
              </a:rPr>
              <a:t>Alberto</a:t>
            </a:r>
            <a:r>
              <a:rPr sz="1200" b="1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chemeClr val="tx1"/>
                </a:solidFill>
                <a:latin typeface="Calibri"/>
                <a:cs typeface="Calibri"/>
              </a:rPr>
              <a:t>Luis</a:t>
            </a:r>
            <a:r>
              <a:rPr sz="1200" b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chemeClr val="tx1"/>
                </a:solidFill>
                <a:latin typeface="Calibri"/>
                <a:cs typeface="Calibri"/>
              </a:rPr>
              <a:t>Rivero</a:t>
            </a:r>
            <a:endParaRPr sz="1200">
              <a:solidFill>
                <a:schemeClr val="tx1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ATV</a:t>
            </a:r>
            <a:r>
              <a:rPr sz="950" spc="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chemeClr val="tx1"/>
                </a:solidFill>
                <a:latin typeface="Calibri"/>
                <a:cs typeface="Calibri"/>
              </a:rPr>
              <a:t>|</a:t>
            </a:r>
            <a:r>
              <a:rPr sz="950" spc="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chemeClr val="tx1"/>
                </a:solidFill>
                <a:latin typeface="Calibri"/>
                <a:cs typeface="Calibri"/>
              </a:rPr>
              <a:t>Miembro</a:t>
            </a:r>
            <a:endParaRPr sz="95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3175" y="3105150"/>
            <a:ext cx="1085850" cy="107632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162050"/>
            <a:ext cx="1143000" cy="11430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9275" y="3105150"/>
            <a:ext cx="1076325" cy="107632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10025" y="1219200"/>
            <a:ext cx="1085850" cy="107632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0225" y="1228725"/>
            <a:ext cx="1076325" cy="107632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10025" y="3067050"/>
            <a:ext cx="1123950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8BD9F8"/>
                </a:solidFill>
                <a:latin typeface="Arial Black"/>
                <a:cs typeface="Arial Black"/>
              </a:rPr>
              <a:t>2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73579" y="1864751"/>
            <a:ext cx="4304665" cy="101091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3950" spc="-55" dirty="0">
                <a:solidFill>
                  <a:srgbClr val="FFFFFF"/>
                </a:solidFill>
              </a:rPr>
              <a:t>Origen</a:t>
            </a:r>
            <a:r>
              <a:rPr sz="3950" spc="-325" dirty="0">
                <a:solidFill>
                  <a:srgbClr val="FFFFFF"/>
                </a:solidFill>
              </a:rPr>
              <a:t> </a:t>
            </a:r>
            <a:r>
              <a:rPr sz="3950" spc="-10" dirty="0">
                <a:solidFill>
                  <a:srgbClr val="FFFFFF"/>
                </a:solidFill>
              </a:rPr>
              <a:t>del</a:t>
            </a:r>
            <a:r>
              <a:rPr sz="3950" spc="-325" dirty="0">
                <a:solidFill>
                  <a:srgbClr val="FFFFFF"/>
                </a:solidFill>
              </a:rPr>
              <a:t> </a:t>
            </a:r>
            <a:r>
              <a:rPr sz="3950" spc="-10" dirty="0">
                <a:solidFill>
                  <a:srgbClr val="FFFFFF"/>
                </a:solidFill>
              </a:rPr>
              <a:t>nombre</a:t>
            </a:r>
            <a:endParaRPr sz="3950"/>
          </a:p>
          <a:p>
            <a:pPr marL="8890" algn="ctr">
              <a:lnSpc>
                <a:spcPct val="100000"/>
              </a:lnSpc>
              <a:spcBef>
                <a:spcPts val="220"/>
              </a:spcBef>
            </a:pPr>
            <a:r>
              <a:rPr sz="2000" b="0" spc="-40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000" b="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círculo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552700" cy="5143500"/>
            <a:chOff x="0" y="0"/>
            <a:chExt cx="25527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757551" y="690626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5277" y="1149286"/>
            <a:ext cx="173037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Origen</a:t>
            </a:r>
            <a:r>
              <a:rPr sz="155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155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nombre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15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círculo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78405">
              <a:lnSpc>
                <a:spcPct val="100000"/>
              </a:lnSpc>
              <a:spcBef>
                <a:spcPts val="125"/>
              </a:spcBef>
            </a:pPr>
            <a:r>
              <a:rPr dirty="0"/>
              <a:t>Nombre </a:t>
            </a:r>
            <a:r>
              <a:rPr spc="-10" dirty="0"/>
              <a:t>elegido</a:t>
            </a:r>
          </a:p>
        </p:txBody>
      </p:sp>
      <p:pic>
        <p:nvPicPr>
          <p:cNvPr id="12" name="object 12"/>
          <p:cNvPicPr/>
          <p:nvPr/>
        </p:nvPicPr>
        <p:blipFill rotWithShape="1">
          <a:blip r:embed="rId4" cstate="print">
            <a:clrChange>
              <a:clrFrom>
                <a:srgbClr val="FCF6F6"/>
              </a:clrFrom>
              <a:clrTo>
                <a:srgbClr val="FCF6F6">
                  <a:alpha val="0"/>
                </a:srgbClr>
              </a:clrTo>
            </a:clrChange>
          </a:blip>
          <a:srcRect b="34796"/>
          <a:stretch/>
        </p:blipFill>
        <p:spPr>
          <a:xfrm>
            <a:off x="3415157" y="663511"/>
            <a:ext cx="4056698" cy="19812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45652" y="2576512"/>
            <a:ext cx="6998400" cy="1497961"/>
          </a:xfrm>
          <a:prstGeom prst="rect">
            <a:avLst/>
          </a:prstGeom>
          <a:solidFill>
            <a:schemeClr val="bg1"/>
          </a:solidFill>
          <a:ln w="9525">
            <a:solidFill>
              <a:srgbClr val="A6A6A6"/>
            </a:solidFill>
          </a:ln>
        </p:spPr>
        <p:txBody>
          <a:bodyPr vert="horz" wrap="square" lIns="0" tIns="108000" rIns="0" bIns="0" rtlCol="0">
            <a:spAutoFit/>
          </a:bodyPr>
          <a:lstStyle/>
          <a:p>
            <a:pPr marL="171450" marR="368935" indent="-171450">
              <a:lnSpc>
                <a:spcPct val="104299"/>
              </a:lnSpc>
              <a:spcBef>
                <a:spcPts val="480"/>
              </a:spcBef>
              <a:spcAft>
                <a:spcPts val="1200"/>
              </a:spcAft>
              <a:buClr>
                <a:srgbClr val="FF0000"/>
              </a:buClr>
              <a:buSzPct val="116666"/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s-MX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MS </a:t>
            </a:r>
            <a:r>
              <a:rPr lang="es-MX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Main</a:t>
            </a:r>
            <a:r>
              <a:rPr lang="es-MX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Mind</a:t>
            </a:r>
            <a:r>
              <a:rPr lang="es-MX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 representa la unión de las distintas líneas del área. MS trabajando como un solo equipo.</a:t>
            </a:r>
          </a:p>
          <a:p>
            <a:pPr marL="171450" marR="368935" indent="-171450">
              <a:lnSpc>
                <a:spcPct val="104299"/>
              </a:lnSpc>
              <a:spcBef>
                <a:spcPts val="480"/>
              </a:spcBef>
              <a:spcAft>
                <a:spcPts val="1200"/>
              </a:spcAft>
              <a:buClr>
                <a:srgbClr val="FF0000"/>
              </a:buClr>
              <a:buSzPct val="116666"/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s-MX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“</a:t>
            </a:r>
            <a:r>
              <a:rPr lang="es-MX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Main</a:t>
            </a:r>
            <a:r>
              <a:rPr lang="es-MX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Mind</a:t>
            </a:r>
            <a:r>
              <a:rPr lang="es-MX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” simboliza una mentalidad colectiva, donde integramos los conocimientos y experiencias de MS, ATV, LM3 y LM2.</a:t>
            </a:r>
          </a:p>
          <a:p>
            <a:pPr marL="171450" marR="368935" indent="-171450">
              <a:lnSpc>
                <a:spcPct val="104299"/>
              </a:lnSpc>
              <a:spcBef>
                <a:spcPts val="480"/>
              </a:spcBef>
              <a:spcAft>
                <a:spcPts val="1200"/>
              </a:spcAft>
              <a:buClr>
                <a:srgbClr val="FF0000"/>
              </a:buClr>
              <a:buSzPct val="116666"/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s-MX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cs typeface="Calibri"/>
              </a:rPr>
              <a:t>Esta forma de trabajar nos permite identificar mejoras, compartir ideas y desarrollar proyectos que beneficien a toda el área MS.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6CCFF6"/>
                </a:solidFill>
                <a:latin typeface="Arial Black"/>
                <a:cs typeface="Arial Black"/>
              </a:rPr>
              <a:t>3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63291" y="1908555"/>
            <a:ext cx="3169285" cy="954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950" b="0" spc="-150" dirty="0">
                <a:solidFill>
                  <a:srgbClr val="FFFFFF"/>
                </a:solidFill>
                <a:latin typeface="Arial Black"/>
                <a:cs typeface="Arial Black"/>
              </a:rPr>
              <a:t>Cronograma</a:t>
            </a:r>
            <a:endParaRPr sz="3950">
              <a:latin typeface="Arial Black"/>
              <a:cs typeface="Arial Black"/>
            </a:endParaRPr>
          </a:p>
          <a:p>
            <a:pPr marL="3810" algn="ctr">
              <a:lnSpc>
                <a:spcPct val="100000"/>
              </a:lnSpc>
              <a:spcBef>
                <a:spcPts val="135"/>
              </a:spcBef>
            </a:pPr>
            <a:r>
              <a:rPr sz="2000" b="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000" b="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Arial MT"/>
                <a:cs typeface="Arial MT"/>
              </a:rPr>
              <a:t>actividades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0"/>
                  </a:moveTo>
                  <a:lnTo>
                    <a:pt x="8884285" y="0"/>
                  </a:lnTo>
                  <a:lnTo>
                    <a:pt x="8884285" y="250190"/>
                  </a:lnTo>
                  <a:lnTo>
                    <a:pt x="8884285" y="4883150"/>
                  </a:lnTo>
                  <a:lnTo>
                    <a:pt x="259765" y="4883150"/>
                  </a:lnTo>
                  <a:lnTo>
                    <a:pt x="259765" y="250190"/>
                  </a:lnTo>
                  <a:lnTo>
                    <a:pt x="8884285" y="250190"/>
                  </a:lnTo>
                  <a:lnTo>
                    <a:pt x="8884285" y="0"/>
                  </a:lnTo>
                  <a:lnTo>
                    <a:pt x="0" y="0"/>
                  </a:lnTo>
                  <a:lnTo>
                    <a:pt x="0" y="250190"/>
                  </a:lnTo>
                  <a:lnTo>
                    <a:pt x="0" y="48831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4883734"/>
                  </a:lnTo>
                  <a:lnTo>
                    <a:pt x="9144000" y="4883150"/>
                  </a:lnTo>
                  <a:lnTo>
                    <a:pt x="9144000" y="25019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91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9994" y="769137"/>
              <a:ext cx="8379459" cy="216535"/>
            </a:xfrm>
            <a:custGeom>
              <a:avLst/>
              <a:gdLst/>
              <a:ahLst/>
              <a:cxnLst/>
              <a:rect l="l" t="t" r="r" b="b"/>
              <a:pathLst>
                <a:path w="8379459" h="216534">
                  <a:moveTo>
                    <a:pt x="2258796" y="0"/>
                  </a:moveTo>
                  <a:lnTo>
                    <a:pt x="1682838" y="0"/>
                  </a:lnTo>
                  <a:lnTo>
                    <a:pt x="294995" y="0"/>
                  </a:lnTo>
                  <a:lnTo>
                    <a:pt x="0" y="0"/>
                  </a:lnTo>
                  <a:lnTo>
                    <a:pt x="0" y="216001"/>
                  </a:lnTo>
                  <a:lnTo>
                    <a:pt x="294995" y="216001"/>
                  </a:lnTo>
                  <a:lnTo>
                    <a:pt x="1682800" y="216001"/>
                  </a:lnTo>
                  <a:lnTo>
                    <a:pt x="2258796" y="216001"/>
                  </a:lnTo>
                  <a:lnTo>
                    <a:pt x="2258796" y="0"/>
                  </a:lnTo>
                  <a:close/>
                </a:path>
                <a:path w="8379459" h="216534">
                  <a:moveTo>
                    <a:pt x="3482759" y="0"/>
                  </a:moveTo>
                  <a:lnTo>
                    <a:pt x="2870873" y="0"/>
                  </a:lnTo>
                  <a:lnTo>
                    <a:pt x="2258872" y="0"/>
                  </a:lnTo>
                  <a:lnTo>
                    <a:pt x="2258872" y="216001"/>
                  </a:lnTo>
                  <a:lnTo>
                    <a:pt x="2870758" y="216001"/>
                  </a:lnTo>
                  <a:lnTo>
                    <a:pt x="3482759" y="216001"/>
                  </a:lnTo>
                  <a:lnTo>
                    <a:pt x="3482759" y="0"/>
                  </a:lnTo>
                  <a:close/>
                </a:path>
                <a:path w="8379459" h="216534">
                  <a:moveTo>
                    <a:pt x="4094772" y="0"/>
                  </a:moveTo>
                  <a:lnTo>
                    <a:pt x="3482771" y="0"/>
                  </a:lnTo>
                  <a:lnTo>
                    <a:pt x="3482771" y="216001"/>
                  </a:lnTo>
                  <a:lnTo>
                    <a:pt x="4094772" y="216001"/>
                  </a:lnTo>
                  <a:lnTo>
                    <a:pt x="4094772" y="0"/>
                  </a:lnTo>
                  <a:close/>
                </a:path>
                <a:path w="8379459" h="216534">
                  <a:moveTo>
                    <a:pt x="4706785" y="0"/>
                  </a:moveTo>
                  <a:lnTo>
                    <a:pt x="4094784" y="0"/>
                  </a:lnTo>
                  <a:lnTo>
                    <a:pt x="4094784" y="216001"/>
                  </a:lnTo>
                  <a:lnTo>
                    <a:pt x="4706785" y="216001"/>
                  </a:lnTo>
                  <a:lnTo>
                    <a:pt x="4706785" y="0"/>
                  </a:lnTo>
                  <a:close/>
                </a:path>
                <a:path w="8379459" h="216534">
                  <a:moveTo>
                    <a:pt x="5318798" y="0"/>
                  </a:moveTo>
                  <a:lnTo>
                    <a:pt x="4706798" y="0"/>
                  </a:lnTo>
                  <a:lnTo>
                    <a:pt x="4706798" y="216001"/>
                  </a:lnTo>
                  <a:lnTo>
                    <a:pt x="5318798" y="216001"/>
                  </a:lnTo>
                  <a:lnTo>
                    <a:pt x="5318798" y="0"/>
                  </a:lnTo>
                  <a:close/>
                </a:path>
                <a:path w="8379459" h="216534">
                  <a:moveTo>
                    <a:pt x="5930811" y="0"/>
                  </a:moveTo>
                  <a:lnTo>
                    <a:pt x="5318811" y="0"/>
                  </a:lnTo>
                  <a:lnTo>
                    <a:pt x="5318811" y="216001"/>
                  </a:lnTo>
                  <a:lnTo>
                    <a:pt x="5930811" y="216001"/>
                  </a:lnTo>
                  <a:lnTo>
                    <a:pt x="5930811" y="0"/>
                  </a:lnTo>
                  <a:close/>
                </a:path>
                <a:path w="8379459" h="216534">
                  <a:moveTo>
                    <a:pt x="6542824" y="0"/>
                  </a:moveTo>
                  <a:lnTo>
                    <a:pt x="5930824" y="0"/>
                  </a:lnTo>
                  <a:lnTo>
                    <a:pt x="5930824" y="216001"/>
                  </a:lnTo>
                  <a:lnTo>
                    <a:pt x="6542824" y="216001"/>
                  </a:lnTo>
                  <a:lnTo>
                    <a:pt x="6542824" y="0"/>
                  </a:lnTo>
                  <a:close/>
                </a:path>
                <a:path w="8379459" h="216534">
                  <a:moveTo>
                    <a:pt x="7154824" y="0"/>
                  </a:moveTo>
                  <a:lnTo>
                    <a:pt x="6542837" y="0"/>
                  </a:lnTo>
                  <a:lnTo>
                    <a:pt x="6542837" y="216001"/>
                  </a:lnTo>
                  <a:lnTo>
                    <a:pt x="7154824" y="216001"/>
                  </a:lnTo>
                  <a:lnTo>
                    <a:pt x="7154824" y="0"/>
                  </a:lnTo>
                  <a:close/>
                </a:path>
                <a:path w="8379459" h="216534">
                  <a:moveTo>
                    <a:pt x="7766850" y="0"/>
                  </a:moveTo>
                  <a:lnTo>
                    <a:pt x="7154850" y="0"/>
                  </a:lnTo>
                  <a:lnTo>
                    <a:pt x="7154850" y="216001"/>
                  </a:lnTo>
                  <a:lnTo>
                    <a:pt x="7766850" y="216001"/>
                  </a:lnTo>
                  <a:lnTo>
                    <a:pt x="7766850" y="0"/>
                  </a:lnTo>
                  <a:close/>
                </a:path>
                <a:path w="8379459" h="216534">
                  <a:moveTo>
                    <a:pt x="8378850" y="0"/>
                  </a:moveTo>
                  <a:lnTo>
                    <a:pt x="7766863" y="0"/>
                  </a:lnTo>
                  <a:lnTo>
                    <a:pt x="7766863" y="216001"/>
                  </a:lnTo>
                  <a:lnTo>
                    <a:pt x="8378850" y="216001"/>
                  </a:lnTo>
                  <a:lnTo>
                    <a:pt x="837885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985037"/>
              <a:ext cx="1683385" cy="1152525"/>
            </a:xfrm>
            <a:custGeom>
              <a:avLst/>
              <a:gdLst/>
              <a:ahLst/>
              <a:cxnLst/>
              <a:rect l="l" t="t" r="r" b="b"/>
              <a:pathLst>
                <a:path w="1683385" h="1152525">
                  <a:moveTo>
                    <a:pt x="1682838" y="12"/>
                  </a:moveTo>
                  <a:lnTo>
                    <a:pt x="294995" y="12"/>
                  </a:lnTo>
                  <a:lnTo>
                    <a:pt x="0" y="0"/>
                  </a:lnTo>
                  <a:lnTo>
                    <a:pt x="0" y="1151991"/>
                  </a:lnTo>
                  <a:lnTo>
                    <a:pt x="294995" y="1151991"/>
                  </a:lnTo>
                  <a:lnTo>
                    <a:pt x="294995" y="576046"/>
                  </a:lnTo>
                  <a:lnTo>
                    <a:pt x="1682838" y="576046"/>
                  </a:lnTo>
                  <a:lnTo>
                    <a:pt x="1682838" y="288048"/>
                  </a:lnTo>
                  <a:lnTo>
                    <a:pt x="294995" y="288048"/>
                  </a:lnTo>
                  <a:lnTo>
                    <a:pt x="1682838" y="288010"/>
                  </a:lnTo>
                  <a:lnTo>
                    <a:pt x="1682838" y="12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42795" y="1273060"/>
              <a:ext cx="6696075" cy="288290"/>
            </a:xfrm>
            <a:custGeom>
              <a:avLst/>
              <a:gdLst/>
              <a:ahLst/>
              <a:cxnLst/>
              <a:rect l="l" t="t" r="r" b="b"/>
              <a:pathLst>
                <a:path w="6696075" h="288290">
                  <a:moveTo>
                    <a:pt x="575995" y="144018"/>
                  </a:moveTo>
                  <a:lnTo>
                    <a:pt x="0" y="144018"/>
                  </a:lnTo>
                  <a:lnTo>
                    <a:pt x="0" y="288023"/>
                  </a:lnTo>
                  <a:lnTo>
                    <a:pt x="575995" y="288023"/>
                  </a:lnTo>
                  <a:lnTo>
                    <a:pt x="575995" y="144018"/>
                  </a:lnTo>
                  <a:close/>
                </a:path>
                <a:path w="6696075" h="288290">
                  <a:moveTo>
                    <a:pt x="575995" y="0"/>
                  </a:moveTo>
                  <a:lnTo>
                    <a:pt x="0" y="0"/>
                  </a:lnTo>
                  <a:lnTo>
                    <a:pt x="0" y="144005"/>
                  </a:lnTo>
                  <a:lnTo>
                    <a:pt x="575995" y="144005"/>
                  </a:lnTo>
                  <a:lnTo>
                    <a:pt x="575995" y="0"/>
                  </a:lnTo>
                  <a:close/>
                </a:path>
                <a:path w="6696075" h="288290">
                  <a:moveTo>
                    <a:pt x="1799958" y="144018"/>
                  </a:moveTo>
                  <a:lnTo>
                    <a:pt x="1188072" y="144018"/>
                  </a:lnTo>
                  <a:lnTo>
                    <a:pt x="576072" y="144018"/>
                  </a:lnTo>
                  <a:lnTo>
                    <a:pt x="576072" y="288023"/>
                  </a:lnTo>
                  <a:lnTo>
                    <a:pt x="1187958" y="288023"/>
                  </a:lnTo>
                  <a:lnTo>
                    <a:pt x="1799958" y="288023"/>
                  </a:lnTo>
                  <a:lnTo>
                    <a:pt x="1799958" y="144018"/>
                  </a:lnTo>
                  <a:close/>
                </a:path>
                <a:path w="6696075" h="288290">
                  <a:moveTo>
                    <a:pt x="1799958" y="0"/>
                  </a:moveTo>
                  <a:lnTo>
                    <a:pt x="1188072" y="0"/>
                  </a:lnTo>
                  <a:lnTo>
                    <a:pt x="576072" y="0"/>
                  </a:lnTo>
                  <a:lnTo>
                    <a:pt x="576072" y="144005"/>
                  </a:lnTo>
                  <a:lnTo>
                    <a:pt x="1187958" y="144005"/>
                  </a:lnTo>
                  <a:lnTo>
                    <a:pt x="1799958" y="144005"/>
                  </a:lnTo>
                  <a:lnTo>
                    <a:pt x="1799958" y="0"/>
                  </a:lnTo>
                  <a:close/>
                </a:path>
                <a:path w="6696075" h="288290">
                  <a:moveTo>
                    <a:pt x="2411971" y="144018"/>
                  </a:moveTo>
                  <a:lnTo>
                    <a:pt x="1799971" y="144018"/>
                  </a:lnTo>
                  <a:lnTo>
                    <a:pt x="1799971" y="288023"/>
                  </a:lnTo>
                  <a:lnTo>
                    <a:pt x="2411971" y="288023"/>
                  </a:lnTo>
                  <a:lnTo>
                    <a:pt x="2411971" y="144018"/>
                  </a:lnTo>
                  <a:close/>
                </a:path>
                <a:path w="6696075" h="288290">
                  <a:moveTo>
                    <a:pt x="2411971" y="0"/>
                  </a:moveTo>
                  <a:lnTo>
                    <a:pt x="1799971" y="0"/>
                  </a:lnTo>
                  <a:lnTo>
                    <a:pt x="1799971" y="144005"/>
                  </a:lnTo>
                  <a:lnTo>
                    <a:pt x="2411971" y="144005"/>
                  </a:lnTo>
                  <a:lnTo>
                    <a:pt x="2411971" y="0"/>
                  </a:lnTo>
                  <a:close/>
                </a:path>
                <a:path w="6696075" h="288290">
                  <a:moveTo>
                    <a:pt x="3023984" y="144018"/>
                  </a:moveTo>
                  <a:lnTo>
                    <a:pt x="2411984" y="144018"/>
                  </a:lnTo>
                  <a:lnTo>
                    <a:pt x="2411984" y="288023"/>
                  </a:lnTo>
                  <a:lnTo>
                    <a:pt x="3023984" y="288023"/>
                  </a:lnTo>
                  <a:lnTo>
                    <a:pt x="3023984" y="144018"/>
                  </a:lnTo>
                  <a:close/>
                </a:path>
                <a:path w="6696075" h="288290">
                  <a:moveTo>
                    <a:pt x="3023984" y="0"/>
                  </a:moveTo>
                  <a:lnTo>
                    <a:pt x="2411984" y="0"/>
                  </a:lnTo>
                  <a:lnTo>
                    <a:pt x="2411984" y="144005"/>
                  </a:lnTo>
                  <a:lnTo>
                    <a:pt x="3023984" y="144005"/>
                  </a:lnTo>
                  <a:lnTo>
                    <a:pt x="3023984" y="0"/>
                  </a:lnTo>
                  <a:close/>
                </a:path>
                <a:path w="6696075" h="288290">
                  <a:moveTo>
                    <a:pt x="3635997" y="144018"/>
                  </a:moveTo>
                  <a:lnTo>
                    <a:pt x="3023997" y="144018"/>
                  </a:lnTo>
                  <a:lnTo>
                    <a:pt x="3023997" y="288023"/>
                  </a:lnTo>
                  <a:lnTo>
                    <a:pt x="3635997" y="288023"/>
                  </a:lnTo>
                  <a:lnTo>
                    <a:pt x="3635997" y="144018"/>
                  </a:lnTo>
                  <a:close/>
                </a:path>
                <a:path w="6696075" h="288290">
                  <a:moveTo>
                    <a:pt x="3635997" y="0"/>
                  </a:moveTo>
                  <a:lnTo>
                    <a:pt x="3023997" y="0"/>
                  </a:lnTo>
                  <a:lnTo>
                    <a:pt x="3023997" y="144005"/>
                  </a:lnTo>
                  <a:lnTo>
                    <a:pt x="3635997" y="144005"/>
                  </a:lnTo>
                  <a:lnTo>
                    <a:pt x="3635997" y="0"/>
                  </a:lnTo>
                  <a:close/>
                </a:path>
                <a:path w="6696075" h="288290">
                  <a:moveTo>
                    <a:pt x="4248010" y="144018"/>
                  </a:moveTo>
                  <a:lnTo>
                    <a:pt x="3636010" y="144018"/>
                  </a:lnTo>
                  <a:lnTo>
                    <a:pt x="3636010" y="288023"/>
                  </a:lnTo>
                  <a:lnTo>
                    <a:pt x="4248010" y="288023"/>
                  </a:lnTo>
                  <a:lnTo>
                    <a:pt x="4248010" y="144018"/>
                  </a:lnTo>
                  <a:close/>
                </a:path>
                <a:path w="6696075" h="288290">
                  <a:moveTo>
                    <a:pt x="4248010" y="0"/>
                  </a:moveTo>
                  <a:lnTo>
                    <a:pt x="3636010" y="0"/>
                  </a:lnTo>
                  <a:lnTo>
                    <a:pt x="3636010" y="144005"/>
                  </a:lnTo>
                  <a:lnTo>
                    <a:pt x="4248010" y="144005"/>
                  </a:lnTo>
                  <a:lnTo>
                    <a:pt x="4248010" y="0"/>
                  </a:lnTo>
                  <a:close/>
                </a:path>
                <a:path w="6696075" h="288290">
                  <a:moveTo>
                    <a:pt x="4860023" y="144018"/>
                  </a:moveTo>
                  <a:lnTo>
                    <a:pt x="4248023" y="144018"/>
                  </a:lnTo>
                  <a:lnTo>
                    <a:pt x="4248023" y="288023"/>
                  </a:lnTo>
                  <a:lnTo>
                    <a:pt x="4860023" y="288023"/>
                  </a:lnTo>
                  <a:lnTo>
                    <a:pt x="4860023" y="144018"/>
                  </a:lnTo>
                  <a:close/>
                </a:path>
                <a:path w="6696075" h="288290">
                  <a:moveTo>
                    <a:pt x="4860023" y="0"/>
                  </a:moveTo>
                  <a:lnTo>
                    <a:pt x="4248023" y="0"/>
                  </a:lnTo>
                  <a:lnTo>
                    <a:pt x="4248023" y="144005"/>
                  </a:lnTo>
                  <a:lnTo>
                    <a:pt x="4860023" y="144005"/>
                  </a:lnTo>
                  <a:lnTo>
                    <a:pt x="4860023" y="0"/>
                  </a:lnTo>
                  <a:close/>
                </a:path>
                <a:path w="6696075" h="288290">
                  <a:moveTo>
                    <a:pt x="5472023" y="144018"/>
                  </a:moveTo>
                  <a:lnTo>
                    <a:pt x="4860036" y="144018"/>
                  </a:lnTo>
                  <a:lnTo>
                    <a:pt x="4860036" y="288023"/>
                  </a:lnTo>
                  <a:lnTo>
                    <a:pt x="5472023" y="288023"/>
                  </a:lnTo>
                  <a:lnTo>
                    <a:pt x="5472023" y="144018"/>
                  </a:lnTo>
                  <a:close/>
                </a:path>
                <a:path w="6696075" h="288290">
                  <a:moveTo>
                    <a:pt x="5472023" y="0"/>
                  </a:moveTo>
                  <a:lnTo>
                    <a:pt x="4860036" y="0"/>
                  </a:lnTo>
                  <a:lnTo>
                    <a:pt x="4860036" y="144005"/>
                  </a:lnTo>
                  <a:lnTo>
                    <a:pt x="5472023" y="144005"/>
                  </a:lnTo>
                  <a:lnTo>
                    <a:pt x="5472023" y="0"/>
                  </a:lnTo>
                  <a:close/>
                </a:path>
                <a:path w="6696075" h="288290">
                  <a:moveTo>
                    <a:pt x="6084049" y="144018"/>
                  </a:moveTo>
                  <a:lnTo>
                    <a:pt x="5472049" y="144018"/>
                  </a:lnTo>
                  <a:lnTo>
                    <a:pt x="5472049" y="288023"/>
                  </a:lnTo>
                  <a:lnTo>
                    <a:pt x="6084049" y="288023"/>
                  </a:lnTo>
                  <a:lnTo>
                    <a:pt x="6084049" y="144018"/>
                  </a:lnTo>
                  <a:close/>
                </a:path>
                <a:path w="6696075" h="288290">
                  <a:moveTo>
                    <a:pt x="6084049" y="0"/>
                  </a:moveTo>
                  <a:lnTo>
                    <a:pt x="5472049" y="0"/>
                  </a:lnTo>
                  <a:lnTo>
                    <a:pt x="5472049" y="144005"/>
                  </a:lnTo>
                  <a:lnTo>
                    <a:pt x="6084049" y="144005"/>
                  </a:lnTo>
                  <a:lnTo>
                    <a:pt x="6084049" y="0"/>
                  </a:lnTo>
                  <a:close/>
                </a:path>
                <a:path w="6696075" h="288290">
                  <a:moveTo>
                    <a:pt x="6696049" y="144018"/>
                  </a:moveTo>
                  <a:lnTo>
                    <a:pt x="6084062" y="144018"/>
                  </a:lnTo>
                  <a:lnTo>
                    <a:pt x="6084062" y="288023"/>
                  </a:lnTo>
                  <a:lnTo>
                    <a:pt x="6696049" y="288023"/>
                  </a:lnTo>
                  <a:lnTo>
                    <a:pt x="6696049" y="144018"/>
                  </a:lnTo>
                  <a:close/>
                </a:path>
                <a:path w="6696075" h="288290">
                  <a:moveTo>
                    <a:pt x="6696049" y="0"/>
                  </a:moveTo>
                  <a:lnTo>
                    <a:pt x="6084062" y="0"/>
                  </a:lnTo>
                  <a:lnTo>
                    <a:pt x="6084062" y="144005"/>
                  </a:lnTo>
                  <a:lnTo>
                    <a:pt x="6696049" y="144005"/>
                  </a:lnTo>
                  <a:lnTo>
                    <a:pt x="669604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989" y="1561121"/>
              <a:ext cx="1388110" cy="575945"/>
            </a:xfrm>
            <a:custGeom>
              <a:avLst/>
              <a:gdLst/>
              <a:ahLst/>
              <a:cxnLst/>
              <a:rect l="l" t="t" r="r" b="b"/>
              <a:pathLst>
                <a:path w="1388110" h="575944">
                  <a:moveTo>
                    <a:pt x="1387843" y="0"/>
                  </a:moveTo>
                  <a:lnTo>
                    <a:pt x="0" y="0"/>
                  </a:lnTo>
                  <a:lnTo>
                    <a:pt x="0" y="287921"/>
                  </a:lnTo>
                  <a:lnTo>
                    <a:pt x="0" y="575906"/>
                  </a:lnTo>
                  <a:lnTo>
                    <a:pt x="1387843" y="575906"/>
                  </a:lnTo>
                  <a:lnTo>
                    <a:pt x="1387843" y="288010"/>
                  </a:lnTo>
                  <a:lnTo>
                    <a:pt x="138784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42795" y="1849132"/>
              <a:ext cx="6696075" cy="288290"/>
            </a:xfrm>
            <a:custGeom>
              <a:avLst/>
              <a:gdLst/>
              <a:ahLst/>
              <a:cxnLst/>
              <a:rect l="l" t="t" r="r" b="b"/>
              <a:pathLst>
                <a:path w="6696075" h="288289">
                  <a:moveTo>
                    <a:pt x="575995" y="0"/>
                  </a:moveTo>
                  <a:lnTo>
                    <a:pt x="0" y="0"/>
                  </a:lnTo>
                  <a:lnTo>
                    <a:pt x="0" y="143891"/>
                  </a:lnTo>
                  <a:lnTo>
                    <a:pt x="0" y="287896"/>
                  </a:lnTo>
                  <a:lnTo>
                    <a:pt x="575995" y="287896"/>
                  </a:lnTo>
                  <a:lnTo>
                    <a:pt x="575995" y="144005"/>
                  </a:lnTo>
                  <a:lnTo>
                    <a:pt x="575995" y="0"/>
                  </a:lnTo>
                  <a:close/>
                </a:path>
                <a:path w="6696075" h="288289">
                  <a:moveTo>
                    <a:pt x="1799958" y="0"/>
                  </a:moveTo>
                  <a:lnTo>
                    <a:pt x="1188072" y="0"/>
                  </a:lnTo>
                  <a:lnTo>
                    <a:pt x="576072" y="0"/>
                  </a:lnTo>
                  <a:lnTo>
                    <a:pt x="576072" y="143891"/>
                  </a:lnTo>
                  <a:lnTo>
                    <a:pt x="576072" y="287896"/>
                  </a:lnTo>
                  <a:lnTo>
                    <a:pt x="1187958" y="287896"/>
                  </a:lnTo>
                  <a:lnTo>
                    <a:pt x="1799958" y="287896"/>
                  </a:lnTo>
                  <a:lnTo>
                    <a:pt x="1799958" y="144005"/>
                  </a:lnTo>
                  <a:lnTo>
                    <a:pt x="1799958" y="0"/>
                  </a:lnTo>
                  <a:close/>
                </a:path>
                <a:path w="6696075" h="288289">
                  <a:moveTo>
                    <a:pt x="2411971" y="0"/>
                  </a:moveTo>
                  <a:lnTo>
                    <a:pt x="1799971" y="0"/>
                  </a:lnTo>
                  <a:lnTo>
                    <a:pt x="1799971" y="143891"/>
                  </a:lnTo>
                  <a:lnTo>
                    <a:pt x="1799971" y="287896"/>
                  </a:lnTo>
                  <a:lnTo>
                    <a:pt x="2411971" y="287896"/>
                  </a:lnTo>
                  <a:lnTo>
                    <a:pt x="2411971" y="144005"/>
                  </a:lnTo>
                  <a:lnTo>
                    <a:pt x="2411971" y="0"/>
                  </a:lnTo>
                  <a:close/>
                </a:path>
                <a:path w="6696075" h="288289">
                  <a:moveTo>
                    <a:pt x="3023984" y="0"/>
                  </a:moveTo>
                  <a:lnTo>
                    <a:pt x="2411984" y="0"/>
                  </a:lnTo>
                  <a:lnTo>
                    <a:pt x="2411984" y="143891"/>
                  </a:lnTo>
                  <a:lnTo>
                    <a:pt x="2411984" y="287896"/>
                  </a:lnTo>
                  <a:lnTo>
                    <a:pt x="3023984" y="287896"/>
                  </a:lnTo>
                  <a:lnTo>
                    <a:pt x="3023984" y="144005"/>
                  </a:lnTo>
                  <a:lnTo>
                    <a:pt x="3023984" y="0"/>
                  </a:lnTo>
                  <a:close/>
                </a:path>
                <a:path w="6696075" h="288289">
                  <a:moveTo>
                    <a:pt x="3635997" y="0"/>
                  </a:moveTo>
                  <a:lnTo>
                    <a:pt x="3023997" y="0"/>
                  </a:lnTo>
                  <a:lnTo>
                    <a:pt x="3023997" y="143891"/>
                  </a:lnTo>
                  <a:lnTo>
                    <a:pt x="3023997" y="287896"/>
                  </a:lnTo>
                  <a:lnTo>
                    <a:pt x="3635997" y="287896"/>
                  </a:lnTo>
                  <a:lnTo>
                    <a:pt x="3635997" y="144005"/>
                  </a:lnTo>
                  <a:lnTo>
                    <a:pt x="3635997" y="0"/>
                  </a:lnTo>
                  <a:close/>
                </a:path>
                <a:path w="6696075" h="288289">
                  <a:moveTo>
                    <a:pt x="4248010" y="0"/>
                  </a:moveTo>
                  <a:lnTo>
                    <a:pt x="3636010" y="0"/>
                  </a:lnTo>
                  <a:lnTo>
                    <a:pt x="3636010" y="143891"/>
                  </a:lnTo>
                  <a:lnTo>
                    <a:pt x="3636010" y="287896"/>
                  </a:lnTo>
                  <a:lnTo>
                    <a:pt x="4248010" y="287896"/>
                  </a:lnTo>
                  <a:lnTo>
                    <a:pt x="4248010" y="144005"/>
                  </a:lnTo>
                  <a:lnTo>
                    <a:pt x="4248010" y="0"/>
                  </a:lnTo>
                  <a:close/>
                </a:path>
                <a:path w="6696075" h="288289">
                  <a:moveTo>
                    <a:pt x="4860023" y="0"/>
                  </a:moveTo>
                  <a:lnTo>
                    <a:pt x="4248023" y="0"/>
                  </a:lnTo>
                  <a:lnTo>
                    <a:pt x="4248023" y="143891"/>
                  </a:lnTo>
                  <a:lnTo>
                    <a:pt x="4248023" y="287896"/>
                  </a:lnTo>
                  <a:lnTo>
                    <a:pt x="4860023" y="287896"/>
                  </a:lnTo>
                  <a:lnTo>
                    <a:pt x="4860023" y="144005"/>
                  </a:lnTo>
                  <a:lnTo>
                    <a:pt x="4860023" y="0"/>
                  </a:lnTo>
                  <a:close/>
                </a:path>
                <a:path w="6696075" h="288289">
                  <a:moveTo>
                    <a:pt x="5472023" y="0"/>
                  </a:moveTo>
                  <a:lnTo>
                    <a:pt x="4860036" y="0"/>
                  </a:lnTo>
                  <a:lnTo>
                    <a:pt x="4860036" y="143891"/>
                  </a:lnTo>
                  <a:lnTo>
                    <a:pt x="4860036" y="287896"/>
                  </a:lnTo>
                  <a:lnTo>
                    <a:pt x="5472023" y="287896"/>
                  </a:lnTo>
                  <a:lnTo>
                    <a:pt x="5472023" y="144005"/>
                  </a:lnTo>
                  <a:lnTo>
                    <a:pt x="5472023" y="0"/>
                  </a:lnTo>
                  <a:close/>
                </a:path>
                <a:path w="6696075" h="288289">
                  <a:moveTo>
                    <a:pt x="6084049" y="0"/>
                  </a:moveTo>
                  <a:lnTo>
                    <a:pt x="5472049" y="0"/>
                  </a:lnTo>
                  <a:lnTo>
                    <a:pt x="5472049" y="143891"/>
                  </a:lnTo>
                  <a:lnTo>
                    <a:pt x="5472049" y="287896"/>
                  </a:lnTo>
                  <a:lnTo>
                    <a:pt x="6084049" y="287896"/>
                  </a:lnTo>
                  <a:lnTo>
                    <a:pt x="6084049" y="144005"/>
                  </a:lnTo>
                  <a:lnTo>
                    <a:pt x="6084049" y="0"/>
                  </a:lnTo>
                  <a:close/>
                </a:path>
                <a:path w="6696075" h="288289">
                  <a:moveTo>
                    <a:pt x="6696049" y="0"/>
                  </a:moveTo>
                  <a:lnTo>
                    <a:pt x="6084062" y="0"/>
                  </a:lnTo>
                  <a:lnTo>
                    <a:pt x="6084062" y="143891"/>
                  </a:lnTo>
                  <a:lnTo>
                    <a:pt x="6084062" y="287896"/>
                  </a:lnTo>
                  <a:lnTo>
                    <a:pt x="6696049" y="287896"/>
                  </a:lnTo>
                  <a:lnTo>
                    <a:pt x="6696049" y="144005"/>
                  </a:lnTo>
                  <a:lnTo>
                    <a:pt x="669604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9994" y="2137041"/>
              <a:ext cx="1683385" cy="1152525"/>
            </a:xfrm>
            <a:custGeom>
              <a:avLst/>
              <a:gdLst/>
              <a:ahLst/>
              <a:cxnLst/>
              <a:rect l="l" t="t" r="r" b="b"/>
              <a:pathLst>
                <a:path w="1683385" h="1152525">
                  <a:moveTo>
                    <a:pt x="1682838" y="25"/>
                  </a:moveTo>
                  <a:lnTo>
                    <a:pt x="294995" y="25"/>
                  </a:lnTo>
                  <a:lnTo>
                    <a:pt x="0" y="0"/>
                  </a:lnTo>
                  <a:lnTo>
                    <a:pt x="0" y="1152004"/>
                  </a:lnTo>
                  <a:lnTo>
                    <a:pt x="294995" y="1152004"/>
                  </a:lnTo>
                  <a:lnTo>
                    <a:pt x="294995" y="576059"/>
                  </a:lnTo>
                  <a:lnTo>
                    <a:pt x="1682838" y="576059"/>
                  </a:lnTo>
                  <a:lnTo>
                    <a:pt x="1682838" y="288061"/>
                  </a:lnTo>
                  <a:lnTo>
                    <a:pt x="294995" y="288061"/>
                  </a:lnTo>
                  <a:lnTo>
                    <a:pt x="1682838" y="288023"/>
                  </a:lnTo>
                  <a:lnTo>
                    <a:pt x="1682838" y="25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42795" y="2425077"/>
              <a:ext cx="6696075" cy="288290"/>
            </a:xfrm>
            <a:custGeom>
              <a:avLst/>
              <a:gdLst/>
              <a:ahLst/>
              <a:cxnLst/>
              <a:rect l="l" t="t" r="r" b="b"/>
              <a:pathLst>
                <a:path w="6696075" h="288289">
                  <a:moveTo>
                    <a:pt x="575995" y="144018"/>
                  </a:moveTo>
                  <a:lnTo>
                    <a:pt x="0" y="144018"/>
                  </a:lnTo>
                  <a:lnTo>
                    <a:pt x="0" y="288023"/>
                  </a:lnTo>
                  <a:lnTo>
                    <a:pt x="575995" y="288023"/>
                  </a:lnTo>
                  <a:lnTo>
                    <a:pt x="575995" y="144018"/>
                  </a:lnTo>
                  <a:close/>
                </a:path>
                <a:path w="6696075" h="288289">
                  <a:moveTo>
                    <a:pt x="575995" y="0"/>
                  </a:moveTo>
                  <a:lnTo>
                    <a:pt x="0" y="0"/>
                  </a:lnTo>
                  <a:lnTo>
                    <a:pt x="0" y="144005"/>
                  </a:lnTo>
                  <a:lnTo>
                    <a:pt x="575995" y="144005"/>
                  </a:lnTo>
                  <a:lnTo>
                    <a:pt x="575995" y="0"/>
                  </a:lnTo>
                  <a:close/>
                </a:path>
                <a:path w="6696075" h="288289">
                  <a:moveTo>
                    <a:pt x="1799958" y="144018"/>
                  </a:moveTo>
                  <a:lnTo>
                    <a:pt x="1188072" y="144018"/>
                  </a:lnTo>
                  <a:lnTo>
                    <a:pt x="576072" y="144018"/>
                  </a:lnTo>
                  <a:lnTo>
                    <a:pt x="576072" y="288023"/>
                  </a:lnTo>
                  <a:lnTo>
                    <a:pt x="1187958" y="288023"/>
                  </a:lnTo>
                  <a:lnTo>
                    <a:pt x="1799958" y="288023"/>
                  </a:lnTo>
                  <a:lnTo>
                    <a:pt x="1799958" y="144018"/>
                  </a:lnTo>
                  <a:close/>
                </a:path>
                <a:path w="6696075" h="288289">
                  <a:moveTo>
                    <a:pt x="1799958" y="0"/>
                  </a:moveTo>
                  <a:lnTo>
                    <a:pt x="1188072" y="0"/>
                  </a:lnTo>
                  <a:lnTo>
                    <a:pt x="576072" y="0"/>
                  </a:lnTo>
                  <a:lnTo>
                    <a:pt x="576072" y="144005"/>
                  </a:lnTo>
                  <a:lnTo>
                    <a:pt x="1187958" y="144005"/>
                  </a:lnTo>
                  <a:lnTo>
                    <a:pt x="1799958" y="144005"/>
                  </a:lnTo>
                  <a:lnTo>
                    <a:pt x="1799958" y="0"/>
                  </a:lnTo>
                  <a:close/>
                </a:path>
                <a:path w="6696075" h="288289">
                  <a:moveTo>
                    <a:pt x="2411971" y="144018"/>
                  </a:moveTo>
                  <a:lnTo>
                    <a:pt x="1799971" y="144018"/>
                  </a:lnTo>
                  <a:lnTo>
                    <a:pt x="1799971" y="288023"/>
                  </a:lnTo>
                  <a:lnTo>
                    <a:pt x="2411971" y="288023"/>
                  </a:lnTo>
                  <a:lnTo>
                    <a:pt x="2411971" y="144018"/>
                  </a:lnTo>
                  <a:close/>
                </a:path>
                <a:path w="6696075" h="288289">
                  <a:moveTo>
                    <a:pt x="2411971" y="0"/>
                  </a:moveTo>
                  <a:lnTo>
                    <a:pt x="1799971" y="0"/>
                  </a:lnTo>
                  <a:lnTo>
                    <a:pt x="1799971" y="144005"/>
                  </a:lnTo>
                  <a:lnTo>
                    <a:pt x="2411971" y="144005"/>
                  </a:lnTo>
                  <a:lnTo>
                    <a:pt x="2411971" y="0"/>
                  </a:lnTo>
                  <a:close/>
                </a:path>
                <a:path w="6696075" h="288289">
                  <a:moveTo>
                    <a:pt x="3023984" y="144018"/>
                  </a:moveTo>
                  <a:lnTo>
                    <a:pt x="2411984" y="144018"/>
                  </a:lnTo>
                  <a:lnTo>
                    <a:pt x="2411984" y="288023"/>
                  </a:lnTo>
                  <a:lnTo>
                    <a:pt x="3023984" y="288023"/>
                  </a:lnTo>
                  <a:lnTo>
                    <a:pt x="3023984" y="144018"/>
                  </a:lnTo>
                  <a:close/>
                </a:path>
                <a:path w="6696075" h="288289">
                  <a:moveTo>
                    <a:pt x="3023984" y="0"/>
                  </a:moveTo>
                  <a:lnTo>
                    <a:pt x="2411984" y="0"/>
                  </a:lnTo>
                  <a:lnTo>
                    <a:pt x="2411984" y="144005"/>
                  </a:lnTo>
                  <a:lnTo>
                    <a:pt x="3023984" y="144005"/>
                  </a:lnTo>
                  <a:lnTo>
                    <a:pt x="3023984" y="0"/>
                  </a:lnTo>
                  <a:close/>
                </a:path>
                <a:path w="6696075" h="288289">
                  <a:moveTo>
                    <a:pt x="3635997" y="144018"/>
                  </a:moveTo>
                  <a:lnTo>
                    <a:pt x="3023997" y="144018"/>
                  </a:lnTo>
                  <a:lnTo>
                    <a:pt x="3023997" y="288023"/>
                  </a:lnTo>
                  <a:lnTo>
                    <a:pt x="3635997" y="288023"/>
                  </a:lnTo>
                  <a:lnTo>
                    <a:pt x="3635997" y="144018"/>
                  </a:lnTo>
                  <a:close/>
                </a:path>
                <a:path w="6696075" h="288289">
                  <a:moveTo>
                    <a:pt x="3635997" y="0"/>
                  </a:moveTo>
                  <a:lnTo>
                    <a:pt x="3023997" y="0"/>
                  </a:lnTo>
                  <a:lnTo>
                    <a:pt x="3023997" y="144005"/>
                  </a:lnTo>
                  <a:lnTo>
                    <a:pt x="3635997" y="144005"/>
                  </a:lnTo>
                  <a:lnTo>
                    <a:pt x="3635997" y="0"/>
                  </a:lnTo>
                  <a:close/>
                </a:path>
                <a:path w="6696075" h="288289">
                  <a:moveTo>
                    <a:pt x="4248010" y="144018"/>
                  </a:moveTo>
                  <a:lnTo>
                    <a:pt x="3636010" y="144018"/>
                  </a:lnTo>
                  <a:lnTo>
                    <a:pt x="3636010" y="288023"/>
                  </a:lnTo>
                  <a:lnTo>
                    <a:pt x="4248010" y="288023"/>
                  </a:lnTo>
                  <a:lnTo>
                    <a:pt x="4248010" y="144018"/>
                  </a:lnTo>
                  <a:close/>
                </a:path>
                <a:path w="6696075" h="288289">
                  <a:moveTo>
                    <a:pt x="4248010" y="0"/>
                  </a:moveTo>
                  <a:lnTo>
                    <a:pt x="3636010" y="0"/>
                  </a:lnTo>
                  <a:lnTo>
                    <a:pt x="3636010" y="144005"/>
                  </a:lnTo>
                  <a:lnTo>
                    <a:pt x="4248010" y="144005"/>
                  </a:lnTo>
                  <a:lnTo>
                    <a:pt x="4248010" y="0"/>
                  </a:lnTo>
                  <a:close/>
                </a:path>
                <a:path w="6696075" h="288289">
                  <a:moveTo>
                    <a:pt x="4860023" y="144018"/>
                  </a:moveTo>
                  <a:lnTo>
                    <a:pt x="4248023" y="144018"/>
                  </a:lnTo>
                  <a:lnTo>
                    <a:pt x="4248023" y="288023"/>
                  </a:lnTo>
                  <a:lnTo>
                    <a:pt x="4860023" y="288023"/>
                  </a:lnTo>
                  <a:lnTo>
                    <a:pt x="4860023" y="144018"/>
                  </a:lnTo>
                  <a:close/>
                </a:path>
                <a:path w="6696075" h="288289">
                  <a:moveTo>
                    <a:pt x="4860023" y="0"/>
                  </a:moveTo>
                  <a:lnTo>
                    <a:pt x="4248023" y="0"/>
                  </a:lnTo>
                  <a:lnTo>
                    <a:pt x="4248023" y="144005"/>
                  </a:lnTo>
                  <a:lnTo>
                    <a:pt x="4860023" y="144005"/>
                  </a:lnTo>
                  <a:lnTo>
                    <a:pt x="4860023" y="0"/>
                  </a:lnTo>
                  <a:close/>
                </a:path>
                <a:path w="6696075" h="288289">
                  <a:moveTo>
                    <a:pt x="5472023" y="144018"/>
                  </a:moveTo>
                  <a:lnTo>
                    <a:pt x="4860036" y="144018"/>
                  </a:lnTo>
                  <a:lnTo>
                    <a:pt x="4860036" y="288023"/>
                  </a:lnTo>
                  <a:lnTo>
                    <a:pt x="5472023" y="288023"/>
                  </a:lnTo>
                  <a:lnTo>
                    <a:pt x="5472023" y="144018"/>
                  </a:lnTo>
                  <a:close/>
                </a:path>
                <a:path w="6696075" h="288289">
                  <a:moveTo>
                    <a:pt x="5472023" y="0"/>
                  </a:moveTo>
                  <a:lnTo>
                    <a:pt x="4860036" y="0"/>
                  </a:lnTo>
                  <a:lnTo>
                    <a:pt x="4860036" y="144005"/>
                  </a:lnTo>
                  <a:lnTo>
                    <a:pt x="5472023" y="144005"/>
                  </a:lnTo>
                  <a:lnTo>
                    <a:pt x="5472023" y="0"/>
                  </a:lnTo>
                  <a:close/>
                </a:path>
                <a:path w="6696075" h="288289">
                  <a:moveTo>
                    <a:pt x="6084049" y="144018"/>
                  </a:moveTo>
                  <a:lnTo>
                    <a:pt x="5472049" y="144018"/>
                  </a:lnTo>
                  <a:lnTo>
                    <a:pt x="5472049" y="288023"/>
                  </a:lnTo>
                  <a:lnTo>
                    <a:pt x="6084049" y="288023"/>
                  </a:lnTo>
                  <a:lnTo>
                    <a:pt x="6084049" y="144018"/>
                  </a:lnTo>
                  <a:close/>
                </a:path>
                <a:path w="6696075" h="288289">
                  <a:moveTo>
                    <a:pt x="6084049" y="0"/>
                  </a:moveTo>
                  <a:lnTo>
                    <a:pt x="5472049" y="0"/>
                  </a:lnTo>
                  <a:lnTo>
                    <a:pt x="5472049" y="144005"/>
                  </a:lnTo>
                  <a:lnTo>
                    <a:pt x="6084049" y="144005"/>
                  </a:lnTo>
                  <a:lnTo>
                    <a:pt x="6084049" y="0"/>
                  </a:lnTo>
                  <a:close/>
                </a:path>
                <a:path w="6696075" h="288289">
                  <a:moveTo>
                    <a:pt x="6696049" y="144018"/>
                  </a:moveTo>
                  <a:lnTo>
                    <a:pt x="6084062" y="144018"/>
                  </a:lnTo>
                  <a:lnTo>
                    <a:pt x="6084062" y="288023"/>
                  </a:lnTo>
                  <a:lnTo>
                    <a:pt x="6696049" y="288023"/>
                  </a:lnTo>
                  <a:lnTo>
                    <a:pt x="6696049" y="144018"/>
                  </a:lnTo>
                  <a:close/>
                </a:path>
                <a:path w="6696075" h="288289">
                  <a:moveTo>
                    <a:pt x="6696049" y="0"/>
                  </a:moveTo>
                  <a:lnTo>
                    <a:pt x="6084062" y="0"/>
                  </a:lnTo>
                  <a:lnTo>
                    <a:pt x="6084062" y="144005"/>
                  </a:lnTo>
                  <a:lnTo>
                    <a:pt x="6696049" y="144005"/>
                  </a:lnTo>
                  <a:lnTo>
                    <a:pt x="669604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4989" y="2713139"/>
              <a:ext cx="1388110" cy="575945"/>
            </a:xfrm>
            <a:custGeom>
              <a:avLst/>
              <a:gdLst/>
              <a:ahLst/>
              <a:cxnLst/>
              <a:rect l="l" t="t" r="r" b="b"/>
              <a:pathLst>
                <a:path w="1388110" h="575945">
                  <a:moveTo>
                    <a:pt x="1387843" y="0"/>
                  </a:moveTo>
                  <a:lnTo>
                    <a:pt x="0" y="0"/>
                  </a:lnTo>
                  <a:lnTo>
                    <a:pt x="0" y="287909"/>
                  </a:lnTo>
                  <a:lnTo>
                    <a:pt x="0" y="575906"/>
                  </a:lnTo>
                  <a:lnTo>
                    <a:pt x="1387843" y="575906"/>
                  </a:lnTo>
                  <a:lnTo>
                    <a:pt x="1387843" y="287997"/>
                  </a:lnTo>
                  <a:lnTo>
                    <a:pt x="138784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42795" y="3001022"/>
              <a:ext cx="6696075" cy="288290"/>
            </a:xfrm>
            <a:custGeom>
              <a:avLst/>
              <a:gdLst/>
              <a:ahLst/>
              <a:cxnLst/>
              <a:rect l="l" t="t" r="r" b="b"/>
              <a:pathLst>
                <a:path w="6696075" h="288289">
                  <a:moveTo>
                    <a:pt x="575995" y="144018"/>
                  </a:moveTo>
                  <a:lnTo>
                    <a:pt x="0" y="144018"/>
                  </a:lnTo>
                  <a:lnTo>
                    <a:pt x="0" y="288023"/>
                  </a:lnTo>
                  <a:lnTo>
                    <a:pt x="575995" y="288023"/>
                  </a:lnTo>
                  <a:lnTo>
                    <a:pt x="575995" y="144018"/>
                  </a:lnTo>
                  <a:close/>
                </a:path>
                <a:path w="6696075" h="288289">
                  <a:moveTo>
                    <a:pt x="575995" y="0"/>
                  </a:moveTo>
                  <a:lnTo>
                    <a:pt x="0" y="0"/>
                  </a:lnTo>
                  <a:lnTo>
                    <a:pt x="0" y="144005"/>
                  </a:lnTo>
                  <a:lnTo>
                    <a:pt x="575995" y="144005"/>
                  </a:lnTo>
                  <a:lnTo>
                    <a:pt x="575995" y="0"/>
                  </a:lnTo>
                  <a:close/>
                </a:path>
                <a:path w="6696075" h="288289">
                  <a:moveTo>
                    <a:pt x="1799958" y="144018"/>
                  </a:moveTo>
                  <a:lnTo>
                    <a:pt x="1188072" y="144018"/>
                  </a:lnTo>
                  <a:lnTo>
                    <a:pt x="576072" y="144018"/>
                  </a:lnTo>
                  <a:lnTo>
                    <a:pt x="576072" y="288023"/>
                  </a:lnTo>
                  <a:lnTo>
                    <a:pt x="1187958" y="288023"/>
                  </a:lnTo>
                  <a:lnTo>
                    <a:pt x="1799958" y="288023"/>
                  </a:lnTo>
                  <a:lnTo>
                    <a:pt x="1799958" y="144018"/>
                  </a:lnTo>
                  <a:close/>
                </a:path>
                <a:path w="6696075" h="288289">
                  <a:moveTo>
                    <a:pt x="1799958" y="0"/>
                  </a:moveTo>
                  <a:lnTo>
                    <a:pt x="1188072" y="0"/>
                  </a:lnTo>
                  <a:lnTo>
                    <a:pt x="576072" y="0"/>
                  </a:lnTo>
                  <a:lnTo>
                    <a:pt x="576072" y="144005"/>
                  </a:lnTo>
                  <a:lnTo>
                    <a:pt x="1187958" y="144005"/>
                  </a:lnTo>
                  <a:lnTo>
                    <a:pt x="1799958" y="144005"/>
                  </a:lnTo>
                  <a:lnTo>
                    <a:pt x="1799958" y="0"/>
                  </a:lnTo>
                  <a:close/>
                </a:path>
                <a:path w="6696075" h="288289">
                  <a:moveTo>
                    <a:pt x="2411971" y="144018"/>
                  </a:moveTo>
                  <a:lnTo>
                    <a:pt x="1799971" y="144018"/>
                  </a:lnTo>
                  <a:lnTo>
                    <a:pt x="1799971" y="288023"/>
                  </a:lnTo>
                  <a:lnTo>
                    <a:pt x="2411971" y="288023"/>
                  </a:lnTo>
                  <a:lnTo>
                    <a:pt x="2411971" y="144018"/>
                  </a:lnTo>
                  <a:close/>
                </a:path>
                <a:path w="6696075" h="288289">
                  <a:moveTo>
                    <a:pt x="2411971" y="0"/>
                  </a:moveTo>
                  <a:lnTo>
                    <a:pt x="1799971" y="0"/>
                  </a:lnTo>
                  <a:lnTo>
                    <a:pt x="1799971" y="144005"/>
                  </a:lnTo>
                  <a:lnTo>
                    <a:pt x="2411971" y="144005"/>
                  </a:lnTo>
                  <a:lnTo>
                    <a:pt x="2411971" y="0"/>
                  </a:lnTo>
                  <a:close/>
                </a:path>
                <a:path w="6696075" h="288289">
                  <a:moveTo>
                    <a:pt x="3023984" y="144018"/>
                  </a:moveTo>
                  <a:lnTo>
                    <a:pt x="2411984" y="144018"/>
                  </a:lnTo>
                  <a:lnTo>
                    <a:pt x="2411984" y="288023"/>
                  </a:lnTo>
                  <a:lnTo>
                    <a:pt x="3023984" y="288023"/>
                  </a:lnTo>
                  <a:lnTo>
                    <a:pt x="3023984" y="144018"/>
                  </a:lnTo>
                  <a:close/>
                </a:path>
                <a:path w="6696075" h="288289">
                  <a:moveTo>
                    <a:pt x="3023984" y="0"/>
                  </a:moveTo>
                  <a:lnTo>
                    <a:pt x="2411984" y="0"/>
                  </a:lnTo>
                  <a:lnTo>
                    <a:pt x="2411984" y="144005"/>
                  </a:lnTo>
                  <a:lnTo>
                    <a:pt x="3023984" y="144005"/>
                  </a:lnTo>
                  <a:lnTo>
                    <a:pt x="3023984" y="0"/>
                  </a:lnTo>
                  <a:close/>
                </a:path>
                <a:path w="6696075" h="288289">
                  <a:moveTo>
                    <a:pt x="3635997" y="144018"/>
                  </a:moveTo>
                  <a:lnTo>
                    <a:pt x="3023997" y="144018"/>
                  </a:lnTo>
                  <a:lnTo>
                    <a:pt x="3023997" y="288023"/>
                  </a:lnTo>
                  <a:lnTo>
                    <a:pt x="3635997" y="288023"/>
                  </a:lnTo>
                  <a:lnTo>
                    <a:pt x="3635997" y="144018"/>
                  </a:lnTo>
                  <a:close/>
                </a:path>
                <a:path w="6696075" h="288289">
                  <a:moveTo>
                    <a:pt x="3635997" y="0"/>
                  </a:moveTo>
                  <a:lnTo>
                    <a:pt x="3023997" y="0"/>
                  </a:lnTo>
                  <a:lnTo>
                    <a:pt x="3023997" y="144005"/>
                  </a:lnTo>
                  <a:lnTo>
                    <a:pt x="3635997" y="144005"/>
                  </a:lnTo>
                  <a:lnTo>
                    <a:pt x="3635997" y="0"/>
                  </a:lnTo>
                  <a:close/>
                </a:path>
                <a:path w="6696075" h="288289">
                  <a:moveTo>
                    <a:pt x="4248010" y="144018"/>
                  </a:moveTo>
                  <a:lnTo>
                    <a:pt x="3636010" y="144018"/>
                  </a:lnTo>
                  <a:lnTo>
                    <a:pt x="3636010" y="288023"/>
                  </a:lnTo>
                  <a:lnTo>
                    <a:pt x="4248010" y="288023"/>
                  </a:lnTo>
                  <a:lnTo>
                    <a:pt x="4248010" y="144018"/>
                  </a:lnTo>
                  <a:close/>
                </a:path>
                <a:path w="6696075" h="288289">
                  <a:moveTo>
                    <a:pt x="4248010" y="0"/>
                  </a:moveTo>
                  <a:lnTo>
                    <a:pt x="3636010" y="0"/>
                  </a:lnTo>
                  <a:lnTo>
                    <a:pt x="3636010" y="144005"/>
                  </a:lnTo>
                  <a:lnTo>
                    <a:pt x="4248010" y="144005"/>
                  </a:lnTo>
                  <a:lnTo>
                    <a:pt x="4248010" y="0"/>
                  </a:lnTo>
                  <a:close/>
                </a:path>
                <a:path w="6696075" h="288289">
                  <a:moveTo>
                    <a:pt x="4860023" y="144018"/>
                  </a:moveTo>
                  <a:lnTo>
                    <a:pt x="4248023" y="144018"/>
                  </a:lnTo>
                  <a:lnTo>
                    <a:pt x="4248023" y="288023"/>
                  </a:lnTo>
                  <a:lnTo>
                    <a:pt x="4860023" y="288023"/>
                  </a:lnTo>
                  <a:lnTo>
                    <a:pt x="4860023" y="144018"/>
                  </a:lnTo>
                  <a:close/>
                </a:path>
                <a:path w="6696075" h="288289">
                  <a:moveTo>
                    <a:pt x="4860023" y="0"/>
                  </a:moveTo>
                  <a:lnTo>
                    <a:pt x="4248023" y="0"/>
                  </a:lnTo>
                  <a:lnTo>
                    <a:pt x="4248023" y="144005"/>
                  </a:lnTo>
                  <a:lnTo>
                    <a:pt x="4860023" y="144005"/>
                  </a:lnTo>
                  <a:lnTo>
                    <a:pt x="4860023" y="0"/>
                  </a:lnTo>
                  <a:close/>
                </a:path>
                <a:path w="6696075" h="288289">
                  <a:moveTo>
                    <a:pt x="5472023" y="144018"/>
                  </a:moveTo>
                  <a:lnTo>
                    <a:pt x="4860036" y="144018"/>
                  </a:lnTo>
                  <a:lnTo>
                    <a:pt x="4860036" y="288023"/>
                  </a:lnTo>
                  <a:lnTo>
                    <a:pt x="5472023" y="288023"/>
                  </a:lnTo>
                  <a:lnTo>
                    <a:pt x="5472023" y="144018"/>
                  </a:lnTo>
                  <a:close/>
                </a:path>
                <a:path w="6696075" h="288289">
                  <a:moveTo>
                    <a:pt x="5472023" y="0"/>
                  </a:moveTo>
                  <a:lnTo>
                    <a:pt x="4860036" y="0"/>
                  </a:lnTo>
                  <a:lnTo>
                    <a:pt x="4860036" y="144005"/>
                  </a:lnTo>
                  <a:lnTo>
                    <a:pt x="5472023" y="144005"/>
                  </a:lnTo>
                  <a:lnTo>
                    <a:pt x="5472023" y="0"/>
                  </a:lnTo>
                  <a:close/>
                </a:path>
                <a:path w="6696075" h="288289">
                  <a:moveTo>
                    <a:pt x="6084049" y="144018"/>
                  </a:moveTo>
                  <a:lnTo>
                    <a:pt x="5472049" y="144018"/>
                  </a:lnTo>
                  <a:lnTo>
                    <a:pt x="5472049" y="288023"/>
                  </a:lnTo>
                  <a:lnTo>
                    <a:pt x="6084049" y="288023"/>
                  </a:lnTo>
                  <a:lnTo>
                    <a:pt x="6084049" y="144018"/>
                  </a:lnTo>
                  <a:close/>
                </a:path>
                <a:path w="6696075" h="288289">
                  <a:moveTo>
                    <a:pt x="6084049" y="0"/>
                  </a:moveTo>
                  <a:lnTo>
                    <a:pt x="5472049" y="0"/>
                  </a:lnTo>
                  <a:lnTo>
                    <a:pt x="5472049" y="144005"/>
                  </a:lnTo>
                  <a:lnTo>
                    <a:pt x="6084049" y="144005"/>
                  </a:lnTo>
                  <a:lnTo>
                    <a:pt x="6084049" y="0"/>
                  </a:lnTo>
                  <a:close/>
                </a:path>
                <a:path w="6696075" h="288289">
                  <a:moveTo>
                    <a:pt x="6696049" y="144018"/>
                  </a:moveTo>
                  <a:lnTo>
                    <a:pt x="6084062" y="144018"/>
                  </a:lnTo>
                  <a:lnTo>
                    <a:pt x="6084062" y="288023"/>
                  </a:lnTo>
                  <a:lnTo>
                    <a:pt x="6696049" y="288023"/>
                  </a:lnTo>
                  <a:lnTo>
                    <a:pt x="6696049" y="144018"/>
                  </a:lnTo>
                  <a:close/>
                </a:path>
                <a:path w="6696075" h="288289">
                  <a:moveTo>
                    <a:pt x="6696049" y="0"/>
                  </a:moveTo>
                  <a:lnTo>
                    <a:pt x="6084062" y="0"/>
                  </a:lnTo>
                  <a:lnTo>
                    <a:pt x="6084062" y="144005"/>
                  </a:lnTo>
                  <a:lnTo>
                    <a:pt x="6696049" y="144005"/>
                  </a:lnTo>
                  <a:lnTo>
                    <a:pt x="669604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994" y="3289084"/>
              <a:ext cx="1683385" cy="864235"/>
            </a:xfrm>
            <a:custGeom>
              <a:avLst/>
              <a:gdLst/>
              <a:ahLst/>
              <a:cxnLst/>
              <a:rect l="l" t="t" r="r" b="b"/>
              <a:pathLst>
                <a:path w="1683385" h="864235">
                  <a:moveTo>
                    <a:pt x="1682838" y="0"/>
                  </a:moveTo>
                  <a:lnTo>
                    <a:pt x="294995" y="0"/>
                  </a:lnTo>
                  <a:lnTo>
                    <a:pt x="0" y="12"/>
                  </a:lnTo>
                  <a:lnTo>
                    <a:pt x="0" y="864006"/>
                  </a:lnTo>
                  <a:lnTo>
                    <a:pt x="294995" y="864006"/>
                  </a:lnTo>
                  <a:lnTo>
                    <a:pt x="294995" y="576033"/>
                  </a:lnTo>
                  <a:lnTo>
                    <a:pt x="1682838" y="576033"/>
                  </a:lnTo>
                  <a:lnTo>
                    <a:pt x="1682838" y="288048"/>
                  </a:lnTo>
                  <a:lnTo>
                    <a:pt x="294995" y="288048"/>
                  </a:lnTo>
                  <a:lnTo>
                    <a:pt x="1682838" y="287997"/>
                  </a:lnTo>
                  <a:lnTo>
                    <a:pt x="168283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42795" y="3577094"/>
              <a:ext cx="6696075" cy="288290"/>
            </a:xfrm>
            <a:custGeom>
              <a:avLst/>
              <a:gdLst/>
              <a:ahLst/>
              <a:cxnLst/>
              <a:rect l="l" t="t" r="r" b="b"/>
              <a:pathLst>
                <a:path w="6696075" h="288289">
                  <a:moveTo>
                    <a:pt x="575995" y="144018"/>
                  </a:moveTo>
                  <a:lnTo>
                    <a:pt x="0" y="144018"/>
                  </a:lnTo>
                  <a:lnTo>
                    <a:pt x="0" y="288023"/>
                  </a:lnTo>
                  <a:lnTo>
                    <a:pt x="575995" y="288023"/>
                  </a:lnTo>
                  <a:lnTo>
                    <a:pt x="575995" y="144018"/>
                  </a:lnTo>
                  <a:close/>
                </a:path>
                <a:path w="6696075" h="288289">
                  <a:moveTo>
                    <a:pt x="575995" y="0"/>
                  </a:moveTo>
                  <a:lnTo>
                    <a:pt x="0" y="0"/>
                  </a:lnTo>
                  <a:lnTo>
                    <a:pt x="0" y="144005"/>
                  </a:lnTo>
                  <a:lnTo>
                    <a:pt x="575995" y="144005"/>
                  </a:lnTo>
                  <a:lnTo>
                    <a:pt x="575995" y="0"/>
                  </a:lnTo>
                  <a:close/>
                </a:path>
                <a:path w="6696075" h="288289">
                  <a:moveTo>
                    <a:pt x="1799958" y="144018"/>
                  </a:moveTo>
                  <a:lnTo>
                    <a:pt x="1188072" y="144018"/>
                  </a:lnTo>
                  <a:lnTo>
                    <a:pt x="576072" y="144018"/>
                  </a:lnTo>
                  <a:lnTo>
                    <a:pt x="576072" y="288023"/>
                  </a:lnTo>
                  <a:lnTo>
                    <a:pt x="1187958" y="288023"/>
                  </a:lnTo>
                  <a:lnTo>
                    <a:pt x="1799958" y="288023"/>
                  </a:lnTo>
                  <a:lnTo>
                    <a:pt x="1799958" y="144018"/>
                  </a:lnTo>
                  <a:close/>
                </a:path>
                <a:path w="6696075" h="288289">
                  <a:moveTo>
                    <a:pt x="1799958" y="0"/>
                  </a:moveTo>
                  <a:lnTo>
                    <a:pt x="1188072" y="0"/>
                  </a:lnTo>
                  <a:lnTo>
                    <a:pt x="576072" y="0"/>
                  </a:lnTo>
                  <a:lnTo>
                    <a:pt x="576072" y="144005"/>
                  </a:lnTo>
                  <a:lnTo>
                    <a:pt x="1187958" y="144005"/>
                  </a:lnTo>
                  <a:lnTo>
                    <a:pt x="1799958" y="144005"/>
                  </a:lnTo>
                  <a:lnTo>
                    <a:pt x="1799958" y="0"/>
                  </a:lnTo>
                  <a:close/>
                </a:path>
                <a:path w="6696075" h="288289">
                  <a:moveTo>
                    <a:pt x="2411971" y="144018"/>
                  </a:moveTo>
                  <a:lnTo>
                    <a:pt x="1799971" y="144018"/>
                  </a:lnTo>
                  <a:lnTo>
                    <a:pt x="1799971" y="288023"/>
                  </a:lnTo>
                  <a:lnTo>
                    <a:pt x="2411971" y="288023"/>
                  </a:lnTo>
                  <a:lnTo>
                    <a:pt x="2411971" y="144018"/>
                  </a:lnTo>
                  <a:close/>
                </a:path>
                <a:path w="6696075" h="288289">
                  <a:moveTo>
                    <a:pt x="2411971" y="0"/>
                  </a:moveTo>
                  <a:lnTo>
                    <a:pt x="1799971" y="0"/>
                  </a:lnTo>
                  <a:lnTo>
                    <a:pt x="1799971" y="144005"/>
                  </a:lnTo>
                  <a:lnTo>
                    <a:pt x="2411971" y="144005"/>
                  </a:lnTo>
                  <a:lnTo>
                    <a:pt x="2411971" y="0"/>
                  </a:lnTo>
                  <a:close/>
                </a:path>
                <a:path w="6696075" h="288289">
                  <a:moveTo>
                    <a:pt x="3023984" y="144018"/>
                  </a:moveTo>
                  <a:lnTo>
                    <a:pt x="2411984" y="144018"/>
                  </a:lnTo>
                  <a:lnTo>
                    <a:pt x="2411984" y="288023"/>
                  </a:lnTo>
                  <a:lnTo>
                    <a:pt x="3023984" y="288023"/>
                  </a:lnTo>
                  <a:lnTo>
                    <a:pt x="3023984" y="144018"/>
                  </a:lnTo>
                  <a:close/>
                </a:path>
                <a:path w="6696075" h="288289">
                  <a:moveTo>
                    <a:pt x="3023984" y="0"/>
                  </a:moveTo>
                  <a:lnTo>
                    <a:pt x="2411984" y="0"/>
                  </a:lnTo>
                  <a:lnTo>
                    <a:pt x="2411984" y="144005"/>
                  </a:lnTo>
                  <a:lnTo>
                    <a:pt x="3023984" y="144005"/>
                  </a:lnTo>
                  <a:lnTo>
                    <a:pt x="3023984" y="0"/>
                  </a:lnTo>
                  <a:close/>
                </a:path>
                <a:path w="6696075" h="288289">
                  <a:moveTo>
                    <a:pt x="3635997" y="144018"/>
                  </a:moveTo>
                  <a:lnTo>
                    <a:pt x="3023997" y="144018"/>
                  </a:lnTo>
                  <a:lnTo>
                    <a:pt x="3023997" y="288023"/>
                  </a:lnTo>
                  <a:lnTo>
                    <a:pt x="3635997" y="288023"/>
                  </a:lnTo>
                  <a:lnTo>
                    <a:pt x="3635997" y="144018"/>
                  </a:lnTo>
                  <a:close/>
                </a:path>
                <a:path w="6696075" h="288289">
                  <a:moveTo>
                    <a:pt x="3635997" y="0"/>
                  </a:moveTo>
                  <a:lnTo>
                    <a:pt x="3023997" y="0"/>
                  </a:lnTo>
                  <a:lnTo>
                    <a:pt x="3023997" y="144005"/>
                  </a:lnTo>
                  <a:lnTo>
                    <a:pt x="3635997" y="144005"/>
                  </a:lnTo>
                  <a:lnTo>
                    <a:pt x="3635997" y="0"/>
                  </a:lnTo>
                  <a:close/>
                </a:path>
                <a:path w="6696075" h="288289">
                  <a:moveTo>
                    <a:pt x="4248010" y="144018"/>
                  </a:moveTo>
                  <a:lnTo>
                    <a:pt x="3636010" y="144018"/>
                  </a:lnTo>
                  <a:lnTo>
                    <a:pt x="3636010" y="288023"/>
                  </a:lnTo>
                  <a:lnTo>
                    <a:pt x="4248010" y="288023"/>
                  </a:lnTo>
                  <a:lnTo>
                    <a:pt x="4248010" y="144018"/>
                  </a:lnTo>
                  <a:close/>
                </a:path>
                <a:path w="6696075" h="288289">
                  <a:moveTo>
                    <a:pt x="4248010" y="0"/>
                  </a:moveTo>
                  <a:lnTo>
                    <a:pt x="3636010" y="0"/>
                  </a:lnTo>
                  <a:lnTo>
                    <a:pt x="3636010" y="144005"/>
                  </a:lnTo>
                  <a:lnTo>
                    <a:pt x="4248010" y="144005"/>
                  </a:lnTo>
                  <a:lnTo>
                    <a:pt x="4248010" y="0"/>
                  </a:lnTo>
                  <a:close/>
                </a:path>
                <a:path w="6696075" h="288289">
                  <a:moveTo>
                    <a:pt x="4860023" y="144018"/>
                  </a:moveTo>
                  <a:lnTo>
                    <a:pt x="4248023" y="144018"/>
                  </a:lnTo>
                  <a:lnTo>
                    <a:pt x="4248023" y="288023"/>
                  </a:lnTo>
                  <a:lnTo>
                    <a:pt x="4860023" y="288023"/>
                  </a:lnTo>
                  <a:lnTo>
                    <a:pt x="4860023" y="144018"/>
                  </a:lnTo>
                  <a:close/>
                </a:path>
                <a:path w="6696075" h="288289">
                  <a:moveTo>
                    <a:pt x="4860023" y="0"/>
                  </a:moveTo>
                  <a:lnTo>
                    <a:pt x="4248023" y="0"/>
                  </a:lnTo>
                  <a:lnTo>
                    <a:pt x="4248023" y="144005"/>
                  </a:lnTo>
                  <a:lnTo>
                    <a:pt x="4860023" y="144005"/>
                  </a:lnTo>
                  <a:lnTo>
                    <a:pt x="4860023" y="0"/>
                  </a:lnTo>
                  <a:close/>
                </a:path>
                <a:path w="6696075" h="288289">
                  <a:moveTo>
                    <a:pt x="5472023" y="144018"/>
                  </a:moveTo>
                  <a:lnTo>
                    <a:pt x="4860036" y="144018"/>
                  </a:lnTo>
                  <a:lnTo>
                    <a:pt x="4860036" y="288023"/>
                  </a:lnTo>
                  <a:lnTo>
                    <a:pt x="5472023" y="288023"/>
                  </a:lnTo>
                  <a:lnTo>
                    <a:pt x="5472023" y="144018"/>
                  </a:lnTo>
                  <a:close/>
                </a:path>
                <a:path w="6696075" h="288289">
                  <a:moveTo>
                    <a:pt x="5472023" y="0"/>
                  </a:moveTo>
                  <a:lnTo>
                    <a:pt x="4860036" y="0"/>
                  </a:lnTo>
                  <a:lnTo>
                    <a:pt x="4860036" y="144005"/>
                  </a:lnTo>
                  <a:lnTo>
                    <a:pt x="5472023" y="144005"/>
                  </a:lnTo>
                  <a:lnTo>
                    <a:pt x="5472023" y="0"/>
                  </a:lnTo>
                  <a:close/>
                </a:path>
                <a:path w="6696075" h="288289">
                  <a:moveTo>
                    <a:pt x="6084049" y="144018"/>
                  </a:moveTo>
                  <a:lnTo>
                    <a:pt x="5472049" y="144018"/>
                  </a:lnTo>
                  <a:lnTo>
                    <a:pt x="5472049" y="288023"/>
                  </a:lnTo>
                  <a:lnTo>
                    <a:pt x="6084049" y="288023"/>
                  </a:lnTo>
                  <a:lnTo>
                    <a:pt x="6084049" y="144018"/>
                  </a:lnTo>
                  <a:close/>
                </a:path>
                <a:path w="6696075" h="288289">
                  <a:moveTo>
                    <a:pt x="6084049" y="0"/>
                  </a:moveTo>
                  <a:lnTo>
                    <a:pt x="5472049" y="0"/>
                  </a:lnTo>
                  <a:lnTo>
                    <a:pt x="5472049" y="144005"/>
                  </a:lnTo>
                  <a:lnTo>
                    <a:pt x="6084049" y="144005"/>
                  </a:lnTo>
                  <a:lnTo>
                    <a:pt x="6084049" y="0"/>
                  </a:lnTo>
                  <a:close/>
                </a:path>
                <a:path w="6696075" h="288289">
                  <a:moveTo>
                    <a:pt x="6696049" y="144018"/>
                  </a:moveTo>
                  <a:lnTo>
                    <a:pt x="6084062" y="144018"/>
                  </a:lnTo>
                  <a:lnTo>
                    <a:pt x="6084062" y="288023"/>
                  </a:lnTo>
                  <a:lnTo>
                    <a:pt x="6696049" y="288023"/>
                  </a:lnTo>
                  <a:lnTo>
                    <a:pt x="6696049" y="144018"/>
                  </a:lnTo>
                  <a:close/>
                </a:path>
                <a:path w="6696075" h="288289">
                  <a:moveTo>
                    <a:pt x="6696049" y="0"/>
                  </a:moveTo>
                  <a:lnTo>
                    <a:pt x="6084062" y="0"/>
                  </a:lnTo>
                  <a:lnTo>
                    <a:pt x="6084062" y="144005"/>
                  </a:lnTo>
                  <a:lnTo>
                    <a:pt x="6696049" y="144005"/>
                  </a:lnTo>
                  <a:lnTo>
                    <a:pt x="669604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4989" y="3865092"/>
              <a:ext cx="1388110" cy="288290"/>
            </a:xfrm>
            <a:custGeom>
              <a:avLst/>
              <a:gdLst/>
              <a:ahLst/>
              <a:cxnLst/>
              <a:rect l="l" t="t" r="r" b="b"/>
              <a:pathLst>
                <a:path w="1388110" h="288289">
                  <a:moveTo>
                    <a:pt x="1387855" y="0"/>
                  </a:moveTo>
                  <a:lnTo>
                    <a:pt x="0" y="0"/>
                  </a:lnTo>
                  <a:lnTo>
                    <a:pt x="0" y="287997"/>
                  </a:lnTo>
                  <a:lnTo>
                    <a:pt x="1387855" y="287997"/>
                  </a:lnTo>
                  <a:lnTo>
                    <a:pt x="138785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9994" y="4153077"/>
              <a:ext cx="2259330" cy="288290"/>
            </a:xfrm>
            <a:custGeom>
              <a:avLst/>
              <a:gdLst/>
              <a:ahLst/>
              <a:cxnLst/>
              <a:rect l="l" t="t" r="r" b="b"/>
              <a:pathLst>
                <a:path w="2259330" h="288289">
                  <a:moveTo>
                    <a:pt x="2258796" y="0"/>
                  </a:moveTo>
                  <a:lnTo>
                    <a:pt x="1682800" y="0"/>
                  </a:lnTo>
                  <a:lnTo>
                    <a:pt x="294995" y="12"/>
                  </a:lnTo>
                  <a:lnTo>
                    <a:pt x="0" y="12"/>
                  </a:lnTo>
                  <a:lnTo>
                    <a:pt x="0" y="288010"/>
                  </a:lnTo>
                  <a:lnTo>
                    <a:pt x="294995" y="288010"/>
                  </a:lnTo>
                  <a:lnTo>
                    <a:pt x="1682838" y="288010"/>
                  </a:lnTo>
                  <a:lnTo>
                    <a:pt x="1682838" y="144005"/>
                  </a:lnTo>
                  <a:lnTo>
                    <a:pt x="2258796" y="144005"/>
                  </a:lnTo>
                  <a:lnTo>
                    <a:pt x="2258796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18867" y="4153077"/>
              <a:ext cx="6120130" cy="144145"/>
            </a:xfrm>
            <a:custGeom>
              <a:avLst/>
              <a:gdLst/>
              <a:ahLst/>
              <a:cxnLst/>
              <a:rect l="l" t="t" r="r" b="b"/>
              <a:pathLst>
                <a:path w="6120130" h="144145">
                  <a:moveTo>
                    <a:pt x="1223886" y="0"/>
                  </a:moveTo>
                  <a:lnTo>
                    <a:pt x="612000" y="0"/>
                  </a:lnTo>
                  <a:lnTo>
                    <a:pt x="0" y="0"/>
                  </a:lnTo>
                  <a:lnTo>
                    <a:pt x="0" y="144005"/>
                  </a:lnTo>
                  <a:lnTo>
                    <a:pt x="611886" y="144005"/>
                  </a:lnTo>
                  <a:lnTo>
                    <a:pt x="1223886" y="144005"/>
                  </a:lnTo>
                  <a:lnTo>
                    <a:pt x="1223886" y="0"/>
                  </a:lnTo>
                  <a:close/>
                </a:path>
                <a:path w="6120130" h="144145">
                  <a:moveTo>
                    <a:pt x="1835899" y="0"/>
                  </a:moveTo>
                  <a:lnTo>
                    <a:pt x="1223899" y="0"/>
                  </a:lnTo>
                  <a:lnTo>
                    <a:pt x="1223899" y="144005"/>
                  </a:lnTo>
                  <a:lnTo>
                    <a:pt x="1835899" y="144005"/>
                  </a:lnTo>
                  <a:lnTo>
                    <a:pt x="1835899" y="0"/>
                  </a:lnTo>
                  <a:close/>
                </a:path>
                <a:path w="6120130" h="144145">
                  <a:moveTo>
                    <a:pt x="2447912" y="0"/>
                  </a:moveTo>
                  <a:lnTo>
                    <a:pt x="1835912" y="0"/>
                  </a:lnTo>
                  <a:lnTo>
                    <a:pt x="1835912" y="144005"/>
                  </a:lnTo>
                  <a:lnTo>
                    <a:pt x="2447912" y="144005"/>
                  </a:lnTo>
                  <a:lnTo>
                    <a:pt x="2447912" y="0"/>
                  </a:lnTo>
                  <a:close/>
                </a:path>
                <a:path w="6120130" h="144145">
                  <a:moveTo>
                    <a:pt x="3059925" y="0"/>
                  </a:moveTo>
                  <a:lnTo>
                    <a:pt x="2447925" y="0"/>
                  </a:lnTo>
                  <a:lnTo>
                    <a:pt x="2447925" y="144005"/>
                  </a:lnTo>
                  <a:lnTo>
                    <a:pt x="3059925" y="144005"/>
                  </a:lnTo>
                  <a:lnTo>
                    <a:pt x="3059925" y="0"/>
                  </a:lnTo>
                  <a:close/>
                </a:path>
                <a:path w="6120130" h="144145">
                  <a:moveTo>
                    <a:pt x="3671938" y="0"/>
                  </a:moveTo>
                  <a:lnTo>
                    <a:pt x="3059938" y="0"/>
                  </a:lnTo>
                  <a:lnTo>
                    <a:pt x="3059938" y="144005"/>
                  </a:lnTo>
                  <a:lnTo>
                    <a:pt x="3671938" y="144005"/>
                  </a:lnTo>
                  <a:lnTo>
                    <a:pt x="3671938" y="0"/>
                  </a:lnTo>
                  <a:close/>
                </a:path>
                <a:path w="6120130" h="144145">
                  <a:moveTo>
                    <a:pt x="4283951" y="0"/>
                  </a:moveTo>
                  <a:lnTo>
                    <a:pt x="3671951" y="0"/>
                  </a:lnTo>
                  <a:lnTo>
                    <a:pt x="3671951" y="144005"/>
                  </a:lnTo>
                  <a:lnTo>
                    <a:pt x="4283951" y="144005"/>
                  </a:lnTo>
                  <a:lnTo>
                    <a:pt x="4283951" y="0"/>
                  </a:lnTo>
                  <a:close/>
                </a:path>
                <a:path w="6120130" h="144145">
                  <a:moveTo>
                    <a:pt x="4895951" y="0"/>
                  </a:moveTo>
                  <a:lnTo>
                    <a:pt x="4283964" y="0"/>
                  </a:lnTo>
                  <a:lnTo>
                    <a:pt x="4283964" y="144005"/>
                  </a:lnTo>
                  <a:lnTo>
                    <a:pt x="4895951" y="144005"/>
                  </a:lnTo>
                  <a:lnTo>
                    <a:pt x="4895951" y="0"/>
                  </a:lnTo>
                  <a:close/>
                </a:path>
                <a:path w="6120130" h="144145">
                  <a:moveTo>
                    <a:pt x="5507977" y="0"/>
                  </a:moveTo>
                  <a:lnTo>
                    <a:pt x="4895977" y="0"/>
                  </a:lnTo>
                  <a:lnTo>
                    <a:pt x="4895977" y="144005"/>
                  </a:lnTo>
                  <a:lnTo>
                    <a:pt x="5507977" y="144005"/>
                  </a:lnTo>
                  <a:lnTo>
                    <a:pt x="5507977" y="0"/>
                  </a:lnTo>
                  <a:close/>
                </a:path>
                <a:path w="6120130" h="144145">
                  <a:moveTo>
                    <a:pt x="6119977" y="0"/>
                  </a:moveTo>
                  <a:lnTo>
                    <a:pt x="5507990" y="0"/>
                  </a:lnTo>
                  <a:lnTo>
                    <a:pt x="5507990" y="144005"/>
                  </a:lnTo>
                  <a:lnTo>
                    <a:pt x="6119977" y="144005"/>
                  </a:lnTo>
                  <a:lnTo>
                    <a:pt x="6119977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42795" y="4297083"/>
              <a:ext cx="576580" cy="144145"/>
            </a:xfrm>
            <a:custGeom>
              <a:avLst/>
              <a:gdLst/>
              <a:ahLst/>
              <a:cxnLst/>
              <a:rect l="l" t="t" r="r" b="b"/>
              <a:pathLst>
                <a:path w="576580" h="144145">
                  <a:moveTo>
                    <a:pt x="575995" y="0"/>
                  </a:moveTo>
                  <a:lnTo>
                    <a:pt x="0" y="0"/>
                  </a:lnTo>
                  <a:lnTo>
                    <a:pt x="0" y="144005"/>
                  </a:lnTo>
                  <a:lnTo>
                    <a:pt x="575995" y="144005"/>
                  </a:lnTo>
                  <a:lnTo>
                    <a:pt x="575995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18867" y="4297083"/>
              <a:ext cx="6120130" cy="144145"/>
            </a:xfrm>
            <a:custGeom>
              <a:avLst/>
              <a:gdLst/>
              <a:ahLst/>
              <a:cxnLst/>
              <a:rect l="l" t="t" r="r" b="b"/>
              <a:pathLst>
                <a:path w="6120130" h="144145">
                  <a:moveTo>
                    <a:pt x="1223886" y="0"/>
                  </a:moveTo>
                  <a:lnTo>
                    <a:pt x="612000" y="0"/>
                  </a:lnTo>
                  <a:lnTo>
                    <a:pt x="0" y="0"/>
                  </a:lnTo>
                  <a:lnTo>
                    <a:pt x="0" y="144005"/>
                  </a:lnTo>
                  <a:lnTo>
                    <a:pt x="611886" y="144005"/>
                  </a:lnTo>
                  <a:lnTo>
                    <a:pt x="1223886" y="144005"/>
                  </a:lnTo>
                  <a:lnTo>
                    <a:pt x="1223886" y="0"/>
                  </a:lnTo>
                  <a:close/>
                </a:path>
                <a:path w="6120130" h="144145">
                  <a:moveTo>
                    <a:pt x="1835899" y="0"/>
                  </a:moveTo>
                  <a:lnTo>
                    <a:pt x="1223899" y="0"/>
                  </a:lnTo>
                  <a:lnTo>
                    <a:pt x="1223899" y="144005"/>
                  </a:lnTo>
                  <a:lnTo>
                    <a:pt x="1835899" y="144005"/>
                  </a:lnTo>
                  <a:lnTo>
                    <a:pt x="1835899" y="0"/>
                  </a:lnTo>
                  <a:close/>
                </a:path>
                <a:path w="6120130" h="144145">
                  <a:moveTo>
                    <a:pt x="2447912" y="0"/>
                  </a:moveTo>
                  <a:lnTo>
                    <a:pt x="1835912" y="0"/>
                  </a:lnTo>
                  <a:lnTo>
                    <a:pt x="1835912" y="144005"/>
                  </a:lnTo>
                  <a:lnTo>
                    <a:pt x="2447912" y="144005"/>
                  </a:lnTo>
                  <a:lnTo>
                    <a:pt x="2447912" y="0"/>
                  </a:lnTo>
                  <a:close/>
                </a:path>
                <a:path w="6120130" h="144145">
                  <a:moveTo>
                    <a:pt x="3059925" y="0"/>
                  </a:moveTo>
                  <a:lnTo>
                    <a:pt x="2447925" y="0"/>
                  </a:lnTo>
                  <a:lnTo>
                    <a:pt x="2447925" y="144005"/>
                  </a:lnTo>
                  <a:lnTo>
                    <a:pt x="3059925" y="144005"/>
                  </a:lnTo>
                  <a:lnTo>
                    <a:pt x="3059925" y="0"/>
                  </a:lnTo>
                  <a:close/>
                </a:path>
                <a:path w="6120130" h="144145">
                  <a:moveTo>
                    <a:pt x="3671938" y="0"/>
                  </a:moveTo>
                  <a:lnTo>
                    <a:pt x="3059938" y="0"/>
                  </a:lnTo>
                  <a:lnTo>
                    <a:pt x="3059938" y="144005"/>
                  </a:lnTo>
                  <a:lnTo>
                    <a:pt x="3671938" y="144005"/>
                  </a:lnTo>
                  <a:lnTo>
                    <a:pt x="3671938" y="0"/>
                  </a:lnTo>
                  <a:close/>
                </a:path>
                <a:path w="6120130" h="144145">
                  <a:moveTo>
                    <a:pt x="4283951" y="0"/>
                  </a:moveTo>
                  <a:lnTo>
                    <a:pt x="3671951" y="0"/>
                  </a:lnTo>
                  <a:lnTo>
                    <a:pt x="3671951" y="144005"/>
                  </a:lnTo>
                  <a:lnTo>
                    <a:pt x="4283951" y="144005"/>
                  </a:lnTo>
                  <a:lnTo>
                    <a:pt x="4283951" y="0"/>
                  </a:lnTo>
                  <a:close/>
                </a:path>
                <a:path w="6120130" h="144145">
                  <a:moveTo>
                    <a:pt x="4895951" y="0"/>
                  </a:moveTo>
                  <a:lnTo>
                    <a:pt x="4283964" y="0"/>
                  </a:lnTo>
                  <a:lnTo>
                    <a:pt x="4283964" y="144005"/>
                  </a:lnTo>
                  <a:lnTo>
                    <a:pt x="4895951" y="144005"/>
                  </a:lnTo>
                  <a:lnTo>
                    <a:pt x="4895951" y="0"/>
                  </a:lnTo>
                  <a:close/>
                </a:path>
                <a:path w="6120130" h="144145">
                  <a:moveTo>
                    <a:pt x="5507977" y="0"/>
                  </a:moveTo>
                  <a:lnTo>
                    <a:pt x="4895977" y="0"/>
                  </a:lnTo>
                  <a:lnTo>
                    <a:pt x="4895977" y="144005"/>
                  </a:lnTo>
                  <a:lnTo>
                    <a:pt x="5507977" y="144005"/>
                  </a:lnTo>
                  <a:lnTo>
                    <a:pt x="5507977" y="0"/>
                  </a:lnTo>
                  <a:close/>
                </a:path>
                <a:path w="6120130" h="144145">
                  <a:moveTo>
                    <a:pt x="6119977" y="0"/>
                  </a:moveTo>
                  <a:lnTo>
                    <a:pt x="5507990" y="0"/>
                  </a:lnTo>
                  <a:lnTo>
                    <a:pt x="5507990" y="144005"/>
                  </a:lnTo>
                  <a:lnTo>
                    <a:pt x="6119977" y="144005"/>
                  </a:lnTo>
                  <a:lnTo>
                    <a:pt x="6119977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994" y="4441075"/>
              <a:ext cx="2259330" cy="288290"/>
            </a:xfrm>
            <a:custGeom>
              <a:avLst/>
              <a:gdLst/>
              <a:ahLst/>
              <a:cxnLst/>
              <a:rect l="l" t="t" r="r" b="b"/>
              <a:pathLst>
                <a:path w="2259330" h="288289">
                  <a:moveTo>
                    <a:pt x="2258796" y="0"/>
                  </a:moveTo>
                  <a:lnTo>
                    <a:pt x="1682800" y="0"/>
                  </a:lnTo>
                  <a:lnTo>
                    <a:pt x="294995" y="12"/>
                  </a:lnTo>
                  <a:lnTo>
                    <a:pt x="0" y="12"/>
                  </a:lnTo>
                  <a:lnTo>
                    <a:pt x="0" y="288010"/>
                  </a:lnTo>
                  <a:lnTo>
                    <a:pt x="294995" y="288010"/>
                  </a:lnTo>
                  <a:lnTo>
                    <a:pt x="1682800" y="288010"/>
                  </a:lnTo>
                  <a:lnTo>
                    <a:pt x="2258796" y="288010"/>
                  </a:lnTo>
                  <a:lnTo>
                    <a:pt x="2258796" y="144005"/>
                  </a:lnTo>
                  <a:lnTo>
                    <a:pt x="2258796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9994" y="2137029"/>
              <a:ext cx="8379459" cy="2592070"/>
            </a:xfrm>
            <a:custGeom>
              <a:avLst/>
              <a:gdLst/>
              <a:ahLst/>
              <a:cxnLst/>
              <a:rect l="l" t="t" r="r" b="b"/>
              <a:pathLst>
                <a:path w="8379459" h="2592070">
                  <a:moveTo>
                    <a:pt x="0" y="0"/>
                  </a:moveTo>
                  <a:lnTo>
                    <a:pt x="8378875" y="0"/>
                  </a:lnTo>
                </a:path>
                <a:path w="8379459" h="2592070">
                  <a:moveTo>
                    <a:pt x="0" y="1152016"/>
                  </a:moveTo>
                  <a:lnTo>
                    <a:pt x="8378875" y="1152016"/>
                  </a:lnTo>
                </a:path>
                <a:path w="8379459" h="2592070">
                  <a:moveTo>
                    <a:pt x="0" y="2016061"/>
                  </a:moveTo>
                  <a:lnTo>
                    <a:pt x="8378875" y="2016061"/>
                  </a:lnTo>
                </a:path>
                <a:path w="8379459" h="2592070">
                  <a:moveTo>
                    <a:pt x="0" y="2592057"/>
                  </a:moveTo>
                  <a:lnTo>
                    <a:pt x="8378875" y="2592057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46810" y="812800"/>
            <a:ext cx="41148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solidFill>
                  <a:srgbClr val="FFFFFF"/>
                </a:solidFill>
                <a:latin typeface="Calibri Light"/>
                <a:cs typeface="Calibri Light"/>
              </a:rPr>
              <a:t>ACTIVIDA</a:t>
            </a:r>
            <a:r>
              <a:rPr sz="65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650" spc="-5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85416" y="812800"/>
            <a:ext cx="29337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Calibri Light"/>
                <a:cs typeface="Calibri Light"/>
              </a:rPr>
              <a:t>STATUS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54629" y="812800"/>
            <a:ext cx="34798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Calibri Light"/>
                <a:cs typeface="Calibri Light"/>
              </a:rPr>
              <a:t>FEBRERO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95090" y="812800"/>
            <a:ext cx="2914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Calibri Light"/>
                <a:cs typeface="Calibri Light"/>
              </a:rPr>
              <a:t>MARZO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41140" y="812800"/>
            <a:ext cx="22352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Calibri Light"/>
                <a:cs typeface="Calibri Light"/>
              </a:rPr>
              <a:t>ABRIL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42484" y="812800"/>
            <a:ext cx="2438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FFFFFF"/>
                </a:solidFill>
                <a:latin typeface="Calibri Light"/>
                <a:cs typeface="Calibri Light"/>
              </a:rPr>
              <a:t>MAYO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57546" y="812800"/>
            <a:ext cx="2438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FFFFFF"/>
                </a:solidFill>
                <a:latin typeface="Calibri Light"/>
                <a:cs typeface="Calibri Light"/>
              </a:rPr>
              <a:t>JUNIO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79719" y="812800"/>
            <a:ext cx="224154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 dirty="0">
                <a:solidFill>
                  <a:srgbClr val="FFFFFF"/>
                </a:solidFill>
                <a:latin typeface="Calibri Light"/>
                <a:cs typeface="Calibri Light"/>
              </a:rPr>
              <a:t>JULIO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40804" y="812800"/>
            <a:ext cx="3295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Calibri Light"/>
                <a:cs typeface="Calibri Light"/>
              </a:rPr>
              <a:t>AGOSTO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2841" y="812800"/>
            <a:ext cx="46863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Calibri Light"/>
                <a:cs typeface="Calibri Light"/>
              </a:rPr>
              <a:t>SEPTIEMBRE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47685" y="812800"/>
            <a:ext cx="36449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Calibri Light"/>
                <a:cs typeface="Calibri Light"/>
              </a:rPr>
              <a:t>OCTUBRE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12708" y="812800"/>
            <a:ext cx="457834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FFFFFF"/>
                </a:solidFill>
                <a:latin typeface="Calibri Light"/>
                <a:cs typeface="Calibri Light"/>
              </a:rPr>
              <a:t>NOVIEMBRE</a:t>
            </a:r>
            <a:endParaRPr sz="650">
              <a:latin typeface="Calibri Light"/>
              <a:cs typeface="Calibri Ligh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9526" y="1226147"/>
            <a:ext cx="154305" cy="678815"/>
          </a:xfrm>
          <a:prstGeom prst="rect">
            <a:avLst/>
          </a:prstGeom>
        </p:spPr>
        <p:txBody>
          <a:bodyPr vert="vert270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800" b="1" spc="-10" dirty="0">
                <a:solidFill>
                  <a:srgbClr val="333333"/>
                </a:solidFill>
                <a:latin typeface="Calibri"/>
                <a:cs typeface="Calibri"/>
              </a:rPr>
              <a:t>ORIENTATIVA</a:t>
            </a:r>
            <a:r>
              <a:rPr sz="800" b="1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333333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5360" y="1047686"/>
            <a:ext cx="75628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Formación</a:t>
            </a:r>
            <a:r>
              <a:rPr sz="800" spc="-3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círculo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76526" y="957952"/>
            <a:ext cx="203835" cy="3136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3135" y="1336675"/>
            <a:ext cx="79121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Origen</a:t>
            </a:r>
            <a:r>
              <a:rPr sz="800" spc="-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del</a:t>
            </a:r>
            <a:r>
              <a:rPr sz="800" spc="3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nombre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76526" y="1246749"/>
            <a:ext cx="203835" cy="3136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2955" y="1625219"/>
            <a:ext cx="11328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Cronograma</a:t>
            </a:r>
            <a:r>
              <a:rPr sz="800" spc="-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de</a:t>
            </a:r>
            <a:r>
              <a:rPr sz="800" spc="7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actividades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76526" y="1533722"/>
            <a:ext cx="203835" cy="3149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28382" y="1913191"/>
            <a:ext cx="64897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Selección</a:t>
            </a:r>
            <a:r>
              <a:rPr sz="800" spc="1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tema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76526" y="1822520"/>
            <a:ext cx="203835" cy="3149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9526" y="2380196"/>
            <a:ext cx="154305" cy="678815"/>
          </a:xfrm>
          <a:prstGeom prst="rect">
            <a:avLst/>
          </a:prstGeom>
        </p:spPr>
        <p:txBody>
          <a:bodyPr vert="vert270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800" b="1" spc="-10" dirty="0">
                <a:solidFill>
                  <a:srgbClr val="333333"/>
                </a:solidFill>
                <a:latin typeface="Calibri"/>
                <a:cs typeface="Calibri"/>
              </a:rPr>
              <a:t>ORIENTATIVA</a:t>
            </a:r>
            <a:r>
              <a:rPr sz="800" b="1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333333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9322" y="2201862"/>
            <a:ext cx="8420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Análisis</a:t>
            </a:r>
            <a:r>
              <a:rPr sz="800" spc="-3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de</a:t>
            </a:r>
            <a:r>
              <a:rPr sz="800" spc="-5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situación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76526" y="2111946"/>
            <a:ext cx="203835" cy="31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9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r>
              <a:rPr sz="800" spc="50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76947" y="2490723"/>
            <a:ext cx="7518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Análisis</a:t>
            </a:r>
            <a:r>
              <a:rPr sz="800" spc="-3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de</a:t>
            </a:r>
            <a:r>
              <a:rPr sz="800" spc="-4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causas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76526" y="2400672"/>
            <a:ext cx="203835" cy="3136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73772" y="2779395"/>
            <a:ext cx="7518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Objetivos</a:t>
            </a:r>
            <a:r>
              <a:rPr sz="800" spc="-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y</a:t>
            </a:r>
            <a:r>
              <a:rPr sz="800" spc="-4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metas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76526" y="2687898"/>
            <a:ext cx="203835" cy="3149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0732" y="3067367"/>
            <a:ext cx="113665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Estudio</a:t>
            </a:r>
            <a:r>
              <a:rPr sz="800" spc="-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de</a:t>
            </a:r>
            <a:r>
              <a:rPr sz="800" spc="-6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implementación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176526" y="2976442"/>
            <a:ext cx="203835" cy="3149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29526" y="3386759"/>
            <a:ext cx="154305" cy="681990"/>
          </a:xfrm>
          <a:prstGeom prst="rect">
            <a:avLst/>
          </a:prstGeom>
        </p:spPr>
        <p:txBody>
          <a:bodyPr vert="vert270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800" b="1" dirty="0">
                <a:solidFill>
                  <a:srgbClr val="333333"/>
                </a:solidFill>
                <a:latin typeface="Calibri"/>
                <a:cs typeface="Calibri"/>
              </a:rPr>
              <a:t>ORIENTATIVA</a:t>
            </a:r>
            <a:r>
              <a:rPr sz="800" b="1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333333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99160" y="3355911"/>
            <a:ext cx="90360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Análisis</a:t>
            </a:r>
            <a:r>
              <a:rPr sz="800" spc="-3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de</a:t>
            </a:r>
            <a:r>
              <a:rPr sz="800" spc="-5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resultados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176526" y="3265868"/>
            <a:ext cx="203835" cy="31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200"/>
              </a:lnSpc>
              <a:spcBef>
                <a:spcPts val="9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r>
              <a:rPr sz="800" spc="50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68680" y="3644582"/>
            <a:ext cx="97091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Freno</a:t>
            </a:r>
            <a:r>
              <a:rPr sz="800" spc="-1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contra</a:t>
            </a:r>
            <a:r>
              <a:rPr sz="800" spc="-40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retroceso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176526" y="3554721"/>
            <a:ext cx="203835" cy="3136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04569" y="3933507"/>
            <a:ext cx="6953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666666"/>
                </a:solidFill>
                <a:latin typeface="Calibri Light"/>
                <a:cs typeface="Calibri Light"/>
              </a:rPr>
              <a:t>Trabajos</a:t>
            </a:r>
            <a:r>
              <a:rPr sz="800" spc="-25" dirty="0">
                <a:solidFill>
                  <a:srgbClr val="666666"/>
                </a:solidFill>
                <a:latin typeface="Calibri Light"/>
                <a:cs typeface="Calibri Ligh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alibri Light"/>
                <a:cs typeface="Calibri Light"/>
              </a:rPr>
              <a:t>futuros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76526" y="3843392"/>
            <a:ext cx="203835" cy="3136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Plan</a:t>
            </a:r>
            <a:endParaRPr sz="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0" dirty="0">
                <a:solidFill>
                  <a:srgbClr val="666666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4377" y="4221479"/>
            <a:ext cx="85153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333333"/>
                </a:solidFill>
                <a:latin typeface="Calibri"/>
                <a:cs typeface="Calibri"/>
              </a:rPr>
              <a:t>PRE</a:t>
            </a:r>
            <a:r>
              <a:rPr sz="800" b="1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333333"/>
                </a:solidFill>
                <a:latin typeface="Calibri"/>
                <a:cs typeface="Calibri"/>
              </a:rPr>
              <a:t>CLASIFICACIÓN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34377" y="4510087"/>
            <a:ext cx="27114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10" dirty="0">
                <a:solidFill>
                  <a:srgbClr val="333333"/>
                </a:solidFill>
                <a:latin typeface="Calibri"/>
                <a:cs typeface="Calibri"/>
              </a:rPr>
              <a:t>FINAL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76526" y="4130681"/>
            <a:ext cx="203835" cy="60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8300"/>
              </a:lnSpc>
              <a:spcBef>
                <a:spcPts val="100"/>
              </a:spcBef>
            </a:pPr>
            <a:r>
              <a:rPr sz="800" spc="-20" dirty="0">
                <a:solidFill>
                  <a:srgbClr val="333333"/>
                </a:solidFill>
                <a:latin typeface="Calibri Light"/>
                <a:cs typeface="Calibri Light"/>
              </a:rPr>
              <a:t>Plan</a:t>
            </a:r>
            <a:r>
              <a:rPr sz="800" spc="5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333333"/>
                </a:solidFill>
                <a:latin typeface="Calibri Light"/>
                <a:cs typeface="Calibri Light"/>
              </a:rPr>
              <a:t>Real</a:t>
            </a:r>
            <a:r>
              <a:rPr sz="800" spc="5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333333"/>
                </a:solidFill>
                <a:latin typeface="Calibri Light"/>
                <a:cs typeface="Calibri Light"/>
              </a:rPr>
              <a:t>Plan</a:t>
            </a:r>
            <a:r>
              <a:rPr sz="800" spc="500" dirty="0">
                <a:solidFill>
                  <a:srgbClr val="333333"/>
                </a:solidFill>
                <a:latin typeface="Calibri Light"/>
                <a:cs typeface="Calibri Light"/>
              </a:rPr>
              <a:t> </a:t>
            </a:r>
            <a:r>
              <a:rPr sz="800" spc="-20" dirty="0">
                <a:solidFill>
                  <a:srgbClr val="333333"/>
                </a:solidFill>
                <a:latin typeface="Calibri Light"/>
                <a:cs typeface="Calibri Light"/>
              </a:rPr>
              <a:t>Real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457450" y="1314450"/>
            <a:ext cx="28575" cy="66675"/>
          </a:xfrm>
          <a:custGeom>
            <a:avLst/>
            <a:gdLst/>
            <a:ahLst/>
            <a:cxnLst/>
            <a:rect l="l" t="t" r="r" b="b"/>
            <a:pathLst>
              <a:path w="28575" h="66675">
                <a:moveTo>
                  <a:pt x="0" y="0"/>
                </a:moveTo>
                <a:lnTo>
                  <a:pt x="0" y="66675"/>
                </a:lnTo>
                <a:lnTo>
                  <a:pt x="28575" y="332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457450" y="1457325"/>
            <a:ext cx="28575" cy="76200"/>
          </a:xfrm>
          <a:custGeom>
            <a:avLst/>
            <a:gdLst/>
            <a:ahLst/>
            <a:cxnLst/>
            <a:rect l="l" t="t" r="r" b="b"/>
            <a:pathLst>
              <a:path w="28575" h="76200">
                <a:moveTo>
                  <a:pt x="0" y="0"/>
                </a:moveTo>
                <a:lnTo>
                  <a:pt x="0" y="76200"/>
                </a:lnTo>
                <a:lnTo>
                  <a:pt x="285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457450" y="1895475"/>
            <a:ext cx="28575" cy="66675"/>
          </a:xfrm>
          <a:custGeom>
            <a:avLst/>
            <a:gdLst/>
            <a:ahLst/>
            <a:cxnLst/>
            <a:rect l="l" t="t" r="r" b="b"/>
            <a:pathLst>
              <a:path w="28575" h="66675">
                <a:moveTo>
                  <a:pt x="0" y="0"/>
                </a:moveTo>
                <a:lnTo>
                  <a:pt x="0" y="66675"/>
                </a:lnTo>
                <a:lnTo>
                  <a:pt x="28575" y="332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457450" y="2038350"/>
            <a:ext cx="28575" cy="76200"/>
          </a:xfrm>
          <a:custGeom>
            <a:avLst/>
            <a:gdLst/>
            <a:ahLst/>
            <a:cxnLst/>
            <a:rect l="l" t="t" r="r" b="b"/>
            <a:pathLst>
              <a:path w="28575" h="76200">
                <a:moveTo>
                  <a:pt x="0" y="0"/>
                </a:moveTo>
                <a:lnTo>
                  <a:pt x="0" y="76200"/>
                </a:lnTo>
                <a:lnTo>
                  <a:pt x="285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457450" y="2466975"/>
            <a:ext cx="28575" cy="66675"/>
          </a:xfrm>
          <a:custGeom>
            <a:avLst/>
            <a:gdLst/>
            <a:ahLst/>
            <a:cxnLst/>
            <a:rect l="l" t="t" r="r" b="b"/>
            <a:pathLst>
              <a:path w="28575" h="66675">
                <a:moveTo>
                  <a:pt x="0" y="0"/>
                </a:moveTo>
                <a:lnTo>
                  <a:pt x="0" y="66675"/>
                </a:lnTo>
                <a:lnTo>
                  <a:pt x="28575" y="332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457450" y="2609850"/>
            <a:ext cx="28575" cy="66675"/>
          </a:xfrm>
          <a:custGeom>
            <a:avLst/>
            <a:gdLst/>
            <a:ahLst/>
            <a:cxnLst/>
            <a:rect l="l" t="t" r="r" b="b"/>
            <a:pathLst>
              <a:path w="28575" h="66675">
                <a:moveTo>
                  <a:pt x="0" y="0"/>
                </a:moveTo>
                <a:lnTo>
                  <a:pt x="0" y="66675"/>
                </a:lnTo>
                <a:lnTo>
                  <a:pt x="28575" y="332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457450" y="3048000"/>
            <a:ext cx="28575" cy="66675"/>
          </a:xfrm>
          <a:custGeom>
            <a:avLst/>
            <a:gdLst/>
            <a:ahLst/>
            <a:cxnLst/>
            <a:rect l="l" t="t" r="r" b="b"/>
            <a:pathLst>
              <a:path w="28575" h="66675">
                <a:moveTo>
                  <a:pt x="0" y="0"/>
                </a:moveTo>
                <a:lnTo>
                  <a:pt x="0" y="66675"/>
                </a:lnTo>
                <a:lnTo>
                  <a:pt x="28575" y="332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457450" y="3190875"/>
            <a:ext cx="28575" cy="66675"/>
          </a:xfrm>
          <a:custGeom>
            <a:avLst/>
            <a:gdLst/>
            <a:ahLst/>
            <a:cxnLst/>
            <a:rect l="l" t="t" r="r" b="b"/>
            <a:pathLst>
              <a:path w="28575" h="66675">
                <a:moveTo>
                  <a:pt x="0" y="0"/>
                </a:moveTo>
                <a:lnTo>
                  <a:pt x="0" y="66675"/>
                </a:lnTo>
                <a:lnTo>
                  <a:pt x="28575" y="3327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457450" y="3609975"/>
            <a:ext cx="28575" cy="76200"/>
          </a:xfrm>
          <a:custGeom>
            <a:avLst/>
            <a:gdLst/>
            <a:ahLst/>
            <a:cxnLst/>
            <a:rect l="l" t="t" r="r" b="b"/>
            <a:pathLst>
              <a:path w="28575" h="76200">
                <a:moveTo>
                  <a:pt x="0" y="0"/>
                </a:moveTo>
                <a:lnTo>
                  <a:pt x="0" y="76200"/>
                </a:lnTo>
                <a:lnTo>
                  <a:pt x="285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457450" y="3752850"/>
            <a:ext cx="28575" cy="76200"/>
          </a:xfrm>
          <a:custGeom>
            <a:avLst/>
            <a:gdLst/>
            <a:ahLst/>
            <a:cxnLst/>
            <a:rect l="l" t="t" r="r" b="b"/>
            <a:pathLst>
              <a:path w="28575" h="76200">
                <a:moveTo>
                  <a:pt x="0" y="0"/>
                </a:moveTo>
                <a:lnTo>
                  <a:pt x="0" y="76200"/>
                </a:lnTo>
                <a:lnTo>
                  <a:pt x="285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457450" y="4191000"/>
            <a:ext cx="28575" cy="76200"/>
          </a:xfrm>
          <a:custGeom>
            <a:avLst/>
            <a:gdLst/>
            <a:ahLst/>
            <a:cxnLst/>
            <a:rect l="l" t="t" r="r" b="b"/>
            <a:pathLst>
              <a:path w="28575" h="76200">
                <a:moveTo>
                  <a:pt x="0" y="0"/>
                </a:moveTo>
                <a:lnTo>
                  <a:pt x="0" y="76200"/>
                </a:lnTo>
                <a:lnTo>
                  <a:pt x="285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457450" y="4333875"/>
            <a:ext cx="28575" cy="76200"/>
          </a:xfrm>
          <a:custGeom>
            <a:avLst/>
            <a:gdLst/>
            <a:ahLst/>
            <a:cxnLst/>
            <a:rect l="l" t="t" r="r" b="b"/>
            <a:pathLst>
              <a:path w="28575" h="76200">
                <a:moveTo>
                  <a:pt x="0" y="0"/>
                </a:moveTo>
                <a:lnTo>
                  <a:pt x="0" y="76200"/>
                </a:lnTo>
                <a:lnTo>
                  <a:pt x="285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457450" y="4476750"/>
            <a:ext cx="28575" cy="66675"/>
          </a:xfrm>
          <a:custGeom>
            <a:avLst/>
            <a:gdLst/>
            <a:ahLst/>
            <a:cxnLst/>
            <a:rect l="l" t="t" r="r" b="b"/>
            <a:pathLst>
              <a:path w="28575" h="66675">
                <a:moveTo>
                  <a:pt x="0" y="0"/>
                </a:moveTo>
                <a:lnTo>
                  <a:pt x="0" y="66675"/>
                </a:lnTo>
                <a:lnTo>
                  <a:pt x="28575" y="33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457450" y="4619625"/>
            <a:ext cx="28575" cy="76200"/>
          </a:xfrm>
          <a:custGeom>
            <a:avLst/>
            <a:gdLst/>
            <a:ahLst/>
            <a:cxnLst/>
            <a:rect l="l" t="t" r="r" b="b"/>
            <a:pathLst>
              <a:path w="28575" h="76200">
                <a:moveTo>
                  <a:pt x="0" y="0"/>
                </a:moveTo>
                <a:lnTo>
                  <a:pt x="0" y="76200"/>
                </a:lnTo>
                <a:lnTo>
                  <a:pt x="285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6" name="object 76"/>
          <p:cNvGrpSpPr/>
          <p:nvPr/>
        </p:nvGrpSpPr>
        <p:grpSpPr>
          <a:xfrm>
            <a:off x="2457450" y="0"/>
            <a:ext cx="5092104" cy="4760843"/>
            <a:chOff x="2457450" y="0"/>
            <a:chExt cx="5092104" cy="4760843"/>
          </a:xfrm>
        </p:grpSpPr>
        <p:sp>
          <p:nvSpPr>
            <p:cNvPr id="77" name="object 77"/>
            <p:cNvSpPr/>
            <p:nvPr/>
          </p:nvSpPr>
          <p:spPr>
            <a:xfrm>
              <a:off x="2457450" y="1019174"/>
              <a:ext cx="28575" cy="3095625"/>
            </a:xfrm>
            <a:custGeom>
              <a:avLst/>
              <a:gdLst/>
              <a:ahLst/>
              <a:cxnLst/>
              <a:rect l="l" t="t" r="r" b="b"/>
              <a:pathLst>
                <a:path w="28575" h="3095625">
                  <a:moveTo>
                    <a:pt x="28575" y="3062287"/>
                  </a:moveTo>
                  <a:lnTo>
                    <a:pt x="0" y="3028950"/>
                  </a:lnTo>
                  <a:lnTo>
                    <a:pt x="0" y="3095625"/>
                  </a:lnTo>
                  <a:lnTo>
                    <a:pt x="28575" y="3062287"/>
                  </a:lnTo>
                  <a:close/>
                </a:path>
                <a:path w="28575" h="3095625">
                  <a:moveTo>
                    <a:pt x="28575" y="2919412"/>
                  </a:moveTo>
                  <a:lnTo>
                    <a:pt x="0" y="2886075"/>
                  </a:lnTo>
                  <a:lnTo>
                    <a:pt x="0" y="2952750"/>
                  </a:lnTo>
                  <a:lnTo>
                    <a:pt x="28575" y="2919412"/>
                  </a:lnTo>
                  <a:close/>
                </a:path>
                <a:path w="28575" h="3095625">
                  <a:moveTo>
                    <a:pt x="28575" y="2481199"/>
                  </a:moveTo>
                  <a:lnTo>
                    <a:pt x="0" y="2447925"/>
                  </a:lnTo>
                  <a:lnTo>
                    <a:pt x="0" y="2514600"/>
                  </a:lnTo>
                  <a:lnTo>
                    <a:pt x="28575" y="2481199"/>
                  </a:lnTo>
                  <a:close/>
                </a:path>
                <a:path w="28575" h="3095625">
                  <a:moveTo>
                    <a:pt x="28575" y="2338324"/>
                  </a:moveTo>
                  <a:lnTo>
                    <a:pt x="0" y="2305050"/>
                  </a:lnTo>
                  <a:lnTo>
                    <a:pt x="0" y="2371725"/>
                  </a:lnTo>
                  <a:lnTo>
                    <a:pt x="28575" y="2338324"/>
                  </a:lnTo>
                  <a:close/>
                </a:path>
                <a:path w="28575" h="3095625">
                  <a:moveTo>
                    <a:pt x="28575" y="1914525"/>
                  </a:moveTo>
                  <a:lnTo>
                    <a:pt x="0" y="1876425"/>
                  </a:lnTo>
                  <a:lnTo>
                    <a:pt x="0" y="1952625"/>
                  </a:lnTo>
                  <a:lnTo>
                    <a:pt x="28575" y="1914525"/>
                  </a:lnTo>
                  <a:close/>
                </a:path>
                <a:path w="28575" h="3095625">
                  <a:moveTo>
                    <a:pt x="28575" y="1771650"/>
                  </a:moveTo>
                  <a:lnTo>
                    <a:pt x="0" y="1733550"/>
                  </a:lnTo>
                  <a:lnTo>
                    <a:pt x="0" y="1809750"/>
                  </a:lnTo>
                  <a:lnTo>
                    <a:pt x="28575" y="1771650"/>
                  </a:lnTo>
                  <a:close/>
                </a:path>
                <a:path w="28575" h="3095625">
                  <a:moveTo>
                    <a:pt x="28575" y="1333500"/>
                  </a:moveTo>
                  <a:lnTo>
                    <a:pt x="0" y="1295400"/>
                  </a:lnTo>
                  <a:lnTo>
                    <a:pt x="0" y="1371600"/>
                  </a:lnTo>
                  <a:lnTo>
                    <a:pt x="28575" y="1333500"/>
                  </a:lnTo>
                  <a:close/>
                </a:path>
                <a:path w="28575" h="3095625">
                  <a:moveTo>
                    <a:pt x="28575" y="1190625"/>
                  </a:moveTo>
                  <a:lnTo>
                    <a:pt x="0" y="1152525"/>
                  </a:lnTo>
                  <a:lnTo>
                    <a:pt x="0" y="1228725"/>
                  </a:lnTo>
                  <a:lnTo>
                    <a:pt x="28575" y="1190625"/>
                  </a:lnTo>
                  <a:close/>
                </a:path>
                <a:path w="28575" h="3095625">
                  <a:moveTo>
                    <a:pt x="28575" y="762000"/>
                  </a:moveTo>
                  <a:lnTo>
                    <a:pt x="0" y="723900"/>
                  </a:lnTo>
                  <a:lnTo>
                    <a:pt x="0" y="800100"/>
                  </a:lnTo>
                  <a:lnTo>
                    <a:pt x="28575" y="762000"/>
                  </a:lnTo>
                  <a:close/>
                </a:path>
                <a:path w="28575" h="3095625">
                  <a:moveTo>
                    <a:pt x="28575" y="619125"/>
                  </a:moveTo>
                  <a:lnTo>
                    <a:pt x="0" y="581025"/>
                  </a:lnTo>
                  <a:lnTo>
                    <a:pt x="0" y="657225"/>
                  </a:lnTo>
                  <a:lnTo>
                    <a:pt x="28575" y="619125"/>
                  </a:lnTo>
                  <a:close/>
                </a:path>
                <a:path w="28575" h="3095625">
                  <a:moveTo>
                    <a:pt x="28575" y="185674"/>
                  </a:moveTo>
                  <a:lnTo>
                    <a:pt x="0" y="152400"/>
                  </a:lnTo>
                  <a:lnTo>
                    <a:pt x="0" y="219075"/>
                  </a:lnTo>
                  <a:lnTo>
                    <a:pt x="28575" y="185674"/>
                  </a:lnTo>
                  <a:close/>
                </a:path>
                <a:path w="28575" h="3095625">
                  <a:moveTo>
                    <a:pt x="28575" y="3810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8575" y="3810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248150" y="0"/>
              <a:ext cx="647700" cy="352425"/>
            </a:xfrm>
            <a:custGeom>
              <a:avLst/>
              <a:gdLst/>
              <a:ahLst/>
              <a:cxnLst/>
              <a:rect l="l" t="t" r="r" b="b"/>
              <a:pathLst>
                <a:path w="647700" h="352425">
                  <a:moveTo>
                    <a:pt x="647700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4746" y="315563"/>
                  </a:lnTo>
                  <a:lnTo>
                    <a:pt x="17684" y="334740"/>
                  </a:lnTo>
                  <a:lnTo>
                    <a:pt x="36861" y="347678"/>
                  </a:lnTo>
                  <a:lnTo>
                    <a:pt x="60325" y="352425"/>
                  </a:lnTo>
                  <a:lnTo>
                    <a:pt x="587375" y="352425"/>
                  </a:lnTo>
                  <a:lnTo>
                    <a:pt x="610838" y="347678"/>
                  </a:lnTo>
                  <a:lnTo>
                    <a:pt x="630015" y="334740"/>
                  </a:lnTo>
                  <a:lnTo>
                    <a:pt x="642953" y="315563"/>
                  </a:lnTo>
                  <a:lnTo>
                    <a:pt x="647700" y="292100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0" y="142875"/>
              <a:ext cx="571500" cy="18097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0" y="1038225"/>
              <a:ext cx="123825" cy="2476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38525" y="1600200"/>
              <a:ext cx="114300" cy="20955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7225" y="2266950"/>
              <a:ext cx="114300" cy="114300"/>
            </a:xfrm>
            <a:prstGeom prst="rect">
              <a:avLst/>
            </a:prstGeom>
          </p:spPr>
        </p:pic>
        <p:pic>
          <p:nvPicPr>
            <p:cNvPr id="83" name="object 83" descr="Imagen que contiene espejo, luz  Descripción generada automáticament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7700" y="2162175"/>
              <a:ext cx="114300" cy="10477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6400" y="2743200"/>
              <a:ext cx="114298" cy="21907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2825" y="1714500"/>
              <a:ext cx="123825" cy="10477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2825" y="1600200"/>
              <a:ext cx="247650" cy="10477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81525" y="2162175"/>
              <a:ext cx="123825" cy="21907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6679" y="4475093"/>
              <a:ext cx="142875" cy="28575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6650" y="1714500"/>
              <a:ext cx="123825" cy="9525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1000" y="2162175"/>
              <a:ext cx="123825" cy="21907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05350" y="2162175"/>
              <a:ext cx="114300" cy="219075"/>
            </a:xfrm>
            <a:prstGeom prst="rect">
              <a:avLst/>
            </a:prstGeom>
          </p:spPr>
        </p:pic>
        <p:pic>
          <p:nvPicPr>
            <p:cNvPr id="92" name="object 92" descr="Imagen que contiene espejo, luz  Descripción generada automáticament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3525" y="2743200"/>
              <a:ext cx="123825" cy="10477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62575" y="2847975"/>
              <a:ext cx="114298" cy="1143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24550" y="3467100"/>
              <a:ext cx="228600" cy="10477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4550" y="3352800"/>
              <a:ext cx="228598" cy="11430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38915" y="3853772"/>
              <a:ext cx="238123" cy="1143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38915" y="3968072"/>
              <a:ext cx="238123" cy="104775"/>
            </a:xfrm>
            <a:prstGeom prst="rect">
              <a:avLst/>
            </a:prstGeom>
          </p:spPr>
        </p:pic>
      </p:grpSp>
      <p:sp>
        <p:nvSpPr>
          <p:cNvPr id="98" name="object 9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037" rIns="0" bIns="0" rtlCol="0">
            <a:spAutoFit/>
          </a:bodyPr>
          <a:lstStyle/>
          <a:p>
            <a:pPr marL="172720">
              <a:lnSpc>
                <a:spcPct val="100000"/>
              </a:lnSpc>
              <a:spcBef>
                <a:spcPts val="125"/>
              </a:spcBef>
            </a:pPr>
            <a:r>
              <a:rPr dirty="0"/>
              <a:t>Cronograma</a:t>
            </a:r>
            <a:r>
              <a:rPr spc="25" dirty="0"/>
              <a:t> </a:t>
            </a:r>
            <a:r>
              <a:rPr dirty="0"/>
              <a:t>de</a:t>
            </a:r>
            <a:r>
              <a:rPr spc="20" dirty="0"/>
              <a:t> </a:t>
            </a:r>
            <a:r>
              <a:rPr spc="-10" dirty="0"/>
              <a:t>actividades</a:t>
            </a:r>
          </a:p>
        </p:txBody>
      </p:sp>
      <p:grpSp>
        <p:nvGrpSpPr>
          <p:cNvPr id="99" name="object 99"/>
          <p:cNvGrpSpPr/>
          <p:nvPr/>
        </p:nvGrpSpPr>
        <p:grpSpPr>
          <a:xfrm>
            <a:off x="6991954" y="4141783"/>
            <a:ext cx="142875" cy="295275"/>
            <a:chOff x="6772275" y="4133850"/>
            <a:chExt cx="142875" cy="295275"/>
          </a:xfrm>
        </p:grpSpPr>
        <p:pic>
          <p:nvPicPr>
            <p:cNvPr id="100" name="object 10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72275" y="4286250"/>
              <a:ext cx="142875" cy="142875"/>
            </a:xfrm>
            <a:prstGeom prst="rect">
              <a:avLst/>
            </a:prstGeom>
          </p:spPr>
        </p:pic>
        <p:pic>
          <p:nvPicPr>
            <p:cNvPr id="101" name="object 101" descr="Icono  Descripción generada automáticamente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72275" y="4133850"/>
              <a:ext cx="142875" cy="142875"/>
            </a:xfrm>
            <a:prstGeom prst="rect">
              <a:avLst/>
            </a:prstGeom>
          </p:spPr>
        </p:pic>
      </p:grpSp>
      <p:pic>
        <p:nvPicPr>
          <p:cNvPr id="102" name="object 10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28975" y="1285875"/>
            <a:ext cx="114300" cy="219075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895850" y="2466975"/>
            <a:ext cx="114298" cy="219075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3895725" y="1876425"/>
            <a:ext cx="238125" cy="219075"/>
            <a:chOff x="3895725" y="1876425"/>
            <a:chExt cx="238125" cy="219075"/>
          </a:xfrm>
        </p:grpSpPr>
        <p:pic>
          <p:nvPicPr>
            <p:cNvPr id="105" name="object 10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9550" y="1876425"/>
              <a:ext cx="114300" cy="21907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95725" y="1876425"/>
              <a:ext cx="123825" cy="219075"/>
            </a:xfrm>
            <a:prstGeom prst="rect">
              <a:avLst/>
            </a:prstGeom>
          </p:spPr>
        </p:pic>
      </p:grpSp>
      <p:grpSp>
        <p:nvGrpSpPr>
          <p:cNvPr id="107" name="object 107"/>
          <p:cNvGrpSpPr/>
          <p:nvPr/>
        </p:nvGrpSpPr>
        <p:grpSpPr>
          <a:xfrm>
            <a:off x="5105400" y="2457450"/>
            <a:ext cx="257175" cy="219075"/>
            <a:chOff x="5105400" y="2457450"/>
            <a:chExt cx="257175" cy="219075"/>
          </a:xfrm>
        </p:grpSpPr>
        <p:pic>
          <p:nvPicPr>
            <p:cNvPr id="108" name="object 10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38750" y="2571750"/>
              <a:ext cx="123825" cy="104775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05400" y="2466975"/>
              <a:ext cx="123825" cy="209550"/>
            </a:xfrm>
            <a:prstGeom prst="rect">
              <a:avLst/>
            </a:prstGeom>
          </p:spPr>
        </p:pic>
        <p:pic>
          <p:nvPicPr>
            <p:cNvPr id="110" name="object 110" descr="Imagen que contiene espejo, luz  Descripción generada automáticament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9225" y="2457450"/>
              <a:ext cx="114298" cy="114300"/>
            </a:xfrm>
            <a:prstGeom prst="rect">
              <a:avLst/>
            </a:prstGeom>
          </p:spPr>
        </p:pic>
      </p:grpSp>
      <p:grpSp>
        <p:nvGrpSpPr>
          <p:cNvPr id="111" name="object 111"/>
          <p:cNvGrpSpPr/>
          <p:nvPr/>
        </p:nvGrpSpPr>
        <p:grpSpPr>
          <a:xfrm>
            <a:off x="5686425" y="3048000"/>
            <a:ext cx="238125" cy="209550"/>
            <a:chOff x="5686425" y="3048000"/>
            <a:chExt cx="238125" cy="209550"/>
          </a:xfrm>
        </p:grpSpPr>
        <p:pic>
          <p:nvPicPr>
            <p:cNvPr id="112" name="object 11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86425" y="3152775"/>
              <a:ext cx="238125" cy="104775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6425" y="3048000"/>
              <a:ext cx="238123" cy="104775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6181531" y="3628716"/>
            <a:ext cx="238125" cy="209550"/>
            <a:chOff x="6096000" y="3629025"/>
            <a:chExt cx="238125" cy="209550"/>
          </a:xfrm>
        </p:grpSpPr>
        <p:pic>
          <p:nvPicPr>
            <p:cNvPr id="115" name="object 1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96000" y="3733800"/>
              <a:ext cx="238125" cy="10477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96000" y="3629025"/>
              <a:ext cx="238123" cy="1047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6CCFF6"/>
                </a:solidFill>
                <a:latin typeface="Arial Black"/>
                <a:cs typeface="Arial Black"/>
              </a:rPr>
              <a:t>4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64178" y="1951741"/>
            <a:ext cx="2327910" cy="10102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3950" spc="40" dirty="0">
                <a:solidFill>
                  <a:srgbClr val="FFFFFF"/>
                </a:solidFill>
              </a:rPr>
              <a:t>Selección</a:t>
            </a:r>
            <a:endParaRPr sz="3950"/>
          </a:p>
          <a:p>
            <a:pPr marL="1905" algn="ctr">
              <a:lnSpc>
                <a:spcPct val="100000"/>
              </a:lnSpc>
              <a:spcBef>
                <a:spcPts val="215"/>
              </a:spcBef>
            </a:pPr>
            <a:r>
              <a:rPr sz="2000" b="0" spc="-40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000" b="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Trebuchet MS"/>
                <a:cs typeface="Trebuchet MS"/>
              </a:rPr>
              <a:t>tema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23E7BB9F-24E0-4B37-9D11-C3B972D88D75}"/>
              </a:ext>
            </a:extLst>
          </p:cNvPr>
          <p:cNvSpPr/>
          <p:nvPr/>
        </p:nvSpPr>
        <p:spPr>
          <a:xfrm>
            <a:off x="2444623" y="1429586"/>
            <a:ext cx="1996440" cy="321183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C92FDA1E-4CA3-45C6-BCAB-0134E4A6C721}"/>
              </a:ext>
            </a:extLst>
          </p:cNvPr>
          <p:cNvSpPr/>
          <p:nvPr/>
        </p:nvSpPr>
        <p:spPr>
          <a:xfrm>
            <a:off x="2444623" y="1429586"/>
            <a:ext cx="45719" cy="3211830"/>
          </a:xfrm>
          <a:prstGeom prst="rect">
            <a:avLst/>
          </a:prstGeom>
          <a:solidFill>
            <a:srgbClr val="EE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831E1C39-8FC8-47AF-A54C-AE955BD0BD8E}"/>
              </a:ext>
            </a:extLst>
          </p:cNvPr>
          <p:cNvSpPr/>
          <p:nvPr/>
        </p:nvSpPr>
        <p:spPr>
          <a:xfrm>
            <a:off x="4665756" y="1417320"/>
            <a:ext cx="1996440" cy="321183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97FADA77-CB52-4975-9EFF-70874C6CDD2B}"/>
              </a:ext>
            </a:extLst>
          </p:cNvPr>
          <p:cNvSpPr/>
          <p:nvPr/>
        </p:nvSpPr>
        <p:spPr>
          <a:xfrm>
            <a:off x="4665756" y="1417320"/>
            <a:ext cx="45719" cy="3211830"/>
          </a:xfrm>
          <a:prstGeom prst="rect">
            <a:avLst/>
          </a:prstGeom>
          <a:solidFill>
            <a:srgbClr val="EF9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8" name="Rounded Rectangle 15">
            <a:extLst>
              <a:ext uri="{FF2B5EF4-FFF2-40B4-BE49-F238E27FC236}">
                <a16:creationId xmlns:a16="http://schemas.microsoft.com/office/drawing/2014/main" id="{4E99CBBF-E204-4A46-89D0-3470B3464819}"/>
              </a:ext>
            </a:extLst>
          </p:cNvPr>
          <p:cNvSpPr/>
          <p:nvPr/>
        </p:nvSpPr>
        <p:spPr>
          <a:xfrm>
            <a:off x="6918752" y="1417320"/>
            <a:ext cx="1996440" cy="321183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A7C3E0C7-5956-4E55-A180-E37D88F45946}"/>
              </a:ext>
            </a:extLst>
          </p:cNvPr>
          <p:cNvSpPr/>
          <p:nvPr/>
        </p:nvSpPr>
        <p:spPr>
          <a:xfrm>
            <a:off x="6918752" y="1417320"/>
            <a:ext cx="45719" cy="3211830"/>
          </a:xfrm>
          <a:prstGeom prst="rect">
            <a:avLst/>
          </a:prstGeom>
          <a:solidFill>
            <a:srgbClr val="35A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grpSp>
        <p:nvGrpSpPr>
          <p:cNvPr id="2" name="object 2"/>
          <p:cNvGrpSpPr/>
          <p:nvPr/>
        </p:nvGrpSpPr>
        <p:grpSpPr>
          <a:xfrm>
            <a:off x="0" y="0"/>
            <a:ext cx="3028950" cy="5143500"/>
            <a:chOff x="0" y="0"/>
            <a:chExt cx="302895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028950" cy="5143500"/>
            </a:xfrm>
            <a:custGeom>
              <a:avLst/>
              <a:gdLst/>
              <a:ahLst/>
              <a:cxnLst/>
              <a:rect l="l" t="t" r="r" b="b"/>
              <a:pathLst>
                <a:path w="3028950" h="5143500">
                  <a:moveTo>
                    <a:pt x="3028950" y="0"/>
                  </a:moveTo>
                  <a:lnTo>
                    <a:pt x="2677033" y="0"/>
                  </a:lnTo>
                  <a:lnTo>
                    <a:pt x="0" y="5143499"/>
                  </a:lnTo>
                  <a:lnTo>
                    <a:pt x="351866" y="5143499"/>
                  </a:lnTo>
                  <a:lnTo>
                    <a:pt x="302895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752725" cy="5143500"/>
            </a:xfrm>
            <a:custGeom>
              <a:avLst/>
              <a:gdLst/>
              <a:ahLst/>
              <a:cxnLst/>
              <a:rect l="l" t="t" r="r" b="b"/>
              <a:pathLst>
                <a:path w="2752725" h="5143500">
                  <a:moveTo>
                    <a:pt x="27527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7527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425" y="209550"/>
              <a:ext cx="561975" cy="1809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15277" y="1149286"/>
            <a:ext cx="127762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Selección</a:t>
            </a:r>
            <a:r>
              <a:rPr sz="1550" b="1" spc="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del </a:t>
            </a:r>
            <a:r>
              <a:rPr sz="1550" b="1" spc="-20" dirty="0">
                <a:solidFill>
                  <a:srgbClr val="FFFFFF"/>
                </a:solidFill>
                <a:latin typeface="Trebuchet MS"/>
                <a:cs typeface="Trebuchet MS"/>
              </a:rPr>
              <a:t>tema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00" y="2838449"/>
            <a:ext cx="1019175" cy="23050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 rotWithShape="1">
          <a:blip r:embed="rId4" cstate="print"/>
          <a:srcRect l="49260"/>
          <a:stretch/>
        </p:blipFill>
        <p:spPr>
          <a:xfrm>
            <a:off x="7083344" y="3098262"/>
            <a:ext cx="1770040" cy="121600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343775" y="259778"/>
            <a:ext cx="14935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4E6C92"/>
                </a:solidFill>
                <a:latin typeface="Trebuchet MS"/>
                <a:cs typeface="Trebuchet MS"/>
              </a:rPr>
              <a:t>Brainstorming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14651" y="1071625"/>
            <a:ext cx="2162175" cy="198131"/>
          </a:xfrm>
          <a:prstGeom prst="rect">
            <a:avLst/>
          </a:prstGeom>
          <a:ln w="3175">
            <a:noFill/>
          </a:ln>
        </p:spPr>
        <p:txBody>
          <a:bodyPr vert="horz" wrap="square" lIns="0" tIns="13335" rIns="0" bIns="0" rtlCol="0">
            <a:spAutoFit/>
          </a:bodyPr>
          <a:lstStyle/>
          <a:p>
            <a:pPr marL="457834">
              <a:lnSpc>
                <a:spcPct val="100000"/>
              </a:lnSpc>
              <a:spcBef>
                <a:spcPts val="105"/>
              </a:spcBef>
            </a:pPr>
            <a:r>
              <a:rPr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Escoba</a:t>
            </a:r>
            <a:r>
              <a:rPr sz="1200" i="1" spc="-15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magnética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76826" y="1071625"/>
            <a:ext cx="2171700" cy="219075"/>
          </a:xfrm>
          <a:custGeom>
            <a:avLst/>
            <a:gdLst/>
            <a:ahLst/>
            <a:cxnLst/>
            <a:rect l="l" t="t" r="r" b="b"/>
            <a:pathLst>
              <a:path w="2171700" h="219075">
                <a:moveTo>
                  <a:pt x="0" y="219075"/>
                </a:moveTo>
                <a:lnTo>
                  <a:pt x="2171700" y="219075"/>
                </a:lnTo>
                <a:lnTo>
                  <a:pt x="2171700" y="0"/>
                </a:lnTo>
                <a:lnTo>
                  <a:pt x="0" y="0"/>
                </a:lnTo>
                <a:lnTo>
                  <a:pt x="0" y="219075"/>
                </a:lnTo>
                <a:close/>
              </a:path>
            </a:pathLst>
          </a:custGeom>
          <a:ln w="3175">
            <a:noFill/>
            <a:prstDash val="sysDot"/>
          </a:ln>
        </p:spPr>
        <p:txBody>
          <a:bodyPr wrap="square" lIns="0" tIns="0" rIns="0" bIns="0" rtlCol="0"/>
          <a:lstStyle/>
          <a:p>
            <a:endParaRPr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78413" y="1072197"/>
            <a:ext cx="2173605" cy="19749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Carro</a:t>
            </a:r>
            <a:r>
              <a:rPr sz="1200" i="1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de</a:t>
            </a:r>
            <a:r>
              <a:rPr sz="1200" i="1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radiadores</a:t>
            </a:r>
            <a:endParaRPr sz="1200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58051" y="1071625"/>
            <a:ext cx="2162175" cy="228600"/>
          </a:xfrm>
          <a:custGeom>
            <a:avLst/>
            <a:gdLst/>
            <a:ahLst/>
            <a:cxnLst/>
            <a:rect l="l" t="t" r="r" b="b"/>
            <a:pathLst>
              <a:path w="2162175" h="228600">
                <a:moveTo>
                  <a:pt x="0" y="228600"/>
                </a:moveTo>
                <a:lnTo>
                  <a:pt x="2162175" y="228600"/>
                </a:lnTo>
                <a:lnTo>
                  <a:pt x="216217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3175">
            <a:noFill/>
            <a:prstDash val="sysDot"/>
          </a:ln>
        </p:spPr>
        <p:txBody>
          <a:bodyPr wrap="square" lIns="0" tIns="0" rIns="0" bIns="0" rtlCol="0"/>
          <a:lstStyle/>
          <a:p>
            <a:endParaRPr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54876" y="1076261"/>
            <a:ext cx="2164080" cy="19749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Carro</a:t>
            </a:r>
            <a:r>
              <a:rPr sz="1200" i="1" spc="-45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de</a:t>
            </a:r>
            <a:r>
              <a:rPr sz="1200" i="1" spc="35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soldadura</a:t>
            </a:r>
            <a:endParaRPr sz="1200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53176" y="623951"/>
            <a:ext cx="3063875" cy="0"/>
          </a:xfrm>
          <a:custGeom>
            <a:avLst/>
            <a:gdLst/>
            <a:ahLst/>
            <a:cxnLst/>
            <a:rect l="l" t="t" r="r" b="b"/>
            <a:pathLst>
              <a:path w="3063875">
                <a:moveTo>
                  <a:pt x="0" y="0"/>
                </a:moveTo>
                <a:lnTo>
                  <a:pt x="3063621" y="0"/>
                </a:lnTo>
              </a:path>
            </a:pathLst>
          </a:custGeom>
          <a:ln w="12700">
            <a:solidFill>
              <a:srgbClr val="EC1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318431EF-9867-463B-A236-5224E1237BB3}"/>
              </a:ext>
            </a:extLst>
          </p:cNvPr>
          <p:cNvSpPr txBox="1"/>
          <p:nvPr/>
        </p:nvSpPr>
        <p:spPr>
          <a:xfrm>
            <a:off x="2490342" y="1569230"/>
            <a:ext cx="1991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3136"/>
                </a:solidFill>
              </a:defRPr>
            </a:pPr>
            <a:r>
              <a:rPr sz="1000" dirty="0"/>
              <a:t>A • ELEMENTOS METÁLICOS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C06CDF51-A12F-4417-A3AD-1F48CE003C05}"/>
              </a:ext>
            </a:extLst>
          </p:cNvPr>
          <p:cNvSpPr txBox="1"/>
          <p:nvPr/>
        </p:nvSpPr>
        <p:spPr>
          <a:xfrm>
            <a:off x="2609215" y="1932506"/>
            <a:ext cx="180630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sz="900"/>
              <a:t>Tornillos y piezas metálicas en líneas y calles transitadas.</a:t>
            </a:r>
            <a:br>
              <a:rPr lang="es-AR" sz="900"/>
            </a:br>
            <a:br>
              <a:rPr lang="es-AR" sz="900"/>
            </a:br>
            <a:r>
              <a:rPr lang="es-AR" sz="900"/>
              <a:t>Generan condición insegura, dificultan la limpieza y pueden perderse junto con otros residuos.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064DF21D-9F1E-423B-884A-B5B487AF7719}"/>
              </a:ext>
            </a:extLst>
          </p:cNvPr>
          <p:cNvSpPr txBox="1"/>
          <p:nvPr/>
        </p:nvSpPr>
        <p:spPr>
          <a:xfrm>
            <a:off x="4783684" y="1565382"/>
            <a:ext cx="180630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3136"/>
                </a:solidFill>
              </a:defRPr>
            </a:pPr>
            <a:r>
              <a:rPr sz="1000" dirty="0"/>
              <a:t>B • RIESGO DE CORTES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B8A1590F-A16E-4BF3-AE07-219D482060F8}"/>
              </a:ext>
            </a:extLst>
          </p:cNvPr>
          <p:cNvSpPr txBox="1"/>
          <p:nvPr/>
        </p:nvSpPr>
        <p:spPr>
          <a:xfrm>
            <a:off x="4830348" y="1920240"/>
            <a:ext cx="180630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sz="900" noProof="1"/>
              <a:t>Los elementos metálicos pueden presentar puntas o bordes que aumentan el riesgo de lesión durante la circulación o limpieza.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B365B6DA-A4AE-4B79-A736-51C52FD6EF8E}"/>
              </a:ext>
            </a:extLst>
          </p:cNvPr>
          <p:cNvSpPr txBox="1"/>
          <p:nvPr/>
        </p:nvSpPr>
        <p:spPr>
          <a:xfrm>
            <a:off x="7001255" y="1547843"/>
            <a:ext cx="18063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>
              <a:defRPr sz="1500" b="1">
                <a:solidFill>
                  <a:srgbClr val="2B3136"/>
                </a:solidFill>
              </a:defRPr>
            </a:pPr>
            <a:r>
              <a:rPr sz="1000" dirty="0"/>
              <a:t>C • </a:t>
            </a:r>
            <a:r>
              <a:rPr lang="es-AR" sz="1000" dirty="0"/>
              <a:t>  </a:t>
            </a:r>
            <a:r>
              <a:rPr sz="1000" dirty="0"/>
              <a:t>ATRASO DE PRODUCCIÓN</a:t>
            </a: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2C83651A-8C06-4C91-9344-F2CAD70CCA2E}"/>
              </a:ext>
            </a:extLst>
          </p:cNvPr>
          <p:cNvSpPr txBox="1"/>
          <p:nvPr/>
        </p:nvSpPr>
        <p:spPr>
          <a:xfrm>
            <a:off x="7083344" y="1920240"/>
            <a:ext cx="180630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sz="900"/>
              <a:t>La presencia de residuos metálicos genera tareas adicionales de limpieza y recuperación que pueden afectar el tiempo operativo.</a:t>
            </a:r>
          </a:p>
        </p:txBody>
      </p:sp>
      <p:pic>
        <p:nvPicPr>
          <p:cNvPr id="32" name="object 12">
            <a:extLst>
              <a:ext uri="{FF2B5EF4-FFF2-40B4-BE49-F238E27FC236}">
                <a16:creationId xmlns:a16="http://schemas.microsoft.com/office/drawing/2014/main" id="{C9D233EF-6C1C-47AB-9E92-200946CF203D}"/>
              </a:ext>
            </a:extLst>
          </p:cNvPr>
          <p:cNvPicPr/>
          <p:nvPr/>
        </p:nvPicPr>
        <p:blipFill rotWithShape="1">
          <a:blip r:embed="rId4" cstate="print"/>
          <a:srcRect r="51062"/>
          <a:stretch/>
        </p:blipFill>
        <p:spPr>
          <a:xfrm>
            <a:off x="4776756" y="3061975"/>
            <a:ext cx="1806303" cy="132397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008DA07B-1513-48A0-83D8-526D8AD96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132" y="3108159"/>
            <a:ext cx="1650614" cy="12384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8884285" y="0"/>
                </a:lnTo>
                <a:lnTo>
                  <a:pt x="8884285" y="952500"/>
                </a:lnTo>
                <a:lnTo>
                  <a:pt x="8884285" y="4883150"/>
                </a:lnTo>
                <a:lnTo>
                  <a:pt x="259765" y="4883150"/>
                </a:lnTo>
                <a:lnTo>
                  <a:pt x="259765" y="250190"/>
                </a:lnTo>
                <a:lnTo>
                  <a:pt x="6791325" y="250190"/>
                </a:lnTo>
                <a:lnTo>
                  <a:pt x="6791325" y="952500"/>
                </a:lnTo>
                <a:lnTo>
                  <a:pt x="8884285" y="952500"/>
                </a:lnTo>
                <a:lnTo>
                  <a:pt x="8884285" y="0"/>
                </a:lnTo>
                <a:lnTo>
                  <a:pt x="0" y="0"/>
                </a:lnTo>
                <a:lnTo>
                  <a:pt x="0" y="250190"/>
                </a:lnTo>
                <a:lnTo>
                  <a:pt x="0" y="488315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4883734"/>
                </a:lnTo>
                <a:lnTo>
                  <a:pt x="9144000" y="4883150"/>
                </a:lnTo>
                <a:lnTo>
                  <a:pt x="9144000" y="25019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91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72605" y="327278"/>
            <a:ext cx="185928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35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Gravedad,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¿Cuáles</a:t>
            </a:r>
            <a:r>
              <a:rPr sz="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son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8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efectos?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ts val="1430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.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Urgencia,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¿Esto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puede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esperar?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Tendencia,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¿El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problema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va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empeorar?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50" y="3619500"/>
            <a:ext cx="1943100" cy="9525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68069" y="4547870"/>
            <a:ext cx="44195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83838"/>
                </a:solidFill>
                <a:latin typeface="Calibri"/>
                <a:cs typeface="Calibri"/>
              </a:rPr>
              <a:t>Riesgo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309" y="4423409"/>
            <a:ext cx="433070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4E6C92"/>
                </a:solidFill>
                <a:latin typeface="Calibri"/>
                <a:cs typeface="Calibri"/>
              </a:rPr>
              <a:t>Sin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10" dirty="0">
                <a:solidFill>
                  <a:srgbClr val="4E6C92"/>
                </a:solidFill>
                <a:latin typeface="Calibri"/>
                <a:cs typeface="Calibri"/>
              </a:rPr>
              <a:t>Gravedad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0029" y="4423409"/>
            <a:ext cx="273050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4E6C92"/>
                </a:solidFill>
                <a:latin typeface="Calibri"/>
                <a:cs typeface="Calibri"/>
              </a:rPr>
              <a:t>Muy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10" dirty="0">
                <a:solidFill>
                  <a:srgbClr val="4E6C92"/>
                </a:solidFill>
                <a:latin typeface="Calibri"/>
                <a:cs typeface="Calibri"/>
              </a:rPr>
              <a:t>Grave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70572" y="0"/>
            <a:ext cx="7806055" cy="3456304"/>
            <a:chOff x="670572" y="0"/>
            <a:chExt cx="7806055" cy="3456304"/>
          </a:xfrm>
        </p:grpSpPr>
        <p:sp>
          <p:nvSpPr>
            <p:cNvPr id="9" name="object 9"/>
            <p:cNvSpPr/>
            <p:nvPr/>
          </p:nvSpPr>
          <p:spPr>
            <a:xfrm>
              <a:off x="4248150" y="0"/>
              <a:ext cx="647700" cy="352425"/>
            </a:xfrm>
            <a:custGeom>
              <a:avLst/>
              <a:gdLst/>
              <a:ahLst/>
              <a:cxnLst/>
              <a:rect l="l" t="t" r="r" b="b"/>
              <a:pathLst>
                <a:path w="647700" h="352425">
                  <a:moveTo>
                    <a:pt x="647700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4746" y="315563"/>
                  </a:lnTo>
                  <a:lnTo>
                    <a:pt x="17684" y="334740"/>
                  </a:lnTo>
                  <a:lnTo>
                    <a:pt x="36861" y="347678"/>
                  </a:lnTo>
                  <a:lnTo>
                    <a:pt x="60325" y="352425"/>
                  </a:lnTo>
                  <a:lnTo>
                    <a:pt x="587375" y="352425"/>
                  </a:lnTo>
                  <a:lnTo>
                    <a:pt x="610838" y="347678"/>
                  </a:lnTo>
                  <a:lnTo>
                    <a:pt x="630015" y="334740"/>
                  </a:lnTo>
                  <a:lnTo>
                    <a:pt x="642953" y="315563"/>
                  </a:lnTo>
                  <a:lnTo>
                    <a:pt x="647700" y="292100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50" y="142875"/>
              <a:ext cx="571500" cy="1809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0572" y="1068031"/>
              <a:ext cx="5751195" cy="252095"/>
            </a:xfrm>
            <a:custGeom>
              <a:avLst/>
              <a:gdLst/>
              <a:ahLst/>
              <a:cxnLst/>
              <a:rect l="l" t="t" r="r" b="b"/>
              <a:pathLst>
                <a:path w="5751195" h="252094">
                  <a:moveTo>
                    <a:pt x="1655940" y="0"/>
                  </a:moveTo>
                  <a:lnTo>
                    <a:pt x="0" y="0"/>
                  </a:lnTo>
                  <a:lnTo>
                    <a:pt x="0" y="252006"/>
                  </a:lnTo>
                  <a:lnTo>
                    <a:pt x="1655940" y="252006"/>
                  </a:lnTo>
                  <a:lnTo>
                    <a:pt x="1655940" y="0"/>
                  </a:lnTo>
                  <a:close/>
                </a:path>
                <a:path w="5751195" h="252094">
                  <a:moveTo>
                    <a:pt x="3702037" y="0"/>
                  </a:moveTo>
                  <a:lnTo>
                    <a:pt x="1686039" y="0"/>
                  </a:lnTo>
                  <a:lnTo>
                    <a:pt x="1686039" y="252006"/>
                  </a:lnTo>
                  <a:lnTo>
                    <a:pt x="3702037" y="252006"/>
                  </a:lnTo>
                  <a:lnTo>
                    <a:pt x="3702037" y="0"/>
                  </a:lnTo>
                  <a:close/>
                </a:path>
                <a:path w="5751195" h="252094">
                  <a:moveTo>
                    <a:pt x="5750801" y="0"/>
                  </a:moveTo>
                  <a:lnTo>
                    <a:pt x="3734803" y="0"/>
                  </a:lnTo>
                  <a:lnTo>
                    <a:pt x="3734803" y="252006"/>
                  </a:lnTo>
                  <a:lnTo>
                    <a:pt x="5750801" y="252006"/>
                  </a:lnTo>
                  <a:lnTo>
                    <a:pt x="5750801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572" y="1320037"/>
              <a:ext cx="4166870" cy="617855"/>
            </a:xfrm>
            <a:custGeom>
              <a:avLst/>
              <a:gdLst/>
              <a:ahLst/>
              <a:cxnLst/>
              <a:rect l="l" t="t" r="r" b="b"/>
              <a:pathLst>
                <a:path w="4166870" h="617855">
                  <a:moveTo>
                    <a:pt x="1655940" y="365848"/>
                  </a:moveTo>
                  <a:lnTo>
                    <a:pt x="0" y="365848"/>
                  </a:lnTo>
                  <a:lnTo>
                    <a:pt x="0" y="617855"/>
                  </a:lnTo>
                  <a:lnTo>
                    <a:pt x="1655940" y="617855"/>
                  </a:lnTo>
                  <a:lnTo>
                    <a:pt x="1655940" y="365848"/>
                  </a:lnTo>
                  <a:close/>
                </a:path>
                <a:path w="4166870" h="617855">
                  <a:moveTo>
                    <a:pt x="165594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655940" y="365760"/>
                  </a:lnTo>
                  <a:lnTo>
                    <a:pt x="1655940" y="0"/>
                  </a:lnTo>
                  <a:close/>
                </a:path>
                <a:path w="4166870" h="617855">
                  <a:moveTo>
                    <a:pt x="2549956" y="365848"/>
                  </a:moveTo>
                  <a:lnTo>
                    <a:pt x="2118042" y="365848"/>
                  </a:lnTo>
                  <a:lnTo>
                    <a:pt x="1686039" y="365848"/>
                  </a:lnTo>
                  <a:lnTo>
                    <a:pt x="1686039" y="617855"/>
                  </a:lnTo>
                  <a:lnTo>
                    <a:pt x="2117966" y="617855"/>
                  </a:lnTo>
                  <a:lnTo>
                    <a:pt x="2549956" y="617855"/>
                  </a:lnTo>
                  <a:lnTo>
                    <a:pt x="2549956" y="365848"/>
                  </a:lnTo>
                  <a:close/>
                </a:path>
                <a:path w="4166870" h="617855">
                  <a:moveTo>
                    <a:pt x="3701948" y="365848"/>
                  </a:moveTo>
                  <a:lnTo>
                    <a:pt x="2982023" y="365848"/>
                  </a:lnTo>
                  <a:lnTo>
                    <a:pt x="2550020" y="365848"/>
                  </a:lnTo>
                  <a:lnTo>
                    <a:pt x="2550020" y="617855"/>
                  </a:lnTo>
                  <a:lnTo>
                    <a:pt x="2981947" y="617855"/>
                  </a:lnTo>
                  <a:lnTo>
                    <a:pt x="3701948" y="617855"/>
                  </a:lnTo>
                  <a:lnTo>
                    <a:pt x="3701948" y="365848"/>
                  </a:lnTo>
                  <a:close/>
                </a:path>
                <a:path w="4166870" h="617855">
                  <a:moveTo>
                    <a:pt x="4166806" y="365848"/>
                  </a:moveTo>
                  <a:lnTo>
                    <a:pt x="3734803" y="365848"/>
                  </a:lnTo>
                  <a:lnTo>
                    <a:pt x="3734803" y="617855"/>
                  </a:lnTo>
                  <a:lnTo>
                    <a:pt x="4166806" y="617855"/>
                  </a:lnTo>
                  <a:lnTo>
                    <a:pt x="4166806" y="365848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572" y="2189835"/>
              <a:ext cx="2982595" cy="756285"/>
            </a:xfrm>
            <a:custGeom>
              <a:avLst/>
              <a:gdLst/>
              <a:ahLst/>
              <a:cxnLst/>
              <a:rect l="l" t="t" r="r" b="b"/>
              <a:pathLst>
                <a:path w="2982595" h="756285">
                  <a:moveTo>
                    <a:pt x="1655940" y="504063"/>
                  </a:moveTo>
                  <a:lnTo>
                    <a:pt x="0" y="504063"/>
                  </a:lnTo>
                  <a:lnTo>
                    <a:pt x="0" y="756056"/>
                  </a:lnTo>
                  <a:lnTo>
                    <a:pt x="1655940" y="756056"/>
                  </a:lnTo>
                  <a:lnTo>
                    <a:pt x="1655940" y="504063"/>
                  </a:lnTo>
                  <a:close/>
                </a:path>
                <a:path w="2982595" h="756285">
                  <a:moveTo>
                    <a:pt x="1655940" y="0"/>
                  </a:moveTo>
                  <a:lnTo>
                    <a:pt x="0" y="0"/>
                  </a:lnTo>
                  <a:lnTo>
                    <a:pt x="0" y="251993"/>
                  </a:lnTo>
                  <a:lnTo>
                    <a:pt x="1655940" y="251993"/>
                  </a:lnTo>
                  <a:lnTo>
                    <a:pt x="1655940" y="0"/>
                  </a:lnTo>
                  <a:close/>
                </a:path>
                <a:path w="2982595" h="756285">
                  <a:moveTo>
                    <a:pt x="2549956" y="504063"/>
                  </a:moveTo>
                  <a:lnTo>
                    <a:pt x="2118042" y="504063"/>
                  </a:lnTo>
                  <a:lnTo>
                    <a:pt x="1686039" y="504063"/>
                  </a:lnTo>
                  <a:lnTo>
                    <a:pt x="1686039" y="756056"/>
                  </a:lnTo>
                  <a:lnTo>
                    <a:pt x="2117966" y="756056"/>
                  </a:lnTo>
                  <a:lnTo>
                    <a:pt x="2549956" y="756056"/>
                  </a:lnTo>
                  <a:lnTo>
                    <a:pt x="2549956" y="504063"/>
                  </a:lnTo>
                  <a:close/>
                </a:path>
                <a:path w="2982595" h="756285">
                  <a:moveTo>
                    <a:pt x="2549956" y="0"/>
                  </a:moveTo>
                  <a:lnTo>
                    <a:pt x="2118042" y="0"/>
                  </a:lnTo>
                  <a:lnTo>
                    <a:pt x="1686039" y="0"/>
                  </a:lnTo>
                  <a:lnTo>
                    <a:pt x="1686039" y="251993"/>
                  </a:lnTo>
                  <a:lnTo>
                    <a:pt x="2117966" y="251993"/>
                  </a:lnTo>
                  <a:lnTo>
                    <a:pt x="2549956" y="251993"/>
                  </a:lnTo>
                  <a:lnTo>
                    <a:pt x="2549956" y="0"/>
                  </a:lnTo>
                  <a:close/>
                </a:path>
                <a:path w="2982595" h="756285">
                  <a:moveTo>
                    <a:pt x="2982023" y="504063"/>
                  </a:moveTo>
                  <a:lnTo>
                    <a:pt x="2550020" y="504063"/>
                  </a:lnTo>
                  <a:lnTo>
                    <a:pt x="2550020" y="756056"/>
                  </a:lnTo>
                  <a:lnTo>
                    <a:pt x="2982023" y="756056"/>
                  </a:lnTo>
                  <a:lnTo>
                    <a:pt x="2982023" y="504063"/>
                  </a:lnTo>
                  <a:close/>
                </a:path>
                <a:path w="2982595" h="756285">
                  <a:moveTo>
                    <a:pt x="2982023" y="0"/>
                  </a:moveTo>
                  <a:lnTo>
                    <a:pt x="2550020" y="0"/>
                  </a:lnTo>
                  <a:lnTo>
                    <a:pt x="2550020" y="251993"/>
                  </a:lnTo>
                  <a:lnTo>
                    <a:pt x="2982023" y="251993"/>
                  </a:lnTo>
                  <a:lnTo>
                    <a:pt x="298202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0572" y="3197821"/>
              <a:ext cx="1656080" cy="252095"/>
            </a:xfrm>
            <a:custGeom>
              <a:avLst/>
              <a:gdLst/>
              <a:ahLst/>
              <a:cxnLst/>
              <a:rect l="l" t="t" r="r" b="b"/>
              <a:pathLst>
                <a:path w="1656080" h="252095">
                  <a:moveTo>
                    <a:pt x="1655952" y="0"/>
                  </a:moveTo>
                  <a:lnTo>
                    <a:pt x="0" y="0"/>
                  </a:lnTo>
                  <a:lnTo>
                    <a:pt x="0" y="252006"/>
                  </a:lnTo>
                  <a:lnTo>
                    <a:pt x="1655952" y="252006"/>
                  </a:lnTo>
                  <a:lnTo>
                    <a:pt x="165595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56612" y="3197821"/>
              <a:ext cx="1296035" cy="252095"/>
            </a:xfrm>
            <a:custGeom>
              <a:avLst/>
              <a:gdLst/>
              <a:ahLst/>
              <a:cxnLst/>
              <a:rect l="l" t="t" r="r" b="b"/>
              <a:pathLst>
                <a:path w="1296035" h="252095">
                  <a:moveTo>
                    <a:pt x="1296035" y="0"/>
                  </a:moveTo>
                  <a:lnTo>
                    <a:pt x="0" y="0"/>
                  </a:lnTo>
                  <a:lnTo>
                    <a:pt x="0" y="252006"/>
                  </a:lnTo>
                  <a:lnTo>
                    <a:pt x="1296035" y="252006"/>
                  </a:lnTo>
                  <a:lnTo>
                    <a:pt x="1296035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2519" y="3194685"/>
              <a:ext cx="4101465" cy="258445"/>
            </a:xfrm>
            <a:custGeom>
              <a:avLst/>
              <a:gdLst/>
              <a:ahLst/>
              <a:cxnLst/>
              <a:rect l="l" t="t" r="r" b="b"/>
              <a:pathLst>
                <a:path w="4101465" h="258445">
                  <a:moveTo>
                    <a:pt x="0" y="0"/>
                  </a:moveTo>
                  <a:lnTo>
                    <a:pt x="0" y="258317"/>
                  </a:lnTo>
                </a:path>
                <a:path w="4101465" h="258445">
                  <a:moveTo>
                    <a:pt x="720089" y="0"/>
                  </a:moveTo>
                  <a:lnTo>
                    <a:pt x="720089" y="258317"/>
                  </a:lnTo>
                </a:path>
                <a:path w="4101465" h="258445">
                  <a:moveTo>
                    <a:pt x="2048890" y="0"/>
                  </a:moveTo>
                  <a:lnTo>
                    <a:pt x="2048890" y="258317"/>
                  </a:lnTo>
                </a:path>
                <a:path w="4101465" h="258445">
                  <a:moveTo>
                    <a:pt x="2768854" y="0"/>
                  </a:moveTo>
                  <a:lnTo>
                    <a:pt x="2768854" y="258317"/>
                  </a:lnTo>
                </a:path>
                <a:path w="4101465" h="258445">
                  <a:moveTo>
                    <a:pt x="4100956" y="0"/>
                  </a:moveTo>
                  <a:lnTo>
                    <a:pt x="4100956" y="258317"/>
                  </a:lnTo>
                </a:path>
              </a:pathLst>
            </a:custGeom>
            <a:ln w="6350">
              <a:solidFill>
                <a:srgbClr val="6C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0572" y="1657223"/>
              <a:ext cx="1656080" cy="57150"/>
            </a:xfrm>
            <a:custGeom>
              <a:avLst/>
              <a:gdLst/>
              <a:ahLst/>
              <a:cxnLst/>
              <a:rect l="l" t="t" r="r" b="b"/>
              <a:pathLst>
                <a:path w="1656080" h="57150">
                  <a:moveTo>
                    <a:pt x="0" y="57150"/>
                  </a:moveTo>
                  <a:lnTo>
                    <a:pt x="1655940" y="57150"/>
                  </a:lnTo>
                  <a:lnTo>
                    <a:pt x="1655940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56612" y="1685798"/>
              <a:ext cx="4065270" cy="252095"/>
            </a:xfrm>
            <a:custGeom>
              <a:avLst/>
              <a:gdLst/>
              <a:ahLst/>
              <a:cxnLst/>
              <a:rect l="l" t="t" r="r" b="b"/>
              <a:pathLst>
                <a:path w="4065270" h="252094">
                  <a:moveTo>
                    <a:pt x="0" y="0"/>
                  </a:moveTo>
                  <a:lnTo>
                    <a:pt x="2015998" y="0"/>
                  </a:lnTo>
                </a:path>
                <a:path w="4065270" h="252094">
                  <a:moveTo>
                    <a:pt x="2048764" y="0"/>
                  </a:moveTo>
                  <a:lnTo>
                    <a:pt x="4064762" y="0"/>
                  </a:lnTo>
                </a:path>
                <a:path w="4065270" h="252094">
                  <a:moveTo>
                    <a:pt x="0" y="252094"/>
                  </a:moveTo>
                  <a:lnTo>
                    <a:pt x="2015998" y="252094"/>
                  </a:lnTo>
                </a:path>
                <a:path w="4065270" h="252094">
                  <a:moveTo>
                    <a:pt x="2048764" y="252094"/>
                  </a:moveTo>
                  <a:lnTo>
                    <a:pt x="4064762" y="252094"/>
                  </a:lnTo>
                </a:path>
              </a:pathLst>
            </a:custGeom>
            <a:ln w="57150">
              <a:solidFill>
                <a:srgbClr val="EAEA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73439" y="3194685"/>
              <a:ext cx="0" cy="258445"/>
            </a:xfrm>
            <a:custGeom>
              <a:avLst/>
              <a:gdLst/>
              <a:ahLst/>
              <a:cxnLst/>
              <a:rect l="l" t="t" r="r" b="b"/>
              <a:pathLst>
                <a:path h="258445">
                  <a:moveTo>
                    <a:pt x="0" y="0"/>
                  </a:moveTo>
                  <a:lnTo>
                    <a:pt x="0" y="258317"/>
                  </a:lnTo>
                </a:path>
              </a:pathLst>
            </a:custGeom>
            <a:ln w="6350">
              <a:solidFill>
                <a:srgbClr val="6CCF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69887" y="874775"/>
            <a:ext cx="3980179" cy="3770629"/>
            <a:chOff x="369887" y="874775"/>
            <a:chExt cx="3980179" cy="3770629"/>
          </a:xfrm>
        </p:grpSpPr>
        <p:sp>
          <p:nvSpPr>
            <p:cNvPr id="21" name="object 21"/>
            <p:cNvSpPr/>
            <p:nvPr/>
          </p:nvSpPr>
          <p:spPr>
            <a:xfrm>
              <a:off x="376237" y="881125"/>
              <a:ext cx="3063875" cy="0"/>
            </a:xfrm>
            <a:custGeom>
              <a:avLst/>
              <a:gdLst/>
              <a:ahLst/>
              <a:cxnLst/>
              <a:rect l="l" t="t" r="r" b="b"/>
              <a:pathLst>
                <a:path w="3063875">
                  <a:moveTo>
                    <a:pt x="0" y="0"/>
                  </a:moveTo>
                  <a:lnTo>
                    <a:pt x="3063684" y="0"/>
                  </a:lnTo>
                </a:path>
              </a:pathLst>
            </a:custGeom>
            <a:ln w="12700">
              <a:solidFill>
                <a:srgbClr val="EC1B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67026" y="3481387"/>
              <a:ext cx="1981200" cy="1162050"/>
            </a:xfrm>
            <a:custGeom>
              <a:avLst/>
              <a:gdLst/>
              <a:ahLst/>
              <a:cxnLst/>
              <a:rect l="l" t="t" r="r" b="b"/>
              <a:pathLst>
                <a:path w="1981200" h="1162050">
                  <a:moveTo>
                    <a:pt x="0" y="1162050"/>
                  </a:moveTo>
                  <a:lnTo>
                    <a:pt x="1981200" y="1162050"/>
                  </a:lnTo>
                  <a:lnTo>
                    <a:pt x="198120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4414901" y="3481387"/>
            <a:ext cx="1971675" cy="1114425"/>
          </a:xfrm>
          <a:custGeom>
            <a:avLst/>
            <a:gdLst/>
            <a:ahLst/>
            <a:cxnLst/>
            <a:rect l="l" t="t" r="r" b="b"/>
            <a:pathLst>
              <a:path w="1971675" h="1114425">
                <a:moveTo>
                  <a:pt x="0" y="1114425"/>
                </a:moveTo>
                <a:lnTo>
                  <a:pt x="1971675" y="1114425"/>
                </a:lnTo>
                <a:lnTo>
                  <a:pt x="1971675" y="0"/>
                </a:lnTo>
                <a:lnTo>
                  <a:pt x="0" y="0"/>
                </a:lnTo>
                <a:lnTo>
                  <a:pt x="0" y="1114425"/>
                </a:lnTo>
                <a:close/>
              </a:path>
            </a:pathLst>
          </a:custGeom>
          <a:ln w="3175">
            <a:solidFill>
              <a:srgbClr val="A6A6A6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6712" y="862075"/>
            <a:ext cx="3063875" cy="0"/>
          </a:xfrm>
          <a:custGeom>
            <a:avLst/>
            <a:gdLst/>
            <a:ahLst/>
            <a:cxnLst/>
            <a:rect l="l" t="t" r="r" b="b"/>
            <a:pathLst>
              <a:path w="3063875">
                <a:moveTo>
                  <a:pt x="0" y="0"/>
                </a:moveTo>
                <a:lnTo>
                  <a:pt x="3063684" y="0"/>
                </a:lnTo>
              </a:path>
            </a:pathLst>
          </a:custGeom>
          <a:ln w="12700">
            <a:solidFill>
              <a:srgbClr val="EC1B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62200" y="4686299"/>
            <a:ext cx="6067425" cy="180975"/>
          </a:xfrm>
          <a:custGeom>
            <a:avLst/>
            <a:gdLst/>
            <a:ahLst/>
            <a:cxnLst/>
            <a:rect l="l" t="t" r="r" b="b"/>
            <a:pathLst>
              <a:path w="6067425" h="180975">
                <a:moveTo>
                  <a:pt x="6067425" y="0"/>
                </a:moveTo>
                <a:lnTo>
                  <a:pt x="0" y="0"/>
                </a:lnTo>
                <a:lnTo>
                  <a:pt x="0" y="180975"/>
                </a:lnTo>
                <a:lnTo>
                  <a:pt x="6067425" y="180975"/>
                </a:lnTo>
                <a:lnTo>
                  <a:pt x="6067425" y="0"/>
                </a:lnTo>
                <a:close/>
              </a:path>
            </a:pathLst>
          </a:custGeom>
          <a:solidFill>
            <a:srgbClr val="0091D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45471"/>
              </p:ext>
            </p:extLst>
          </p:nvPr>
        </p:nvGraphicFramePr>
        <p:xfrm>
          <a:off x="670560" y="1075850"/>
          <a:ext cx="7776205" cy="23939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1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0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72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64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TEMA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7150">
                      <a:solidFill>
                        <a:srgbClr val="FF84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50" dirty="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T w="57150">
                      <a:solidFill>
                        <a:srgbClr val="FF84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7150">
                      <a:solidFill>
                        <a:srgbClr val="FF8400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50" dirty="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50" dirty="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PROBLEMA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T w="3175">
                      <a:solidFill>
                        <a:srgbClr val="D9D9D9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 marL="61594" marR="196850">
                        <a:lnSpc>
                          <a:spcPct val="104400"/>
                        </a:lnSpc>
                        <a:spcBef>
                          <a:spcPts val="254"/>
                        </a:spcBef>
                      </a:pPr>
                      <a:r>
                        <a:rPr sz="900" i="1" spc="-10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Tornillos</a:t>
                      </a:r>
                      <a:r>
                        <a:rPr sz="900" i="1" spc="-20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900" i="1" spc="5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 err="1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materia</a:t>
                      </a:r>
                      <a:r>
                        <a:rPr lang="es-AR" sz="900" i="1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900" i="1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es</a:t>
                      </a:r>
                      <a:r>
                        <a:rPr sz="900" i="1" spc="65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metálicos</a:t>
                      </a:r>
                      <a:r>
                        <a:rPr sz="900" i="1" spc="-20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900" i="1" spc="25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sz="900" i="1" spc="500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líneas</a:t>
                      </a:r>
                      <a:r>
                        <a:rPr sz="900" i="1" spc="-30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y calles</a:t>
                      </a:r>
                      <a:r>
                        <a:rPr sz="900" i="1" spc="-30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4E6C92"/>
                          </a:solidFill>
                          <a:latin typeface="Calibri"/>
                          <a:cs typeface="Calibri"/>
                        </a:rPr>
                        <a:t>transitadas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3175">
                      <a:solidFill>
                        <a:srgbClr val="D9D9D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900" spc="-1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Riesgos</a:t>
                      </a:r>
                      <a:r>
                        <a:rPr sz="900" spc="5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900" spc="-2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cortes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T w="3175">
                      <a:solidFill>
                        <a:srgbClr val="D9D9D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17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175">
                      <a:solidFill>
                        <a:srgbClr val="D9D9D9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90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Atraso</a:t>
                      </a:r>
                      <a:r>
                        <a:rPr sz="900" spc="-15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900" spc="15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producción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 anchor="ctr">
                    <a:lnT w="3175">
                      <a:solidFill>
                        <a:srgbClr val="D9D9D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175">
                      <a:solidFill>
                        <a:srgbClr val="D9D9D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EVALUADOR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B w="57150">
                      <a:solidFill>
                        <a:srgbClr val="EAEA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Evaluación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79375" marB="0"/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R="32384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Evaluación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Evaluación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i="1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Ramiro</a:t>
                      </a:r>
                      <a:r>
                        <a:rPr sz="900" i="1" spc="-35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Ferreyra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>
                    <a:lnT w="57150">
                      <a:solidFill>
                        <a:srgbClr val="EAEAE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5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5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b="1" spc="-5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14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i="1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Gonzalo</a:t>
                      </a:r>
                      <a:r>
                        <a:rPr sz="900" i="1" spc="-65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Rabaschino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381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069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i="1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Ulises</a:t>
                      </a:r>
                      <a:r>
                        <a:rPr sz="900" i="1" spc="-35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Schvindt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27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i="1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Diego</a:t>
                      </a:r>
                      <a:r>
                        <a:rPr sz="900" i="1" spc="-15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Calleja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R w="381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381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i="1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Alberto</a:t>
                      </a:r>
                      <a:r>
                        <a:rPr sz="900" i="1" spc="-15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Luis</a:t>
                      </a:r>
                      <a:r>
                        <a:rPr sz="900" i="1" spc="-45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7E7E7E"/>
                          </a:solidFill>
                          <a:latin typeface="Calibri"/>
                          <a:cs typeface="Calibri"/>
                        </a:rPr>
                        <a:t>Rivero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B w="6350">
                      <a:solidFill>
                        <a:srgbClr val="6CCFF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B w="6350">
                      <a:solidFill>
                        <a:srgbClr val="6CCFF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5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spc="-25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B w="6350">
                      <a:solidFill>
                        <a:srgbClr val="6CCFF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900" b="1" spc="-5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spc="-25" dirty="0">
                          <a:solidFill>
                            <a:srgbClr val="010F28"/>
                          </a:solidFill>
                          <a:latin typeface="Calibri"/>
                          <a:cs typeface="Calibri"/>
                        </a:rPr>
                        <a:t>108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T w="6350">
                      <a:solidFill>
                        <a:srgbClr val="6CCFF6"/>
                      </a:solidFill>
                      <a:prstDash val="solid"/>
                    </a:lnT>
                    <a:lnB w="6350">
                      <a:solidFill>
                        <a:srgbClr val="6CCFF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9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5" dirty="0">
                          <a:solidFill>
                            <a:srgbClr val="010F28"/>
                          </a:solidFill>
                          <a:latin typeface="Calibri"/>
                          <a:cs typeface="Calibri"/>
                        </a:rPr>
                        <a:t>72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T w="6350">
                      <a:solidFill>
                        <a:srgbClr val="6CCFF6"/>
                      </a:solidFill>
                      <a:prstDash val="solid"/>
                    </a:lnT>
                    <a:lnB w="6350">
                      <a:solidFill>
                        <a:srgbClr val="6CCFF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900" spc="-4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B w="3175">
                      <a:solidFill>
                        <a:srgbClr val="A6A6A6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spc="-25" dirty="0">
                          <a:solidFill>
                            <a:srgbClr val="010F28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T w="6350">
                      <a:solidFill>
                        <a:srgbClr val="6CCFF6"/>
                      </a:solidFill>
                      <a:prstDash val="solid"/>
                    </a:lnT>
                    <a:lnB w="6350">
                      <a:solidFill>
                        <a:srgbClr val="6CCFF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2788539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20592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52520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837429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218429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01410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89368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321422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53477" y="1714373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944"/>
                </a:lnTo>
              </a:path>
            </a:pathLst>
          </a:custGeom>
          <a:ln w="317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 descr="$PPTXTitle"/>
          <p:cNvSpPr txBox="1">
            <a:spLocks noGrp="1"/>
          </p:cNvSpPr>
          <p:nvPr>
            <p:ph type="title"/>
          </p:nvPr>
        </p:nvSpPr>
        <p:spPr>
          <a:xfrm>
            <a:off x="345757" y="298132"/>
            <a:ext cx="1794510" cy="520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785"/>
              </a:lnSpc>
              <a:spcBef>
                <a:spcPts val="125"/>
              </a:spcBef>
            </a:pPr>
            <a:r>
              <a:rPr dirty="0"/>
              <a:t>Selección</a:t>
            </a:r>
            <a:r>
              <a:rPr spc="45" dirty="0"/>
              <a:t> </a:t>
            </a:r>
            <a:r>
              <a:rPr spc="-10" dirty="0"/>
              <a:t>del</a:t>
            </a:r>
            <a:r>
              <a:rPr spc="45" dirty="0"/>
              <a:t> </a:t>
            </a:r>
            <a:r>
              <a:rPr spc="-20" dirty="0"/>
              <a:t>tema</a:t>
            </a:r>
          </a:p>
          <a:p>
            <a:pPr marL="12700">
              <a:lnSpc>
                <a:spcPts val="2085"/>
              </a:lnSpc>
            </a:pPr>
            <a:r>
              <a:rPr sz="1800" dirty="0"/>
              <a:t>Método</a:t>
            </a:r>
            <a:r>
              <a:rPr sz="1800" spc="-155" dirty="0"/>
              <a:t> </a:t>
            </a:r>
            <a:r>
              <a:rPr sz="1800" spc="-25" dirty="0"/>
              <a:t>GUT</a:t>
            </a:r>
            <a:endParaRPr sz="1800"/>
          </a:p>
        </p:txBody>
      </p:sp>
      <p:sp>
        <p:nvSpPr>
          <p:cNvPr id="40" name="object 40"/>
          <p:cNvSpPr txBox="1"/>
          <p:nvPr/>
        </p:nvSpPr>
        <p:spPr>
          <a:xfrm>
            <a:off x="2440304" y="3550348"/>
            <a:ext cx="17849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Al</a:t>
            </a:r>
            <a:r>
              <a:rPr sz="950" i="1" spc="9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estar</a:t>
            </a:r>
            <a:r>
              <a:rPr sz="950" i="1" spc="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los</a:t>
            </a:r>
            <a:r>
              <a:rPr sz="950" i="1" spc="8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objetos</a:t>
            </a:r>
            <a:r>
              <a:rPr sz="950" i="1" spc="9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metálicos</a:t>
            </a:r>
            <a:r>
              <a:rPr sz="950" i="1" spc="8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en</a:t>
            </a:r>
            <a:r>
              <a:rPr sz="950" i="1" spc="1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spc="-25" dirty="0">
                <a:solidFill>
                  <a:srgbClr val="A6A6A6"/>
                </a:solidFill>
                <a:latin typeface="Calibri"/>
                <a:cs typeface="Calibri"/>
              </a:rPr>
              <a:t>el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40304" y="3703320"/>
            <a:ext cx="1810385" cy="93789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60"/>
              </a:spcBef>
            </a:pP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suelo</a:t>
            </a:r>
            <a:r>
              <a:rPr sz="950" i="1" spc="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se</a:t>
            </a:r>
            <a:r>
              <a:rPr sz="950" i="1" spc="114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corre</a:t>
            </a:r>
            <a:r>
              <a:rPr sz="950" i="1" spc="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el</a:t>
            </a:r>
            <a:r>
              <a:rPr sz="950" i="1" spc="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riesgo</a:t>
            </a:r>
            <a:r>
              <a:rPr sz="950" i="1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950" i="1" spc="114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que</a:t>
            </a:r>
            <a:r>
              <a:rPr sz="950" i="1" spc="114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spc="-25" dirty="0">
                <a:solidFill>
                  <a:srgbClr val="A6A6A6"/>
                </a:solidFill>
                <a:latin typeface="Calibri"/>
                <a:cs typeface="Calibri"/>
              </a:rPr>
              <a:t>una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 persona</a:t>
            </a:r>
            <a:r>
              <a:rPr sz="950" i="1" spc="6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pueda</a:t>
            </a:r>
            <a:r>
              <a:rPr sz="950" i="1" spc="18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accidentarse</a:t>
            </a:r>
            <a:r>
              <a:rPr sz="950" i="1" spc="1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spc="-25" dirty="0">
                <a:solidFill>
                  <a:srgbClr val="A6A6A6"/>
                </a:solidFill>
                <a:latin typeface="Calibri"/>
                <a:cs typeface="Calibri"/>
              </a:rPr>
              <a:t>con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 uno</a:t>
            </a:r>
            <a:r>
              <a:rPr sz="950" i="1" spc="6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950" i="1" spc="1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ellos</a:t>
            </a:r>
            <a:r>
              <a:rPr sz="950" i="1" spc="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o</a:t>
            </a:r>
            <a:r>
              <a:rPr sz="950" i="1" spc="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que</a:t>
            </a:r>
            <a:r>
              <a:rPr sz="950" i="1" spc="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alguna</a:t>
            </a:r>
            <a:r>
              <a:rPr sz="950" i="1" spc="6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A6A6A6"/>
                </a:solidFill>
                <a:latin typeface="Calibri"/>
                <a:cs typeface="Calibri"/>
              </a:rPr>
              <a:t>maquina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pueda</a:t>
            </a:r>
            <a:r>
              <a:rPr sz="950" i="1" spc="16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enganchar</a:t>
            </a:r>
            <a:r>
              <a:rPr sz="950" i="1" spc="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los</a:t>
            </a:r>
            <a:r>
              <a:rPr sz="950" i="1" spc="1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objetos</a:t>
            </a:r>
            <a:r>
              <a:rPr sz="950" i="1" spc="1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spc="-25" dirty="0">
                <a:solidFill>
                  <a:srgbClr val="A6A6A6"/>
                </a:solidFill>
                <a:latin typeface="Calibri"/>
                <a:cs typeface="Calibri"/>
              </a:rPr>
              <a:t>con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 las</a:t>
            </a:r>
            <a:r>
              <a:rPr sz="950" i="1" spc="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ruedas</a:t>
            </a:r>
            <a:r>
              <a:rPr sz="950" i="1" spc="1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A6A6A6"/>
                </a:solidFill>
                <a:latin typeface="Calibri"/>
                <a:cs typeface="Calibri"/>
              </a:rPr>
              <a:t>ocasionando</a:t>
            </a:r>
            <a:r>
              <a:rPr sz="950" i="1" spc="114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950" i="1" spc="-25" dirty="0">
                <a:solidFill>
                  <a:srgbClr val="A6A6A6"/>
                </a:solidFill>
                <a:latin typeface="Calibri"/>
                <a:cs typeface="Calibri"/>
              </a:rPr>
              <a:t>un</a:t>
            </a:r>
            <a:r>
              <a:rPr sz="950" i="1" spc="-10" dirty="0">
                <a:solidFill>
                  <a:srgbClr val="A6A6A6"/>
                </a:solidFill>
                <a:latin typeface="Calibri"/>
                <a:cs typeface="Calibri"/>
              </a:rPr>
              <a:t> accidente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88815" y="3550348"/>
            <a:ext cx="1779270" cy="1016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L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os</a:t>
            </a:r>
            <a:r>
              <a:rPr sz="1050" i="1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tornillos</a:t>
            </a:r>
            <a:r>
              <a:rPr sz="1050" i="1" spc="-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y los</a:t>
            </a:r>
            <a:r>
              <a:rPr sz="1050" i="1" spc="-10" dirty="0">
                <a:solidFill>
                  <a:srgbClr val="A6A6A6"/>
                </a:solidFill>
                <a:latin typeface="Calibri"/>
                <a:cs typeface="Calibri"/>
              </a:rPr>
              <a:t> objetos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metálicos</a:t>
            </a:r>
            <a:r>
              <a:rPr sz="1050" i="1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A6A6A6"/>
                </a:solidFill>
                <a:latin typeface="Calibri"/>
                <a:cs typeface="Calibri"/>
              </a:rPr>
              <a:t>poseen</a:t>
            </a:r>
            <a:r>
              <a:rPr sz="1050" i="1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bordes</a:t>
            </a:r>
            <a:r>
              <a:rPr sz="1050" i="1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spc="-50" dirty="0">
                <a:solidFill>
                  <a:srgbClr val="A6A6A6"/>
                </a:solidFill>
                <a:latin typeface="Calibri"/>
                <a:cs typeface="Calibri"/>
              </a:rPr>
              <a:t>o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 partes</a:t>
            </a:r>
            <a:r>
              <a:rPr sz="1050" i="1" spc="-6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filosas</a:t>
            </a:r>
            <a:r>
              <a:rPr sz="1050" i="1" spc="-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con</a:t>
            </a:r>
            <a:r>
              <a:rPr sz="1050" i="1" spc="4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las</a:t>
            </a:r>
            <a:r>
              <a:rPr sz="1050" i="1" spc="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A6A6A6"/>
                </a:solidFill>
                <a:latin typeface="Calibri"/>
                <a:cs typeface="Calibri"/>
              </a:rPr>
              <a:t>cuales</a:t>
            </a:r>
            <a:r>
              <a:rPr sz="1050" i="1" spc="-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spc="-25" dirty="0">
                <a:solidFill>
                  <a:srgbClr val="A6A6A6"/>
                </a:solidFill>
                <a:latin typeface="Calibri"/>
                <a:cs typeface="Calibri"/>
              </a:rPr>
              <a:t>uno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puede</a:t>
            </a:r>
            <a:r>
              <a:rPr sz="1050" i="1" spc="-10" dirty="0">
                <a:solidFill>
                  <a:srgbClr val="A6A6A6"/>
                </a:solidFill>
                <a:latin typeface="Calibri"/>
                <a:cs typeface="Calibri"/>
              </a:rPr>
              <a:t> lastimarse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incluso</a:t>
            </a:r>
            <a:r>
              <a:rPr sz="1050" i="1" spc="-4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A6A6A6"/>
                </a:solidFill>
                <a:latin typeface="Calibri"/>
                <a:cs typeface="Calibri"/>
              </a:rPr>
              <a:t>usando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elementos</a:t>
            </a:r>
            <a:r>
              <a:rPr sz="1050" i="1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1050" i="1" spc="-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A6A6A6"/>
                </a:solidFill>
                <a:latin typeface="Calibri"/>
                <a:cs typeface="Calibri"/>
              </a:rPr>
              <a:t>protección personal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453251" y="3481387"/>
            <a:ext cx="1981200" cy="1076325"/>
          </a:xfrm>
          <a:custGeom>
            <a:avLst/>
            <a:gdLst/>
            <a:ahLst/>
            <a:cxnLst/>
            <a:rect l="l" t="t" r="r" b="b"/>
            <a:pathLst>
              <a:path w="1981200" h="1076325">
                <a:moveTo>
                  <a:pt x="0" y="1076325"/>
                </a:moveTo>
                <a:lnTo>
                  <a:pt x="1981200" y="1076325"/>
                </a:lnTo>
                <a:lnTo>
                  <a:pt x="1981200" y="0"/>
                </a:lnTo>
                <a:lnTo>
                  <a:pt x="0" y="0"/>
                </a:lnTo>
                <a:lnTo>
                  <a:pt x="0" y="1076325"/>
                </a:lnTo>
                <a:close/>
              </a:path>
            </a:pathLst>
          </a:custGeom>
          <a:ln w="3175">
            <a:solidFill>
              <a:srgbClr val="A6A6A6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537325" y="3550348"/>
            <a:ext cx="1732914" cy="943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Con</a:t>
            </a:r>
            <a:r>
              <a:rPr sz="1200" i="1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la</a:t>
            </a:r>
            <a:r>
              <a:rPr sz="1200" i="1" spc="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acumulación</a:t>
            </a:r>
            <a:r>
              <a:rPr sz="1200" i="1" spc="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-25" dirty="0">
                <a:solidFill>
                  <a:srgbClr val="A6A6A6"/>
                </a:solidFill>
                <a:latin typeface="Calibri"/>
                <a:cs typeface="Calibri"/>
              </a:rPr>
              <a:t>los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metales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 empiezan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a</a:t>
            </a:r>
            <a:r>
              <a:rPr sz="1200" i="1" spc="-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afectar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la</a:t>
            </a:r>
            <a:r>
              <a:rPr sz="1200" i="1" spc="-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calidad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 de</a:t>
            </a:r>
            <a:r>
              <a:rPr sz="1200" i="1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producción </a:t>
            </a:r>
            <a:r>
              <a:rPr sz="1200" i="1" spc="-25" dirty="0">
                <a:solidFill>
                  <a:srgbClr val="A6A6A6"/>
                </a:solidFill>
                <a:latin typeface="Calibri"/>
                <a:cs typeface="Calibri"/>
              </a:rPr>
              <a:t>ya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que</a:t>
            </a:r>
            <a:r>
              <a:rPr sz="1200" i="1" spc="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resultan</a:t>
            </a:r>
            <a:r>
              <a:rPr sz="1200" i="1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molestos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A6A6A6"/>
                </a:solidFill>
                <a:latin typeface="Calibri"/>
                <a:cs typeface="Calibri"/>
              </a:rPr>
              <a:t>en</a:t>
            </a:r>
            <a:r>
              <a:rPr sz="1200" i="1" spc="-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200" i="1" spc="-25" dirty="0">
                <a:solidFill>
                  <a:srgbClr val="A6A6A6"/>
                </a:solidFill>
                <a:latin typeface="Calibri"/>
                <a:cs typeface="Calibri"/>
              </a:rPr>
              <a:t>el </a:t>
            </a:r>
            <a:r>
              <a:rPr sz="1200" i="1" spc="-10" dirty="0">
                <a:solidFill>
                  <a:srgbClr val="A6A6A6"/>
                </a:solidFill>
                <a:latin typeface="Calibri"/>
                <a:cs typeface="Calibri"/>
              </a:rPr>
              <a:t>suelo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61208" y="4647247"/>
            <a:ext cx="5665470" cy="232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través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1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4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65" dirty="0">
                <a:solidFill>
                  <a:srgbClr val="FFFFFF"/>
                </a:solidFill>
                <a:latin typeface="Trebuchet MS"/>
                <a:cs typeface="Trebuchet MS"/>
              </a:rPr>
              <a:t>se</a:t>
            </a:r>
            <a:r>
              <a:rPr sz="1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Trebuchet MS"/>
                <a:cs typeface="Trebuchet MS"/>
              </a:rPr>
              <a:t>determina</a:t>
            </a:r>
            <a:r>
              <a:rPr sz="14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1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30" dirty="0" err="1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14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AR" sz="1400" b="1" spc="-10" dirty="0">
                <a:solidFill>
                  <a:srgbClr val="FFFFFF"/>
                </a:solidFill>
                <a:latin typeface="Trebuchet MS"/>
                <a:cs typeface="Trebuchet MS"/>
              </a:rPr>
              <a:t>tema (A) </a:t>
            </a:r>
            <a:r>
              <a:rPr sz="1400" b="1" spc="-60" dirty="0">
                <a:solidFill>
                  <a:srgbClr val="FFFFFF"/>
                </a:solidFill>
                <a:latin typeface="Trebuchet MS"/>
                <a:cs typeface="Trebuchet MS"/>
              </a:rPr>
              <a:t>es</a:t>
            </a:r>
            <a:r>
              <a:rPr sz="1400" b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14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Trebuchet MS"/>
                <a:cs typeface="Trebuchet MS"/>
              </a:rPr>
              <a:t>prioritario.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26653" y="1083628"/>
            <a:ext cx="2061574" cy="2393949"/>
          </a:xfrm>
          <a:custGeom>
            <a:avLst/>
            <a:gdLst/>
            <a:ahLst/>
            <a:cxnLst/>
            <a:rect l="l" t="t" r="r" b="b"/>
            <a:pathLst>
              <a:path w="2124075" h="2514600">
                <a:moveTo>
                  <a:pt x="0" y="2514600"/>
                </a:moveTo>
                <a:lnTo>
                  <a:pt x="2124075" y="2514600"/>
                </a:lnTo>
                <a:lnTo>
                  <a:pt x="2124075" y="0"/>
                </a:lnTo>
                <a:lnTo>
                  <a:pt x="0" y="0"/>
                </a:lnTo>
                <a:lnTo>
                  <a:pt x="0" y="2514600"/>
                </a:lnTo>
                <a:close/>
              </a:path>
            </a:pathLst>
          </a:custGeom>
          <a:ln w="31750">
            <a:solidFill>
              <a:srgbClr val="FF84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6CCFF6"/>
                </a:solidFill>
                <a:latin typeface="Arial Black"/>
                <a:cs typeface="Arial Black"/>
              </a:rPr>
              <a:t>5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95700" y="1939045"/>
            <a:ext cx="1856739" cy="101091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3950" spc="45" dirty="0">
                <a:solidFill>
                  <a:srgbClr val="FFFFFF"/>
                </a:solidFill>
              </a:rPr>
              <a:t>Análisis</a:t>
            </a:r>
            <a:endParaRPr sz="3950"/>
          </a:p>
          <a:p>
            <a:pPr marL="131445">
              <a:lnSpc>
                <a:spcPct val="100000"/>
              </a:lnSpc>
              <a:spcBef>
                <a:spcPts val="220"/>
              </a:spcBef>
            </a:pP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000" b="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028950" cy="5143500"/>
            <a:chOff x="0" y="0"/>
            <a:chExt cx="302895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028950" cy="5143500"/>
            </a:xfrm>
            <a:custGeom>
              <a:avLst/>
              <a:gdLst/>
              <a:ahLst/>
              <a:cxnLst/>
              <a:rect l="l" t="t" r="r" b="b"/>
              <a:pathLst>
                <a:path w="3028950" h="5143500">
                  <a:moveTo>
                    <a:pt x="3028950" y="0"/>
                  </a:moveTo>
                  <a:lnTo>
                    <a:pt x="2677033" y="0"/>
                  </a:lnTo>
                  <a:lnTo>
                    <a:pt x="0" y="5143499"/>
                  </a:lnTo>
                  <a:lnTo>
                    <a:pt x="351866" y="5143499"/>
                  </a:lnTo>
                  <a:lnTo>
                    <a:pt x="302895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752725" cy="5143500"/>
            </a:xfrm>
            <a:custGeom>
              <a:avLst/>
              <a:gdLst/>
              <a:ahLst/>
              <a:cxnLst/>
              <a:rect l="l" t="t" r="r" b="b"/>
              <a:pathLst>
                <a:path w="2752725" h="5143500">
                  <a:moveTo>
                    <a:pt x="27527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7527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425" y="209550"/>
              <a:ext cx="561975" cy="180975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15277" y="1149286"/>
            <a:ext cx="124333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Análisis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de</a:t>
            </a:r>
            <a:r>
              <a:rPr spc="2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la </a:t>
            </a:r>
            <a:r>
              <a:rPr spc="-10" dirty="0">
                <a:solidFill>
                  <a:srgbClr val="FFFFFF"/>
                </a:solidFill>
              </a:rPr>
              <a:t>situación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F40FC7C0-5FEC-4BB1-87C9-B903A03BB37E}"/>
              </a:ext>
            </a:extLst>
          </p:cNvPr>
          <p:cNvSpPr txBox="1"/>
          <p:nvPr/>
        </p:nvSpPr>
        <p:spPr>
          <a:xfrm>
            <a:off x="2750900" y="474750"/>
            <a:ext cx="617114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06A73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 </a:t>
            </a:r>
            <a:r>
              <a:rPr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situación</a:t>
            </a:r>
            <a:r>
              <a:rPr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se genera </a:t>
            </a:r>
            <a:r>
              <a:rPr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durante</a:t>
            </a:r>
            <a:r>
              <a:rPr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</a:t>
            </a:r>
            <a:r>
              <a:rPr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proceso</a:t>
            </a:r>
            <a:r>
              <a:rPr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normal de </a:t>
            </a:r>
            <a:r>
              <a:rPr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desembalaje</a:t>
            </a:r>
            <a:r>
              <a:rPr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</a:t>
            </a:r>
            <a:r>
              <a:rPr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extracción</a:t>
            </a:r>
            <a:r>
              <a:rPr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componentes</a:t>
            </a:r>
            <a:r>
              <a:rPr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CKD.</a:t>
            </a:r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B0FD6C11-0DF4-4D44-B414-73157E80696A}"/>
              </a:ext>
            </a:extLst>
          </p:cNvPr>
          <p:cNvSpPr/>
          <p:nvPr/>
        </p:nvSpPr>
        <p:spPr>
          <a:xfrm>
            <a:off x="2747402" y="865601"/>
            <a:ext cx="1745010" cy="279369"/>
          </a:xfrm>
          <a:prstGeom prst="roundRect">
            <a:avLst/>
          </a:prstGeom>
          <a:solidFill>
            <a:srgbClr val="1F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6698CEAF-5520-4631-AFB0-220B6A7294C9}"/>
              </a:ext>
            </a:extLst>
          </p:cNvPr>
          <p:cNvSpPr txBox="1"/>
          <p:nvPr/>
        </p:nvSpPr>
        <p:spPr>
          <a:xfrm>
            <a:off x="2772317" y="898607"/>
            <a:ext cx="1690265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 i="0">
                <a:solidFill>
                  <a:srgbClr val="FFFFFF"/>
                </a:solidFill>
                <a:latin typeface="Arial"/>
              </a:defRPr>
            </a:pPr>
            <a:r>
              <a:rPr sz="700" dirty="0"/>
              <a:t>1. CKD </a:t>
            </a:r>
            <a:r>
              <a:rPr lang="es-AR" sz="700" dirty="0"/>
              <a:t>PARA SER </a:t>
            </a:r>
            <a:r>
              <a:rPr sz="700" dirty="0"/>
              <a:t>EMBALADO</a:t>
            </a: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F629BEF5-CE68-4401-B41A-28A89D5EDE37}"/>
              </a:ext>
            </a:extLst>
          </p:cNvPr>
          <p:cNvSpPr/>
          <p:nvPr/>
        </p:nvSpPr>
        <p:spPr>
          <a:xfrm>
            <a:off x="2747402" y="1204835"/>
            <a:ext cx="1745009" cy="1097522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A00D638A-CF43-4007-83C8-64F79559786C}"/>
              </a:ext>
            </a:extLst>
          </p:cNvPr>
          <p:cNvSpPr txBox="1"/>
          <p:nvPr/>
        </p:nvSpPr>
        <p:spPr>
          <a:xfrm>
            <a:off x="2613172" y="2362222"/>
            <a:ext cx="1856868" cy="2462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0" i="0">
                <a:solidFill>
                  <a:srgbClr val="606A73"/>
                </a:solidFill>
                <a:latin typeface="Arial"/>
              </a:defRPr>
            </a:pPr>
            <a:r>
              <a:rPr sz="800"/>
              <a:t>Los componentes llegan protegidos dentro de cajas y embalajes.</a:t>
            </a:r>
          </a:p>
        </p:txBody>
      </p:sp>
      <p:sp>
        <p:nvSpPr>
          <p:cNvPr id="35" name="Chevron 15">
            <a:extLst>
              <a:ext uri="{FF2B5EF4-FFF2-40B4-BE49-F238E27FC236}">
                <a16:creationId xmlns:a16="http://schemas.microsoft.com/office/drawing/2014/main" id="{3A0C6F04-3785-4315-9FBE-F0598AD52722}"/>
              </a:ext>
            </a:extLst>
          </p:cNvPr>
          <p:cNvSpPr/>
          <p:nvPr/>
        </p:nvSpPr>
        <p:spPr>
          <a:xfrm>
            <a:off x="4537156" y="1603934"/>
            <a:ext cx="223719" cy="279369"/>
          </a:xfrm>
          <a:prstGeom prst="chevron">
            <a:avLst/>
          </a:prstGeom>
          <a:solidFill>
            <a:srgbClr val="E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Rounded Rectangle 16">
            <a:extLst>
              <a:ext uri="{FF2B5EF4-FFF2-40B4-BE49-F238E27FC236}">
                <a16:creationId xmlns:a16="http://schemas.microsoft.com/office/drawing/2014/main" id="{0923C9B9-4FD1-49C5-9242-EF12F82235E4}"/>
              </a:ext>
            </a:extLst>
          </p:cNvPr>
          <p:cNvSpPr/>
          <p:nvPr/>
        </p:nvSpPr>
        <p:spPr>
          <a:xfrm>
            <a:off x="4827991" y="865601"/>
            <a:ext cx="1879240" cy="279369"/>
          </a:xfrm>
          <a:prstGeom prst="roundRect">
            <a:avLst/>
          </a:prstGeom>
          <a:solidFill>
            <a:srgbClr val="47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A6A631C8-332F-4A43-8264-DE84FD6CA869}"/>
              </a:ext>
            </a:extLst>
          </p:cNvPr>
          <p:cNvSpPr txBox="1"/>
          <p:nvPr/>
        </p:nvSpPr>
        <p:spPr>
          <a:xfrm>
            <a:off x="4857820" y="925871"/>
            <a:ext cx="1841954" cy="14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 i="0">
                <a:solidFill>
                  <a:srgbClr val="FFFFFF"/>
                </a:solidFill>
                <a:latin typeface="Arial"/>
              </a:defRPr>
            </a:pPr>
            <a:r>
              <a:rPr sz="700"/>
              <a:t>2. DESEMBALAJE Y SEGREGACIÓN</a:t>
            </a:r>
          </a:p>
        </p:txBody>
      </p: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658FCB87-C6C5-4C6E-B5D2-061863DB71B6}"/>
              </a:ext>
            </a:extLst>
          </p:cNvPr>
          <p:cNvSpPr/>
          <p:nvPr/>
        </p:nvSpPr>
        <p:spPr>
          <a:xfrm>
            <a:off x="4827991" y="1204835"/>
            <a:ext cx="1901612" cy="1097522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A2C02522-22DC-4E18-A46A-E1FA2C5F6770}"/>
              </a:ext>
            </a:extLst>
          </p:cNvPr>
          <p:cNvSpPr txBox="1"/>
          <p:nvPr/>
        </p:nvSpPr>
        <p:spPr>
          <a:xfrm>
            <a:off x="4627931" y="2370208"/>
            <a:ext cx="22793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0" i="0">
                <a:solidFill>
                  <a:srgbClr val="606A73"/>
                </a:solidFill>
                <a:latin typeface="Arial"/>
              </a:defRPr>
            </a:pPr>
            <a:r>
              <a:rPr lang="es-AR" sz="800"/>
              <a:t>Al abrir los CKD y extraer los componentes, algunos tornillos y pequeños elementos metálicos se desprenden.</a:t>
            </a:r>
          </a:p>
        </p:txBody>
      </p:sp>
      <p:sp>
        <p:nvSpPr>
          <p:cNvPr id="41" name="Chevron 21">
            <a:extLst>
              <a:ext uri="{FF2B5EF4-FFF2-40B4-BE49-F238E27FC236}">
                <a16:creationId xmlns:a16="http://schemas.microsoft.com/office/drawing/2014/main" id="{BDE46124-5F19-4BDF-B965-AE1DD948C5AC}"/>
              </a:ext>
            </a:extLst>
          </p:cNvPr>
          <p:cNvSpPr/>
          <p:nvPr/>
        </p:nvSpPr>
        <p:spPr>
          <a:xfrm>
            <a:off x="6774347" y="1603934"/>
            <a:ext cx="223719" cy="279369"/>
          </a:xfrm>
          <a:prstGeom prst="chevron">
            <a:avLst/>
          </a:prstGeom>
          <a:solidFill>
            <a:srgbClr val="E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Rounded Rectangle 22">
            <a:extLst>
              <a:ext uri="{FF2B5EF4-FFF2-40B4-BE49-F238E27FC236}">
                <a16:creationId xmlns:a16="http://schemas.microsoft.com/office/drawing/2014/main" id="{C8D75CF1-5530-4D91-96EC-408EBC91E7A0}"/>
              </a:ext>
            </a:extLst>
          </p:cNvPr>
          <p:cNvSpPr/>
          <p:nvPr/>
        </p:nvSpPr>
        <p:spPr>
          <a:xfrm>
            <a:off x="7065181" y="865601"/>
            <a:ext cx="1841954" cy="279369"/>
          </a:xfrm>
          <a:prstGeom prst="roundRect">
            <a:avLst/>
          </a:prstGeom>
          <a:solidFill>
            <a:srgbClr val="1F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id="{6F388C3F-6A9D-4020-B1FD-9BCF2F584351}"/>
              </a:ext>
            </a:extLst>
          </p:cNvPr>
          <p:cNvSpPr txBox="1"/>
          <p:nvPr/>
        </p:nvSpPr>
        <p:spPr>
          <a:xfrm>
            <a:off x="7095011" y="925871"/>
            <a:ext cx="1841954" cy="14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 i="0">
                <a:solidFill>
                  <a:srgbClr val="FFFFFF"/>
                </a:solidFill>
                <a:latin typeface="Arial"/>
              </a:defRPr>
            </a:pPr>
            <a:r>
              <a:rPr sz="700"/>
              <a:t>3. ÁREA DE TRABAJO</a:t>
            </a:r>
          </a:p>
        </p:txBody>
      </p:sp>
      <p:sp>
        <p:nvSpPr>
          <p:cNvPr id="44" name="Rounded Rectangle 24">
            <a:extLst>
              <a:ext uri="{FF2B5EF4-FFF2-40B4-BE49-F238E27FC236}">
                <a16:creationId xmlns:a16="http://schemas.microsoft.com/office/drawing/2014/main" id="{E73BB955-B23D-4AC9-84EA-C0DC8945519B}"/>
              </a:ext>
            </a:extLst>
          </p:cNvPr>
          <p:cNvSpPr/>
          <p:nvPr/>
        </p:nvSpPr>
        <p:spPr>
          <a:xfrm>
            <a:off x="7065181" y="1204835"/>
            <a:ext cx="1856868" cy="1097522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1B0EC9E8-4F75-4E13-8C52-AA97F2EF7AA4}"/>
              </a:ext>
            </a:extLst>
          </p:cNvPr>
          <p:cNvSpPr txBox="1"/>
          <p:nvPr/>
        </p:nvSpPr>
        <p:spPr>
          <a:xfrm>
            <a:off x="7087553" y="2362222"/>
            <a:ext cx="1856868" cy="335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0" i="0">
                <a:solidFill>
                  <a:srgbClr val="606A73"/>
                </a:solidFill>
                <a:latin typeface="Arial"/>
              </a:defRPr>
            </a:pPr>
            <a:r>
              <a:rPr sz="800"/>
              <a:t>Los elementos que se desprenden pueden caer al piso del área y a las calles de circulación próximas.</a:t>
            </a:r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EAB96D0A-4554-472A-B9F2-AABEAEE10B5E}"/>
              </a:ext>
            </a:extLst>
          </p:cNvPr>
          <p:cNvSpPr txBox="1"/>
          <p:nvPr/>
        </p:nvSpPr>
        <p:spPr>
          <a:xfrm>
            <a:off x="2521868" y="2809535"/>
            <a:ext cx="238633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F384C"/>
                </a:solidFill>
                <a:latin typeface="Arial"/>
              </a:defRPr>
            </a:pPr>
            <a:r>
              <a:rPr lang="es-AR" sz="1200"/>
              <a:t>¿Qué impacto genera?</a:t>
            </a:r>
          </a:p>
        </p:txBody>
      </p:sp>
      <p:sp>
        <p:nvSpPr>
          <p:cNvPr id="48" name="Rounded Rectangle 28">
            <a:extLst>
              <a:ext uri="{FF2B5EF4-FFF2-40B4-BE49-F238E27FC236}">
                <a16:creationId xmlns:a16="http://schemas.microsoft.com/office/drawing/2014/main" id="{A57DE85C-49F5-49BC-B2DC-B6E9A2161962}"/>
              </a:ext>
            </a:extLst>
          </p:cNvPr>
          <p:cNvSpPr/>
          <p:nvPr/>
        </p:nvSpPr>
        <p:spPr>
          <a:xfrm>
            <a:off x="2688219" y="3306400"/>
            <a:ext cx="1879240" cy="831456"/>
          </a:xfrm>
          <a:prstGeom prst="roundRect">
            <a:avLst/>
          </a:prstGeom>
          <a:solidFill>
            <a:srgbClr val="F6F8F9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0C89EEB5-167D-429C-9423-BBC10A19B8C4}"/>
              </a:ext>
            </a:extLst>
          </p:cNvPr>
          <p:cNvSpPr/>
          <p:nvPr/>
        </p:nvSpPr>
        <p:spPr>
          <a:xfrm>
            <a:off x="2688218" y="3306400"/>
            <a:ext cx="44744" cy="831456"/>
          </a:xfrm>
          <a:prstGeom prst="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0" name="TextBox 30">
            <a:extLst>
              <a:ext uri="{FF2B5EF4-FFF2-40B4-BE49-F238E27FC236}">
                <a16:creationId xmlns:a16="http://schemas.microsoft.com/office/drawing/2014/main" id="{275A0A8B-9703-4949-A0D2-570FFEA51F3B}"/>
              </a:ext>
            </a:extLst>
          </p:cNvPr>
          <p:cNvSpPr txBox="1"/>
          <p:nvPr/>
        </p:nvSpPr>
        <p:spPr>
          <a:xfrm>
            <a:off x="2747403" y="3433137"/>
            <a:ext cx="1953813" cy="1791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 i="0">
                <a:solidFill>
                  <a:srgbClr val="1F384C"/>
                </a:solidFill>
                <a:latin typeface="Arial"/>
              </a:defRPr>
            </a:pPr>
            <a:r>
              <a:rPr sz="1000"/>
              <a:t>SEGURIDAD</a:t>
            </a:r>
          </a:p>
        </p:txBody>
      </p:sp>
      <p:sp>
        <p:nvSpPr>
          <p:cNvPr id="51" name="TextBox 31">
            <a:extLst>
              <a:ext uri="{FF2B5EF4-FFF2-40B4-BE49-F238E27FC236}">
                <a16:creationId xmlns:a16="http://schemas.microsoft.com/office/drawing/2014/main" id="{4EDBF51F-082C-4B6E-A69F-210A74F7ABDD}"/>
              </a:ext>
            </a:extLst>
          </p:cNvPr>
          <p:cNvSpPr txBox="1"/>
          <p:nvPr/>
        </p:nvSpPr>
        <p:spPr>
          <a:xfrm>
            <a:off x="2822449" y="3655096"/>
            <a:ext cx="168402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 i="0">
                <a:solidFill>
                  <a:srgbClr val="606A73"/>
                </a:solidFill>
                <a:latin typeface="Arial"/>
              </a:defRPr>
            </a:pPr>
            <a:r>
              <a:rPr lang="es-AR" sz="700"/>
              <a:t>Genera una condición que debe ser eliminada en zonas de trabajo y circulación.</a:t>
            </a:r>
          </a:p>
        </p:txBody>
      </p:sp>
      <p:sp>
        <p:nvSpPr>
          <p:cNvPr id="52" name="Rounded Rectangle 32">
            <a:extLst>
              <a:ext uri="{FF2B5EF4-FFF2-40B4-BE49-F238E27FC236}">
                <a16:creationId xmlns:a16="http://schemas.microsoft.com/office/drawing/2014/main" id="{961C2F6E-B901-4397-8186-B196ED3E87FF}"/>
              </a:ext>
            </a:extLst>
          </p:cNvPr>
          <p:cNvSpPr/>
          <p:nvPr/>
        </p:nvSpPr>
        <p:spPr>
          <a:xfrm>
            <a:off x="4857820" y="3314038"/>
            <a:ext cx="1953813" cy="831456"/>
          </a:xfrm>
          <a:prstGeom prst="roundRect">
            <a:avLst/>
          </a:prstGeom>
          <a:solidFill>
            <a:srgbClr val="F6F8F9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3" name="Rectangle 33">
            <a:extLst>
              <a:ext uri="{FF2B5EF4-FFF2-40B4-BE49-F238E27FC236}">
                <a16:creationId xmlns:a16="http://schemas.microsoft.com/office/drawing/2014/main" id="{8A5D2398-8DD0-4231-AF99-ACB1FF350625}"/>
              </a:ext>
            </a:extLst>
          </p:cNvPr>
          <p:cNvSpPr/>
          <p:nvPr/>
        </p:nvSpPr>
        <p:spPr>
          <a:xfrm>
            <a:off x="4857820" y="3314038"/>
            <a:ext cx="44744" cy="831456"/>
          </a:xfrm>
          <a:prstGeom prst="rect">
            <a:avLst/>
          </a:prstGeom>
          <a:solidFill>
            <a:srgbClr val="47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4" name="TextBox 34">
            <a:extLst>
              <a:ext uri="{FF2B5EF4-FFF2-40B4-BE49-F238E27FC236}">
                <a16:creationId xmlns:a16="http://schemas.microsoft.com/office/drawing/2014/main" id="{83E88038-2473-4C5F-BA2C-2F4132381197}"/>
              </a:ext>
            </a:extLst>
          </p:cNvPr>
          <p:cNvSpPr txBox="1"/>
          <p:nvPr/>
        </p:nvSpPr>
        <p:spPr>
          <a:xfrm>
            <a:off x="4921173" y="3438040"/>
            <a:ext cx="1953813" cy="1791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 i="0">
                <a:solidFill>
                  <a:srgbClr val="1F384C"/>
                </a:solidFill>
                <a:latin typeface="Arial"/>
              </a:defRPr>
            </a:pPr>
            <a:r>
              <a:rPr sz="1000" dirty="0"/>
              <a:t>ORDEN Y 5S</a:t>
            </a:r>
          </a:p>
        </p:txBody>
      </p:sp>
      <p:sp>
        <p:nvSpPr>
          <p:cNvPr id="55" name="TextBox 35">
            <a:extLst>
              <a:ext uri="{FF2B5EF4-FFF2-40B4-BE49-F238E27FC236}">
                <a16:creationId xmlns:a16="http://schemas.microsoft.com/office/drawing/2014/main" id="{C1C1F467-1649-4656-AE0E-14760EBB61BE}"/>
              </a:ext>
            </a:extLst>
          </p:cNvPr>
          <p:cNvSpPr txBox="1"/>
          <p:nvPr/>
        </p:nvSpPr>
        <p:spPr>
          <a:xfrm>
            <a:off x="4992052" y="3655096"/>
            <a:ext cx="177483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 i="0">
                <a:solidFill>
                  <a:srgbClr val="606A73"/>
                </a:solidFill>
                <a:latin typeface="Arial"/>
              </a:defRPr>
            </a:pPr>
            <a:r>
              <a:rPr lang="es-AR" sz="700"/>
              <a:t>Afecta las condiciones de orden y limpieza del sector.</a:t>
            </a:r>
          </a:p>
        </p:txBody>
      </p:sp>
      <p:sp>
        <p:nvSpPr>
          <p:cNvPr id="56" name="Rounded Rectangle 36">
            <a:extLst>
              <a:ext uri="{FF2B5EF4-FFF2-40B4-BE49-F238E27FC236}">
                <a16:creationId xmlns:a16="http://schemas.microsoft.com/office/drawing/2014/main" id="{EF50995E-4D24-45BA-AD30-460611DCF13B}"/>
              </a:ext>
            </a:extLst>
          </p:cNvPr>
          <p:cNvSpPr/>
          <p:nvPr/>
        </p:nvSpPr>
        <p:spPr>
          <a:xfrm>
            <a:off x="7095011" y="3302559"/>
            <a:ext cx="1856869" cy="831456"/>
          </a:xfrm>
          <a:prstGeom prst="roundRect">
            <a:avLst/>
          </a:prstGeom>
          <a:solidFill>
            <a:srgbClr val="F6F8F9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7" name="Rectangle 37">
            <a:extLst>
              <a:ext uri="{FF2B5EF4-FFF2-40B4-BE49-F238E27FC236}">
                <a16:creationId xmlns:a16="http://schemas.microsoft.com/office/drawing/2014/main" id="{86206563-88BD-4EAB-BF83-B77E2C1369C9}"/>
              </a:ext>
            </a:extLst>
          </p:cNvPr>
          <p:cNvSpPr/>
          <p:nvPr/>
        </p:nvSpPr>
        <p:spPr>
          <a:xfrm>
            <a:off x="7095011" y="3302559"/>
            <a:ext cx="44744" cy="831456"/>
          </a:xfrm>
          <a:prstGeom prst="rect">
            <a:avLst/>
          </a:prstGeom>
          <a:solidFill>
            <a:srgbClr val="24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8" name="TextBox 38">
            <a:extLst>
              <a:ext uri="{FF2B5EF4-FFF2-40B4-BE49-F238E27FC236}">
                <a16:creationId xmlns:a16="http://schemas.microsoft.com/office/drawing/2014/main" id="{1F240D99-C3F4-481F-B51F-5321FC32CBF4}"/>
              </a:ext>
            </a:extLst>
          </p:cNvPr>
          <p:cNvSpPr txBox="1"/>
          <p:nvPr/>
        </p:nvSpPr>
        <p:spPr>
          <a:xfrm>
            <a:off x="7229243" y="3422288"/>
            <a:ext cx="1953813" cy="1791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 i="0">
                <a:solidFill>
                  <a:srgbClr val="1F384C"/>
                </a:solidFill>
                <a:latin typeface="Arial"/>
              </a:defRPr>
            </a:pPr>
            <a:r>
              <a:rPr sz="1000"/>
              <a:t>SEGREGACIÓN</a:t>
            </a:r>
          </a:p>
        </p:txBody>
      </p:sp>
      <p:sp>
        <p:nvSpPr>
          <p:cNvPr id="59" name="TextBox 39">
            <a:extLst>
              <a:ext uri="{FF2B5EF4-FFF2-40B4-BE49-F238E27FC236}">
                <a16:creationId xmlns:a16="http://schemas.microsoft.com/office/drawing/2014/main" id="{72DF71BF-0F1D-44AC-8FE4-5E2BD962C321}"/>
              </a:ext>
            </a:extLst>
          </p:cNvPr>
          <p:cNvSpPr txBox="1"/>
          <p:nvPr/>
        </p:nvSpPr>
        <p:spPr>
          <a:xfrm>
            <a:off x="7229243" y="3655096"/>
            <a:ext cx="1722637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 i="0">
                <a:solidFill>
                  <a:srgbClr val="606A73"/>
                </a:solidFill>
                <a:latin typeface="Arial"/>
              </a:defRPr>
            </a:pPr>
            <a:r>
              <a:rPr lang="es-AR" sz="700" dirty="0"/>
              <a:t>Dificulta recuperar y separar los elementos metálicos de los residuos comunes.</a:t>
            </a:r>
          </a:p>
        </p:txBody>
      </p:sp>
      <p:sp>
        <p:nvSpPr>
          <p:cNvPr id="60" name="Rounded Rectangle 40">
            <a:extLst>
              <a:ext uri="{FF2B5EF4-FFF2-40B4-BE49-F238E27FC236}">
                <a16:creationId xmlns:a16="http://schemas.microsoft.com/office/drawing/2014/main" id="{89B7BC8F-31B4-4CD2-890F-A92F8E3EEA82}"/>
              </a:ext>
            </a:extLst>
          </p:cNvPr>
          <p:cNvSpPr/>
          <p:nvPr/>
        </p:nvSpPr>
        <p:spPr>
          <a:xfrm>
            <a:off x="2613172" y="4291200"/>
            <a:ext cx="6338708" cy="495416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80" b="1" i="0">
                <a:solidFill>
                  <a:srgbClr val="FFFFFF"/>
                </a:solidFill>
                <a:latin typeface="Arial"/>
              </a:defRPr>
            </a:pPr>
            <a:r>
              <a:rPr lang="es-MX" sz="900" dirty="0"/>
              <a:t>La caída de algunos elementos puede ocurrir durante el proceso; la oportunidad de mejora está en recuperarlos y segregarlos rápidamente.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BF86135-ABB4-4A53-981F-E7F4FE261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9000" y="1241743"/>
            <a:ext cx="1517383" cy="101721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F35626A-FDD2-4B1A-9366-398952FC0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795" y="1270807"/>
            <a:ext cx="1509995" cy="9697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083A682-368D-48E9-9679-84DB3A7D15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135" y="1269215"/>
            <a:ext cx="1416874" cy="95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94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81626" y="70015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375" y="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590550" y="0"/>
                </a:moveTo>
                <a:lnTo>
                  <a:pt x="0" y="0"/>
                </a:lnTo>
                <a:lnTo>
                  <a:pt x="0" y="492125"/>
                </a:lnTo>
                <a:lnTo>
                  <a:pt x="7735" y="530435"/>
                </a:lnTo>
                <a:lnTo>
                  <a:pt x="28828" y="561721"/>
                </a:lnTo>
                <a:lnTo>
                  <a:pt x="60114" y="582814"/>
                </a:lnTo>
                <a:lnTo>
                  <a:pt x="98425" y="590550"/>
                </a:lnTo>
                <a:lnTo>
                  <a:pt x="492125" y="590550"/>
                </a:lnTo>
                <a:lnTo>
                  <a:pt x="530435" y="582814"/>
                </a:lnTo>
                <a:lnTo>
                  <a:pt x="561721" y="561720"/>
                </a:lnTo>
                <a:lnTo>
                  <a:pt x="582814" y="530435"/>
                </a:lnTo>
                <a:lnTo>
                  <a:pt x="590550" y="492125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8612" y="151930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0"/>
            <a:ext cx="952500" cy="5143500"/>
          </a:xfrm>
          <a:custGeom>
            <a:avLst/>
            <a:gdLst/>
            <a:ahLst/>
            <a:cxnLst/>
            <a:rect l="l" t="t" r="r" b="b"/>
            <a:pathLst>
              <a:path w="952500" h="5143500">
                <a:moveTo>
                  <a:pt x="952500" y="0"/>
                </a:moveTo>
                <a:lnTo>
                  <a:pt x="0" y="0"/>
                </a:lnTo>
                <a:lnTo>
                  <a:pt x="952500" y="5143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547" y="917257"/>
            <a:ext cx="1243965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786376" y="309625"/>
            <a:ext cx="4257675" cy="322524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655"/>
              </a:spcBef>
            </a:pPr>
            <a:r>
              <a:rPr lang="es-AR" dirty="0"/>
              <a:t>5W2H — ¿Cómo ocurre actualmente?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5" y="1581150"/>
            <a:ext cx="3609975" cy="3486148"/>
          </a:xfrm>
          <a:prstGeom prst="rect">
            <a:avLst/>
          </a:prstGeom>
        </p:spPr>
      </p:pic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B75A5172-0E23-4C67-8789-9DEBC4948453}"/>
              </a:ext>
            </a:extLst>
          </p:cNvPr>
          <p:cNvSpPr/>
          <p:nvPr/>
        </p:nvSpPr>
        <p:spPr>
          <a:xfrm>
            <a:off x="4616417" y="81938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3298EC53-A6F9-4E54-8392-68207CD627AF}"/>
              </a:ext>
            </a:extLst>
          </p:cNvPr>
          <p:cNvSpPr/>
          <p:nvPr/>
        </p:nvSpPr>
        <p:spPr>
          <a:xfrm>
            <a:off x="4616417" y="81938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DF27DF77-DD84-4327-9921-74120E5F248C}"/>
              </a:ext>
            </a:extLst>
          </p:cNvPr>
          <p:cNvSpPr txBox="1"/>
          <p:nvPr/>
        </p:nvSpPr>
        <p:spPr>
          <a:xfrm>
            <a:off x="4689493" y="88968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10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s-AR" dirty="0"/>
              <a:t>01  ¿QUÉ?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C5866681-A687-4B4B-8920-0D1F5F27C46C}"/>
              </a:ext>
            </a:extLst>
          </p:cNvPr>
          <p:cNvSpPr txBox="1"/>
          <p:nvPr/>
        </p:nvSpPr>
        <p:spPr>
          <a:xfrm>
            <a:off x="5846162" y="812287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Tornillos y pequeños elementos metálicos llegan al piso durante el desembalaje.</a:t>
            </a:r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84313A73-5F3E-40F0-9D55-2D875A6F8B71}"/>
              </a:ext>
            </a:extLst>
          </p:cNvPr>
          <p:cNvSpPr/>
          <p:nvPr/>
        </p:nvSpPr>
        <p:spPr>
          <a:xfrm>
            <a:off x="4630024" y="1292888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3ED1FF83-0688-4D14-B074-B8AFDBD7B309}"/>
              </a:ext>
            </a:extLst>
          </p:cNvPr>
          <p:cNvSpPr/>
          <p:nvPr/>
        </p:nvSpPr>
        <p:spPr>
          <a:xfrm>
            <a:off x="4630024" y="1292888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extBox 32">
            <a:extLst>
              <a:ext uri="{FF2B5EF4-FFF2-40B4-BE49-F238E27FC236}">
                <a16:creationId xmlns:a16="http://schemas.microsoft.com/office/drawing/2014/main" id="{D205760F-82F8-4488-B815-5F124AE43A41}"/>
              </a:ext>
            </a:extLst>
          </p:cNvPr>
          <p:cNvSpPr txBox="1"/>
          <p:nvPr/>
        </p:nvSpPr>
        <p:spPr>
          <a:xfrm>
            <a:off x="4661375" y="1374239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02  ¿POR QUÉ?</a:t>
            </a:r>
          </a:p>
        </p:txBody>
      </p:sp>
      <p:sp>
        <p:nvSpPr>
          <p:cNvPr id="20" name="Rounded Rectangle 34">
            <a:extLst>
              <a:ext uri="{FF2B5EF4-FFF2-40B4-BE49-F238E27FC236}">
                <a16:creationId xmlns:a16="http://schemas.microsoft.com/office/drawing/2014/main" id="{6791D0BF-67DA-4CDF-B757-1F6A5E3D6360}"/>
              </a:ext>
            </a:extLst>
          </p:cNvPr>
          <p:cNvSpPr/>
          <p:nvPr/>
        </p:nvSpPr>
        <p:spPr>
          <a:xfrm>
            <a:off x="4616417" y="176408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C7FFFA1B-104B-4596-9701-182038611747}"/>
              </a:ext>
            </a:extLst>
          </p:cNvPr>
          <p:cNvSpPr/>
          <p:nvPr/>
        </p:nvSpPr>
        <p:spPr>
          <a:xfrm>
            <a:off x="4616417" y="1764086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id="{80F35D40-48AE-489D-AF75-21FEC8ADC3B0}"/>
              </a:ext>
            </a:extLst>
          </p:cNvPr>
          <p:cNvSpPr txBox="1"/>
          <p:nvPr/>
        </p:nvSpPr>
        <p:spPr>
          <a:xfrm>
            <a:off x="4680425" y="1858707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03  ¿CUÁNDO?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D8E67C04-9048-47F9-A98C-BAF88B6CC482}"/>
              </a:ext>
            </a:extLst>
          </p:cNvPr>
          <p:cNvSpPr/>
          <p:nvPr/>
        </p:nvSpPr>
        <p:spPr>
          <a:xfrm>
            <a:off x="4616417" y="2262903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ounded Rectangle 39">
            <a:extLst>
              <a:ext uri="{FF2B5EF4-FFF2-40B4-BE49-F238E27FC236}">
                <a16:creationId xmlns:a16="http://schemas.microsoft.com/office/drawing/2014/main" id="{59FDE3F2-9A61-47DE-860F-42482A840C2D}"/>
              </a:ext>
            </a:extLst>
          </p:cNvPr>
          <p:cNvSpPr/>
          <p:nvPr/>
        </p:nvSpPr>
        <p:spPr>
          <a:xfrm>
            <a:off x="4616417" y="2262903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9587ABCB-9705-4C44-913D-23511962A0C4}"/>
              </a:ext>
            </a:extLst>
          </p:cNvPr>
          <p:cNvSpPr txBox="1"/>
          <p:nvPr/>
        </p:nvSpPr>
        <p:spPr>
          <a:xfrm>
            <a:off x="4680425" y="2342441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04  ¿DÓNDE?</a:t>
            </a:r>
          </a:p>
        </p:txBody>
      </p:sp>
      <p:sp>
        <p:nvSpPr>
          <p:cNvPr id="28" name="Rounded Rectangle 42">
            <a:extLst>
              <a:ext uri="{FF2B5EF4-FFF2-40B4-BE49-F238E27FC236}">
                <a16:creationId xmlns:a16="http://schemas.microsoft.com/office/drawing/2014/main" id="{FC6AFF60-6489-4EA2-A040-4B9F22625CA3}"/>
              </a:ext>
            </a:extLst>
          </p:cNvPr>
          <p:cNvSpPr/>
          <p:nvPr/>
        </p:nvSpPr>
        <p:spPr>
          <a:xfrm>
            <a:off x="4616417" y="276816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Rounded Rectangle 43">
            <a:extLst>
              <a:ext uri="{FF2B5EF4-FFF2-40B4-BE49-F238E27FC236}">
                <a16:creationId xmlns:a16="http://schemas.microsoft.com/office/drawing/2014/main" id="{6E2A90F8-A6F8-4CCC-89FD-F7F846756796}"/>
              </a:ext>
            </a:extLst>
          </p:cNvPr>
          <p:cNvSpPr/>
          <p:nvPr/>
        </p:nvSpPr>
        <p:spPr>
          <a:xfrm>
            <a:off x="4616417" y="2768160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TextBox 44">
            <a:extLst>
              <a:ext uri="{FF2B5EF4-FFF2-40B4-BE49-F238E27FC236}">
                <a16:creationId xmlns:a16="http://schemas.microsoft.com/office/drawing/2014/main" id="{EAE91799-FE63-4D66-A08E-5D526982DA5F}"/>
              </a:ext>
            </a:extLst>
          </p:cNvPr>
          <p:cNvSpPr txBox="1"/>
          <p:nvPr/>
        </p:nvSpPr>
        <p:spPr>
          <a:xfrm>
            <a:off x="4654649" y="284841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05  ¿QUIÉN?</a:t>
            </a:r>
          </a:p>
        </p:txBody>
      </p:sp>
      <p:sp>
        <p:nvSpPr>
          <p:cNvPr id="32" name="Rounded Rectangle 46">
            <a:extLst>
              <a:ext uri="{FF2B5EF4-FFF2-40B4-BE49-F238E27FC236}">
                <a16:creationId xmlns:a16="http://schemas.microsoft.com/office/drawing/2014/main" id="{53472002-A3D3-492B-BE8E-E0CAC85F6049}"/>
              </a:ext>
            </a:extLst>
          </p:cNvPr>
          <p:cNvSpPr/>
          <p:nvPr/>
        </p:nvSpPr>
        <p:spPr>
          <a:xfrm>
            <a:off x="4616417" y="3273417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Rounded Rectangle 47">
            <a:extLst>
              <a:ext uri="{FF2B5EF4-FFF2-40B4-BE49-F238E27FC236}">
                <a16:creationId xmlns:a16="http://schemas.microsoft.com/office/drawing/2014/main" id="{6C3655B8-244B-4751-9B27-EE0BDCE42E55}"/>
              </a:ext>
            </a:extLst>
          </p:cNvPr>
          <p:cNvSpPr/>
          <p:nvPr/>
        </p:nvSpPr>
        <p:spPr>
          <a:xfrm>
            <a:off x="4616417" y="3273417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7A435D0A-76B2-470A-9D03-4D9095149E7A}"/>
              </a:ext>
            </a:extLst>
          </p:cNvPr>
          <p:cNvSpPr txBox="1"/>
          <p:nvPr/>
        </p:nvSpPr>
        <p:spPr>
          <a:xfrm>
            <a:off x="4654649" y="3340845"/>
            <a:ext cx="110692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930" b="1" i="0">
                <a:solidFill>
                  <a:schemeClr val="bg1">
                    <a:lumMod val="85000"/>
                  </a:schemeClr>
                </a:solidFill>
                <a:latin typeface="Arial"/>
              </a:defRPr>
            </a:lvl1pPr>
          </a:lstStyle>
          <a:p>
            <a:r>
              <a:rPr lang="es-AR" dirty="0"/>
              <a:t>06  ¿CÓMO?</a:t>
            </a:r>
          </a:p>
        </p:txBody>
      </p:sp>
      <p:sp>
        <p:nvSpPr>
          <p:cNvPr id="36" name="Rounded Rectangle 50">
            <a:extLst>
              <a:ext uri="{FF2B5EF4-FFF2-40B4-BE49-F238E27FC236}">
                <a16:creationId xmlns:a16="http://schemas.microsoft.com/office/drawing/2014/main" id="{DBE1983B-87FB-4AE2-8E44-8442F63F388F}"/>
              </a:ext>
            </a:extLst>
          </p:cNvPr>
          <p:cNvSpPr/>
          <p:nvPr/>
        </p:nvSpPr>
        <p:spPr>
          <a:xfrm>
            <a:off x="4616417" y="377895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Rounded Rectangle 51">
            <a:extLst>
              <a:ext uri="{FF2B5EF4-FFF2-40B4-BE49-F238E27FC236}">
                <a16:creationId xmlns:a16="http://schemas.microsoft.com/office/drawing/2014/main" id="{7DA6601D-43FE-49F3-9FD1-2731C0853BF3}"/>
              </a:ext>
            </a:extLst>
          </p:cNvPr>
          <p:cNvSpPr/>
          <p:nvPr/>
        </p:nvSpPr>
        <p:spPr>
          <a:xfrm>
            <a:off x="4616417" y="3778956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401ED823-52A8-4474-81C3-3F441785A1DF}"/>
              </a:ext>
            </a:extLst>
          </p:cNvPr>
          <p:cNvSpPr txBox="1"/>
          <p:nvPr/>
        </p:nvSpPr>
        <p:spPr>
          <a:xfrm>
            <a:off x="4699206" y="3851772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75000"/>
                  </a:schemeClr>
                </a:solidFill>
              </a:rPr>
              <a:t>07  ¿CUÁNTO?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81626" y="700150"/>
            <a:ext cx="452755" cy="45719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375" y="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590550" y="0"/>
                </a:moveTo>
                <a:lnTo>
                  <a:pt x="0" y="0"/>
                </a:lnTo>
                <a:lnTo>
                  <a:pt x="0" y="492125"/>
                </a:lnTo>
                <a:lnTo>
                  <a:pt x="7735" y="530435"/>
                </a:lnTo>
                <a:lnTo>
                  <a:pt x="28828" y="561721"/>
                </a:lnTo>
                <a:lnTo>
                  <a:pt x="60114" y="582814"/>
                </a:lnTo>
                <a:lnTo>
                  <a:pt x="98425" y="590550"/>
                </a:lnTo>
                <a:lnTo>
                  <a:pt x="492125" y="590550"/>
                </a:lnTo>
                <a:lnTo>
                  <a:pt x="530435" y="582814"/>
                </a:lnTo>
                <a:lnTo>
                  <a:pt x="561721" y="561720"/>
                </a:lnTo>
                <a:lnTo>
                  <a:pt x="582814" y="530435"/>
                </a:lnTo>
                <a:lnTo>
                  <a:pt x="590550" y="492125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8612" y="151930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0"/>
            <a:ext cx="952500" cy="5143500"/>
          </a:xfrm>
          <a:custGeom>
            <a:avLst/>
            <a:gdLst/>
            <a:ahLst/>
            <a:cxnLst/>
            <a:rect l="l" t="t" r="r" b="b"/>
            <a:pathLst>
              <a:path w="952500" h="5143500">
                <a:moveTo>
                  <a:pt x="952500" y="0"/>
                </a:moveTo>
                <a:lnTo>
                  <a:pt x="0" y="0"/>
                </a:lnTo>
                <a:lnTo>
                  <a:pt x="952500" y="5143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547" y="917257"/>
            <a:ext cx="1243965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85420" y="140969"/>
            <a:ext cx="8858631" cy="492763"/>
          </a:xfrm>
          <a:prstGeom prst="rect">
            <a:avLst/>
          </a:prstGeom>
        </p:spPr>
        <p:txBody>
          <a:bodyPr vert="horz" wrap="square" lIns="0" tIns="251777" rIns="0" bIns="0" rtlCol="0">
            <a:spAutoFit/>
          </a:bodyPr>
          <a:lstStyle/>
          <a:p>
            <a:pPr marL="4693920">
              <a:lnSpc>
                <a:spcPct val="100000"/>
              </a:lnSpc>
              <a:spcBef>
                <a:spcPts val="125"/>
              </a:spcBef>
            </a:pPr>
            <a:r>
              <a:rPr lang="es-AR" dirty="0"/>
              <a:t>5W2H — ¿Cómo ocurre actualmente?</a:t>
            </a:r>
            <a:endParaRPr spc="-10" dirty="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5" y="1581150"/>
            <a:ext cx="3609975" cy="3486148"/>
          </a:xfrm>
          <a:prstGeom prst="rect">
            <a:avLst/>
          </a:prstGeom>
        </p:spPr>
      </p:pic>
      <p:sp>
        <p:nvSpPr>
          <p:cNvPr id="66" name="Rounded Rectangle 26">
            <a:extLst>
              <a:ext uri="{FF2B5EF4-FFF2-40B4-BE49-F238E27FC236}">
                <a16:creationId xmlns:a16="http://schemas.microsoft.com/office/drawing/2014/main" id="{68DCC960-C504-4058-9E1D-F8C4805CB87F}"/>
              </a:ext>
            </a:extLst>
          </p:cNvPr>
          <p:cNvSpPr/>
          <p:nvPr/>
        </p:nvSpPr>
        <p:spPr>
          <a:xfrm>
            <a:off x="4616417" y="81938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41BC4837-E4C6-48A1-9A34-C919F166FF96}"/>
              </a:ext>
            </a:extLst>
          </p:cNvPr>
          <p:cNvSpPr/>
          <p:nvPr/>
        </p:nvSpPr>
        <p:spPr>
          <a:xfrm>
            <a:off x="4616417" y="81938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8" name="TextBox 28">
            <a:extLst>
              <a:ext uri="{FF2B5EF4-FFF2-40B4-BE49-F238E27FC236}">
                <a16:creationId xmlns:a16="http://schemas.microsoft.com/office/drawing/2014/main" id="{50F09477-7CBB-4DA9-81DB-96368A6188CB}"/>
              </a:ext>
            </a:extLst>
          </p:cNvPr>
          <p:cNvSpPr txBox="1"/>
          <p:nvPr/>
        </p:nvSpPr>
        <p:spPr>
          <a:xfrm>
            <a:off x="4689493" y="88968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01  ¿QUÉ?</a:t>
            </a:r>
          </a:p>
        </p:txBody>
      </p:sp>
      <p:sp>
        <p:nvSpPr>
          <p:cNvPr id="69" name="TextBox 29">
            <a:extLst>
              <a:ext uri="{FF2B5EF4-FFF2-40B4-BE49-F238E27FC236}">
                <a16:creationId xmlns:a16="http://schemas.microsoft.com/office/drawing/2014/main" id="{ABB34BDD-C2AD-408F-B003-F26E3B931F6F}"/>
              </a:ext>
            </a:extLst>
          </p:cNvPr>
          <p:cNvSpPr txBox="1"/>
          <p:nvPr/>
        </p:nvSpPr>
        <p:spPr>
          <a:xfrm>
            <a:off x="5846162" y="812287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Tornillos y pequeños elementos metálicos llegan al piso durante el desembalaje.</a:t>
            </a:r>
          </a:p>
        </p:txBody>
      </p:sp>
      <p:sp>
        <p:nvSpPr>
          <p:cNvPr id="70" name="Rounded Rectangle 30">
            <a:extLst>
              <a:ext uri="{FF2B5EF4-FFF2-40B4-BE49-F238E27FC236}">
                <a16:creationId xmlns:a16="http://schemas.microsoft.com/office/drawing/2014/main" id="{31ED0CEF-C789-4A83-8520-402D25ED4FB7}"/>
              </a:ext>
            </a:extLst>
          </p:cNvPr>
          <p:cNvSpPr/>
          <p:nvPr/>
        </p:nvSpPr>
        <p:spPr>
          <a:xfrm>
            <a:off x="4630024" y="1292888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1" name="Rounded Rectangle 31">
            <a:extLst>
              <a:ext uri="{FF2B5EF4-FFF2-40B4-BE49-F238E27FC236}">
                <a16:creationId xmlns:a16="http://schemas.microsoft.com/office/drawing/2014/main" id="{283E44CC-E660-49F1-9559-61AA9926AF09}"/>
              </a:ext>
            </a:extLst>
          </p:cNvPr>
          <p:cNvSpPr/>
          <p:nvPr/>
        </p:nvSpPr>
        <p:spPr>
          <a:xfrm>
            <a:off x="4630024" y="1292888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2" name="TextBox 32">
            <a:extLst>
              <a:ext uri="{FF2B5EF4-FFF2-40B4-BE49-F238E27FC236}">
                <a16:creationId xmlns:a16="http://schemas.microsoft.com/office/drawing/2014/main" id="{673C609D-0357-4539-9A55-6CB977C9E4B6}"/>
              </a:ext>
            </a:extLst>
          </p:cNvPr>
          <p:cNvSpPr txBox="1"/>
          <p:nvPr/>
        </p:nvSpPr>
        <p:spPr>
          <a:xfrm>
            <a:off x="4661375" y="1368853"/>
            <a:ext cx="1213938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10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s-AR" dirty="0"/>
              <a:t>02  ¿POR QUÉ?</a:t>
            </a:r>
          </a:p>
        </p:txBody>
      </p:sp>
      <p:sp>
        <p:nvSpPr>
          <p:cNvPr id="73" name="TextBox 33">
            <a:extLst>
              <a:ext uri="{FF2B5EF4-FFF2-40B4-BE49-F238E27FC236}">
                <a16:creationId xmlns:a16="http://schemas.microsoft.com/office/drawing/2014/main" id="{AB49EA65-9326-407D-9BD3-CD87A4C19AAA}"/>
              </a:ext>
            </a:extLst>
          </p:cNvPr>
          <p:cNvSpPr txBox="1"/>
          <p:nvPr/>
        </p:nvSpPr>
        <p:spPr>
          <a:xfrm>
            <a:off x="5833353" y="1299604"/>
            <a:ext cx="320451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 apertura y manipulación de los CKD, algunos elementos y terminan fuera de la zona de trabajo.</a:t>
            </a:r>
          </a:p>
        </p:txBody>
      </p:sp>
      <p:sp>
        <p:nvSpPr>
          <p:cNvPr id="74" name="Rounded Rectangle 34">
            <a:extLst>
              <a:ext uri="{FF2B5EF4-FFF2-40B4-BE49-F238E27FC236}">
                <a16:creationId xmlns:a16="http://schemas.microsoft.com/office/drawing/2014/main" id="{3FC4F860-9560-4DBA-BBDC-F7EEFFF12222}"/>
              </a:ext>
            </a:extLst>
          </p:cNvPr>
          <p:cNvSpPr/>
          <p:nvPr/>
        </p:nvSpPr>
        <p:spPr>
          <a:xfrm>
            <a:off x="4616417" y="176408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5" name="Rounded Rectangle 35">
            <a:extLst>
              <a:ext uri="{FF2B5EF4-FFF2-40B4-BE49-F238E27FC236}">
                <a16:creationId xmlns:a16="http://schemas.microsoft.com/office/drawing/2014/main" id="{DD3CACD0-7E57-48B7-9516-6BDA1FCBD15C}"/>
              </a:ext>
            </a:extLst>
          </p:cNvPr>
          <p:cNvSpPr/>
          <p:nvPr/>
        </p:nvSpPr>
        <p:spPr>
          <a:xfrm>
            <a:off x="4616417" y="1764086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6" name="TextBox 36">
            <a:extLst>
              <a:ext uri="{FF2B5EF4-FFF2-40B4-BE49-F238E27FC236}">
                <a16:creationId xmlns:a16="http://schemas.microsoft.com/office/drawing/2014/main" id="{762B426D-4000-4339-A5A7-7D0E81B9CD4F}"/>
              </a:ext>
            </a:extLst>
          </p:cNvPr>
          <p:cNvSpPr txBox="1"/>
          <p:nvPr/>
        </p:nvSpPr>
        <p:spPr>
          <a:xfrm>
            <a:off x="4680425" y="1858707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03  ¿CUÁNDO?</a:t>
            </a:r>
          </a:p>
        </p:txBody>
      </p:sp>
      <p:sp>
        <p:nvSpPr>
          <p:cNvPr id="78" name="Rounded Rectangle 38">
            <a:extLst>
              <a:ext uri="{FF2B5EF4-FFF2-40B4-BE49-F238E27FC236}">
                <a16:creationId xmlns:a16="http://schemas.microsoft.com/office/drawing/2014/main" id="{1AE0D8F4-FFDF-4985-B66B-6AEC1B4CC22A}"/>
              </a:ext>
            </a:extLst>
          </p:cNvPr>
          <p:cNvSpPr/>
          <p:nvPr/>
        </p:nvSpPr>
        <p:spPr>
          <a:xfrm>
            <a:off x="4616417" y="2262903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9" name="Rounded Rectangle 39">
            <a:extLst>
              <a:ext uri="{FF2B5EF4-FFF2-40B4-BE49-F238E27FC236}">
                <a16:creationId xmlns:a16="http://schemas.microsoft.com/office/drawing/2014/main" id="{563467FA-49A6-473B-9EEA-2BACBF86B165}"/>
              </a:ext>
            </a:extLst>
          </p:cNvPr>
          <p:cNvSpPr/>
          <p:nvPr/>
        </p:nvSpPr>
        <p:spPr>
          <a:xfrm>
            <a:off x="4616417" y="2262903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0" name="TextBox 40">
            <a:extLst>
              <a:ext uri="{FF2B5EF4-FFF2-40B4-BE49-F238E27FC236}">
                <a16:creationId xmlns:a16="http://schemas.microsoft.com/office/drawing/2014/main" id="{4C72DA58-CA9C-4524-96DD-9C3B1A076559}"/>
              </a:ext>
            </a:extLst>
          </p:cNvPr>
          <p:cNvSpPr txBox="1"/>
          <p:nvPr/>
        </p:nvSpPr>
        <p:spPr>
          <a:xfrm>
            <a:off x="4680425" y="2342441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04  ¿DÓNDE?</a:t>
            </a:r>
          </a:p>
        </p:txBody>
      </p:sp>
      <p:sp>
        <p:nvSpPr>
          <p:cNvPr id="82" name="Rounded Rectangle 42">
            <a:extLst>
              <a:ext uri="{FF2B5EF4-FFF2-40B4-BE49-F238E27FC236}">
                <a16:creationId xmlns:a16="http://schemas.microsoft.com/office/drawing/2014/main" id="{EB33E68B-74F2-44DC-A7E2-A5D46FC5C0DC}"/>
              </a:ext>
            </a:extLst>
          </p:cNvPr>
          <p:cNvSpPr/>
          <p:nvPr/>
        </p:nvSpPr>
        <p:spPr>
          <a:xfrm>
            <a:off x="4616417" y="276816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3" name="Rounded Rectangle 43">
            <a:extLst>
              <a:ext uri="{FF2B5EF4-FFF2-40B4-BE49-F238E27FC236}">
                <a16:creationId xmlns:a16="http://schemas.microsoft.com/office/drawing/2014/main" id="{A80AE7D0-C913-4B35-B5FF-2BCB88CB6705}"/>
              </a:ext>
            </a:extLst>
          </p:cNvPr>
          <p:cNvSpPr/>
          <p:nvPr/>
        </p:nvSpPr>
        <p:spPr>
          <a:xfrm>
            <a:off x="4616417" y="2768160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4" name="TextBox 44">
            <a:extLst>
              <a:ext uri="{FF2B5EF4-FFF2-40B4-BE49-F238E27FC236}">
                <a16:creationId xmlns:a16="http://schemas.microsoft.com/office/drawing/2014/main" id="{3F8E04D8-A213-4684-941F-A86DF3982D97}"/>
              </a:ext>
            </a:extLst>
          </p:cNvPr>
          <p:cNvSpPr txBox="1"/>
          <p:nvPr/>
        </p:nvSpPr>
        <p:spPr>
          <a:xfrm>
            <a:off x="4654649" y="284841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05  ¿QUIÉN?</a:t>
            </a:r>
          </a:p>
        </p:txBody>
      </p:sp>
      <p:sp>
        <p:nvSpPr>
          <p:cNvPr id="86" name="Rounded Rectangle 46">
            <a:extLst>
              <a:ext uri="{FF2B5EF4-FFF2-40B4-BE49-F238E27FC236}">
                <a16:creationId xmlns:a16="http://schemas.microsoft.com/office/drawing/2014/main" id="{027F9A51-549A-43F0-81CF-1D21D7B1C079}"/>
              </a:ext>
            </a:extLst>
          </p:cNvPr>
          <p:cNvSpPr/>
          <p:nvPr/>
        </p:nvSpPr>
        <p:spPr>
          <a:xfrm>
            <a:off x="4616417" y="3273417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7" name="Rounded Rectangle 47">
            <a:extLst>
              <a:ext uri="{FF2B5EF4-FFF2-40B4-BE49-F238E27FC236}">
                <a16:creationId xmlns:a16="http://schemas.microsoft.com/office/drawing/2014/main" id="{1E3079A5-1C5F-467A-93A9-6CAC30F1E266}"/>
              </a:ext>
            </a:extLst>
          </p:cNvPr>
          <p:cNvSpPr/>
          <p:nvPr/>
        </p:nvSpPr>
        <p:spPr>
          <a:xfrm>
            <a:off x="4616417" y="3273417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8" name="TextBox 48">
            <a:extLst>
              <a:ext uri="{FF2B5EF4-FFF2-40B4-BE49-F238E27FC236}">
                <a16:creationId xmlns:a16="http://schemas.microsoft.com/office/drawing/2014/main" id="{1ECEBEF4-7CCF-4FDC-952E-9F7F7CF7B9BE}"/>
              </a:ext>
            </a:extLst>
          </p:cNvPr>
          <p:cNvSpPr txBox="1"/>
          <p:nvPr/>
        </p:nvSpPr>
        <p:spPr>
          <a:xfrm>
            <a:off x="4654649" y="3340845"/>
            <a:ext cx="110692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930" b="1" i="0">
                <a:solidFill>
                  <a:schemeClr val="bg1">
                    <a:lumMod val="75000"/>
                  </a:schemeClr>
                </a:solidFill>
                <a:latin typeface="Arial"/>
              </a:defRPr>
            </a:lvl1pPr>
          </a:lstStyle>
          <a:p>
            <a:r>
              <a:rPr lang="es-AR" dirty="0"/>
              <a:t>06  ¿CÓMO?</a:t>
            </a:r>
          </a:p>
        </p:txBody>
      </p:sp>
      <p:sp>
        <p:nvSpPr>
          <p:cNvPr id="90" name="Rounded Rectangle 50">
            <a:extLst>
              <a:ext uri="{FF2B5EF4-FFF2-40B4-BE49-F238E27FC236}">
                <a16:creationId xmlns:a16="http://schemas.microsoft.com/office/drawing/2014/main" id="{7585F964-7328-4B56-9B40-6502B7EB8619}"/>
              </a:ext>
            </a:extLst>
          </p:cNvPr>
          <p:cNvSpPr/>
          <p:nvPr/>
        </p:nvSpPr>
        <p:spPr>
          <a:xfrm>
            <a:off x="4616417" y="377895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1" name="Rounded Rectangle 51">
            <a:extLst>
              <a:ext uri="{FF2B5EF4-FFF2-40B4-BE49-F238E27FC236}">
                <a16:creationId xmlns:a16="http://schemas.microsoft.com/office/drawing/2014/main" id="{582752E8-94D0-4A77-97B7-9F6283C560F0}"/>
              </a:ext>
            </a:extLst>
          </p:cNvPr>
          <p:cNvSpPr/>
          <p:nvPr/>
        </p:nvSpPr>
        <p:spPr>
          <a:xfrm>
            <a:off x="4616417" y="3778956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2" name="TextBox 52">
            <a:extLst>
              <a:ext uri="{FF2B5EF4-FFF2-40B4-BE49-F238E27FC236}">
                <a16:creationId xmlns:a16="http://schemas.microsoft.com/office/drawing/2014/main" id="{CB9208C8-0FCE-4999-8B53-40689CFBF6C5}"/>
              </a:ext>
            </a:extLst>
          </p:cNvPr>
          <p:cNvSpPr txBox="1"/>
          <p:nvPr/>
        </p:nvSpPr>
        <p:spPr>
          <a:xfrm>
            <a:off x="4699206" y="3851772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75000"/>
                  </a:schemeClr>
                </a:solidFill>
              </a:rPr>
              <a:t>07  ¿CUÁNTO?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81626" y="70015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375" y="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590550" y="0"/>
                </a:moveTo>
                <a:lnTo>
                  <a:pt x="0" y="0"/>
                </a:lnTo>
                <a:lnTo>
                  <a:pt x="0" y="492125"/>
                </a:lnTo>
                <a:lnTo>
                  <a:pt x="7735" y="530435"/>
                </a:lnTo>
                <a:lnTo>
                  <a:pt x="28828" y="561721"/>
                </a:lnTo>
                <a:lnTo>
                  <a:pt x="60114" y="582814"/>
                </a:lnTo>
                <a:lnTo>
                  <a:pt x="98425" y="590550"/>
                </a:lnTo>
                <a:lnTo>
                  <a:pt x="492125" y="590550"/>
                </a:lnTo>
                <a:lnTo>
                  <a:pt x="530435" y="582814"/>
                </a:lnTo>
                <a:lnTo>
                  <a:pt x="561721" y="561720"/>
                </a:lnTo>
                <a:lnTo>
                  <a:pt x="582814" y="530435"/>
                </a:lnTo>
                <a:lnTo>
                  <a:pt x="590550" y="492125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8612" y="151930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0"/>
            <a:ext cx="952500" cy="5143500"/>
          </a:xfrm>
          <a:custGeom>
            <a:avLst/>
            <a:gdLst/>
            <a:ahLst/>
            <a:cxnLst/>
            <a:rect l="l" t="t" r="r" b="b"/>
            <a:pathLst>
              <a:path w="952500" h="5143500">
                <a:moveTo>
                  <a:pt x="952500" y="0"/>
                </a:moveTo>
                <a:lnTo>
                  <a:pt x="0" y="0"/>
                </a:lnTo>
                <a:lnTo>
                  <a:pt x="952500" y="5143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547" y="917257"/>
            <a:ext cx="1243965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85420" y="140969"/>
            <a:ext cx="8858631" cy="492763"/>
          </a:xfrm>
          <a:prstGeom prst="rect">
            <a:avLst/>
          </a:prstGeom>
        </p:spPr>
        <p:txBody>
          <a:bodyPr vert="horz" wrap="square" lIns="0" tIns="251777" rIns="0" bIns="0" rtlCol="0">
            <a:spAutoFit/>
          </a:bodyPr>
          <a:lstStyle/>
          <a:p>
            <a:pPr marL="4693920">
              <a:lnSpc>
                <a:spcPct val="100000"/>
              </a:lnSpc>
              <a:spcBef>
                <a:spcPts val="125"/>
              </a:spcBef>
            </a:pPr>
            <a:r>
              <a:rPr lang="es-AR" dirty="0"/>
              <a:t>5W2H — ¿Cómo ocurre actualmente?</a:t>
            </a:r>
            <a:endParaRPr spc="-10" dirty="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5" y="1581150"/>
            <a:ext cx="3609975" cy="3486148"/>
          </a:xfrm>
          <a:prstGeom prst="rect">
            <a:avLst/>
          </a:prstGeom>
        </p:spPr>
      </p:pic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0F2F065A-36E5-4FCA-B4EF-A02BAA6418BA}"/>
              </a:ext>
            </a:extLst>
          </p:cNvPr>
          <p:cNvSpPr/>
          <p:nvPr/>
        </p:nvSpPr>
        <p:spPr>
          <a:xfrm>
            <a:off x="4616417" y="81938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02F5D3FF-DD09-4D18-9E0D-96D87A3F733F}"/>
              </a:ext>
            </a:extLst>
          </p:cNvPr>
          <p:cNvSpPr/>
          <p:nvPr/>
        </p:nvSpPr>
        <p:spPr>
          <a:xfrm>
            <a:off x="4616417" y="81938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4373BB5E-D6A0-47A1-8894-A86FAC8CF062}"/>
              </a:ext>
            </a:extLst>
          </p:cNvPr>
          <p:cNvSpPr txBox="1"/>
          <p:nvPr/>
        </p:nvSpPr>
        <p:spPr>
          <a:xfrm>
            <a:off x="4689493" y="88968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01  ¿QUÉ?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3C1BF302-36D0-45F9-B126-29DBDDF26642}"/>
              </a:ext>
            </a:extLst>
          </p:cNvPr>
          <p:cNvSpPr txBox="1"/>
          <p:nvPr/>
        </p:nvSpPr>
        <p:spPr>
          <a:xfrm>
            <a:off x="5846162" y="812287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Tornillos y pequeños elementos metálicos llegan al piso durante el desembalaje.</a:t>
            </a:r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11D6E644-CCEC-4CDA-88EF-D961385E3F5A}"/>
              </a:ext>
            </a:extLst>
          </p:cNvPr>
          <p:cNvSpPr/>
          <p:nvPr/>
        </p:nvSpPr>
        <p:spPr>
          <a:xfrm>
            <a:off x="4630024" y="1292888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8E08E002-598F-48EB-9FED-A69669DBA697}"/>
              </a:ext>
            </a:extLst>
          </p:cNvPr>
          <p:cNvSpPr/>
          <p:nvPr/>
        </p:nvSpPr>
        <p:spPr>
          <a:xfrm>
            <a:off x="4630024" y="1292888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extBox 32">
            <a:extLst>
              <a:ext uri="{FF2B5EF4-FFF2-40B4-BE49-F238E27FC236}">
                <a16:creationId xmlns:a16="http://schemas.microsoft.com/office/drawing/2014/main" id="{790D8509-DB5E-4FC4-AD29-E3016FD6C648}"/>
              </a:ext>
            </a:extLst>
          </p:cNvPr>
          <p:cNvSpPr txBox="1"/>
          <p:nvPr/>
        </p:nvSpPr>
        <p:spPr>
          <a:xfrm>
            <a:off x="4661375" y="1374239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02  ¿POR QUÉ?</a:t>
            </a:r>
          </a:p>
        </p:txBody>
      </p:sp>
      <p:sp>
        <p:nvSpPr>
          <p:cNvPr id="19" name="TextBox 33">
            <a:extLst>
              <a:ext uri="{FF2B5EF4-FFF2-40B4-BE49-F238E27FC236}">
                <a16:creationId xmlns:a16="http://schemas.microsoft.com/office/drawing/2014/main" id="{BDDD2141-EFB8-4670-8D1F-FFB273548007}"/>
              </a:ext>
            </a:extLst>
          </p:cNvPr>
          <p:cNvSpPr txBox="1"/>
          <p:nvPr/>
        </p:nvSpPr>
        <p:spPr>
          <a:xfrm>
            <a:off x="5833353" y="1299604"/>
            <a:ext cx="320451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 apertura y manipulación de los CKD, algunos elementos y terminan fuera de la zona de trabajo.</a:t>
            </a:r>
          </a:p>
        </p:txBody>
      </p:sp>
      <p:sp>
        <p:nvSpPr>
          <p:cNvPr id="20" name="Rounded Rectangle 34">
            <a:extLst>
              <a:ext uri="{FF2B5EF4-FFF2-40B4-BE49-F238E27FC236}">
                <a16:creationId xmlns:a16="http://schemas.microsoft.com/office/drawing/2014/main" id="{A4DA1C99-3FEF-461C-AE31-51CB516A770D}"/>
              </a:ext>
            </a:extLst>
          </p:cNvPr>
          <p:cNvSpPr/>
          <p:nvPr/>
        </p:nvSpPr>
        <p:spPr>
          <a:xfrm>
            <a:off x="4616417" y="176408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1AD60AEC-D8B0-4355-ACA9-77BF439DD8E4}"/>
              </a:ext>
            </a:extLst>
          </p:cNvPr>
          <p:cNvSpPr/>
          <p:nvPr/>
        </p:nvSpPr>
        <p:spPr>
          <a:xfrm>
            <a:off x="4616417" y="1764086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id="{CB7FC4DA-8A6E-4729-87BB-61C5BD25F1A2}"/>
              </a:ext>
            </a:extLst>
          </p:cNvPr>
          <p:cNvSpPr txBox="1"/>
          <p:nvPr/>
        </p:nvSpPr>
        <p:spPr>
          <a:xfrm>
            <a:off x="4680425" y="1858707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10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s-AR" dirty="0"/>
              <a:t>03  ¿CUÁNDO?</a:t>
            </a:r>
          </a:p>
        </p:txBody>
      </p:sp>
      <p:sp>
        <p:nvSpPr>
          <p:cNvPr id="23" name="TextBox 37">
            <a:extLst>
              <a:ext uri="{FF2B5EF4-FFF2-40B4-BE49-F238E27FC236}">
                <a16:creationId xmlns:a16="http://schemas.microsoft.com/office/drawing/2014/main" id="{5E3C3A4A-968B-4C50-AD58-63BFB9EBF8A1}"/>
              </a:ext>
            </a:extLst>
          </p:cNvPr>
          <p:cNvSpPr txBox="1"/>
          <p:nvPr/>
        </p:nvSpPr>
        <p:spPr>
          <a:xfrm>
            <a:off x="5851356" y="1869032"/>
            <a:ext cx="300564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las operaciones de desembalaje.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FD8146E-0767-4B9C-8EF9-BBC249A9BC4D}"/>
              </a:ext>
            </a:extLst>
          </p:cNvPr>
          <p:cNvSpPr/>
          <p:nvPr/>
        </p:nvSpPr>
        <p:spPr>
          <a:xfrm>
            <a:off x="4616417" y="2262903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ounded Rectangle 39">
            <a:extLst>
              <a:ext uri="{FF2B5EF4-FFF2-40B4-BE49-F238E27FC236}">
                <a16:creationId xmlns:a16="http://schemas.microsoft.com/office/drawing/2014/main" id="{79C724FA-A99D-4175-A060-57780DB767C9}"/>
              </a:ext>
            </a:extLst>
          </p:cNvPr>
          <p:cNvSpPr/>
          <p:nvPr/>
        </p:nvSpPr>
        <p:spPr>
          <a:xfrm>
            <a:off x="4616417" y="2262903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BD14F8B4-8CEC-420A-981C-E36EFB611DBC}"/>
              </a:ext>
            </a:extLst>
          </p:cNvPr>
          <p:cNvSpPr txBox="1"/>
          <p:nvPr/>
        </p:nvSpPr>
        <p:spPr>
          <a:xfrm>
            <a:off x="4680425" y="2342441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04  ¿DÓNDE?</a:t>
            </a:r>
          </a:p>
        </p:txBody>
      </p:sp>
      <p:sp>
        <p:nvSpPr>
          <p:cNvPr id="28" name="Rounded Rectangle 42">
            <a:extLst>
              <a:ext uri="{FF2B5EF4-FFF2-40B4-BE49-F238E27FC236}">
                <a16:creationId xmlns:a16="http://schemas.microsoft.com/office/drawing/2014/main" id="{155D5071-E1ED-4F9B-A24F-0B3548A43D50}"/>
              </a:ext>
            </a:extLst>
          </p:cNvPr>
          <p:cNvSpPr/>
          <p:nvPr/>
        </p:nvSpPr>
        <p:spPr>
          <a:xfrm>
            <a:off x="4616417" y="276816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Rounded Rectangle 43">
            <a:extLst>
              <a:ext uri="{FF2B5EF4-FFF2-40B4-BE49-F238E27FC236}">
                <a16:creationId xmlns:a16="http://schemas.microsoft.com/office/drawing/2014/main" id="{F3B93F1F-2F94-462D-885D-BD1FD53351BC}"/>
              </a:ext>
            </a:extLst>
          </p:cNvPr>
          <p:cNvSpPr/>
          <p:nvPr/>
        </p:nvSpPr>
        <p:spPr>
          <a:xfrm>
            <a:off x="4616417" y="2768160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TextBox 44">
            <a:extLst>
              <a:ext uri="{FF2B5EF4-FFF2-40B4-BE49-F238E27FC236}">
                <a16:creationId xmlns:a16="http://schemas.microsoft.com/office/drawing/2014/main" id="{7C8CDD9A-FB9C-45C3-9F17-52CDBE5AEB5F}"/>
              </a:ext>
            </a:extLst>
          </p:cNvPr>
          <p:cNvSpPr txBox="1"/>
          <p:nvPr/>
        </p:nvSpPr>
        <p:spPr>
          <a:xfrm>
            <a:off x="4654649" y="284841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05  ¿QUIÉN?</a:t>
            </a:r>
          </a:p>
        </p:txBody>
      </p:sp>
      <p:sp>
        <p:nvSpPr>
          <p:cNvPr id="32" name="Rounded Rectangle 46">
            <a:extLst>
              <a:ext uri="{FF2B5EF4-FFF2-40B4-BE49-F238E27FC236}">
                <a16:creationId xmlns:a16="http://schemas.microsoft.com/office/drawing/2014/main" id="{566389BF-355C-4952-80FD-B4259F901AC9}"/>
              </a:ext>
            </a:extLst>
          </p:cNvPr>
          <p:cNvSpPr/>
          <p:nvPr/>
        </p:nvSpPr>
        <p:spPr>
          <a:xfrm>
            <a:off x="4616417" y="3273417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Rounded Rectangle 47">
            <a:extLst>
              <a:ext uri="{FF2B5EF4-FFF2-40B4-BE49-F238E27FC236}">
                <a16:creationId xmlns:a16="http://schemas.microsoft.com/office/drawing/2014/main" id="{92D05F94-322C-49B4-9736-780EC7A924E6}"/>
              </a:ext>
            </a:extLst>
          </p:cNvPr>
          <p:cNvSpPr/>
          <p:nvPr/>
        </p:nvSpPr>
        <p:spPr>
          <a:xfrm>
            <a:off x="4616417" y="3273417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3A811C29-0B17-44CE-9BB1-9E1F17F81E66}"/>
              </a:ext>
            </a:extLst>
          </p:cNvPr>
          <p:cNvSpPr txBox="1"/>
          <p:nvPr/>
        </p:nvSpPr>
        <p:spPr>
          <a:xfrm>
            <a:off x="4654649" y="3340845"/>
            <a:ext cx="110692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930" b="1" i="0">
                <a:solidFill>
                  <a:schemeClr val="bg1">
                    <a:lumMod val="85000"/>
                  </a:schemeClr>
                </a:solidFill>
                <a:latin typeface="Arial"/>
              </a:defRPr>
            </a:lvl1pPr>
          </a:lstStyle>
          <a:p>
            <a:r>
              <a:rPr lang="es-AR" dirty="0"/>
              <a:t>06  ¿CÓMO?</a:t>
            </a:r>
          </a:p>
        </p:txBody>
      </p:sp>
      <p:sp>
        <p:nvSpPr>
          <p:cNvPr id="36" name="Rounded Rectangle 50">
            <a:extLst>
              <a:ext uri="{FF2B5EF4-FFF2-40B4-BE49-F238E27FC236}">
                <a16:creationId xmlns:a16="http://schemas.microsoft.com/office/drawing/2014/main" id="{549BB8BD-F8D3-48CD-865E-14D268FDB95D}"/>
              </a:ext>
            </a:extLst>
          </p:cNvPr>
          <p:cNvSpPr/>
          <p:nvPr/>
        </p:nvSpPr>
        <p:spPr>
          <a:xfrm>
            <a:off x="4616417" y="377895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Rounded Rectangle 51">
            <a:extLst>
              <a:ext uri="{FF2B5EF4-FFF2-40B4-BE49-F238E27FC236}">
                <a16:creationId xmlns:a16="http://schemas.microsoft.com/office/drawing/2014/main" id="{9EDF915A-DD7B-4071-BADC-CAD4D3FFF22C}"/>
              </a:ext>
            </a:extLst>
          </p:cNvPr>
          <p:cNvSpPr/>
          <p:nvPr/>
        </p:nvSpPr>
        <p:spPr>
          <a:xfrm>
            <a:off x="4616417" y="3778956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B26423AB-8305-4379-82FE-17693B7315CF}"/>
              </a:ext>
            </a:extLst>
          </p:cNvPr>
          <p:cNvSpPr txBox="1"/>
          <p:nvPr/>
        </p:nvSpPr>
        <p:spPr>
          <a:xfrm>
            <a:off x="4699206" y="3851772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75000"/>
                  </a:schemeClr>
                </a:solidFill>
              </a:rPr>
              <a:t>07  ¿CUÁNTO?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81626" y="70015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375" y="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590550" y="0"/>
                </a:moveTo>
                <a:lnTo>
                  <a:pt x="0" y="0"/>
                </a:lnTo>
                <a:lnTo>
                  <a:pt x="0" y="492125"/>
                </a:lnTo>
                <a:lnTo>
                  <a:pt x="7735" y="530435"/>
                </a:lnTo>
                <a:lnTo>
                  <a:pt x="28828" y="561721"/>
                </a:lnTo>
                <a:lnTo>
                  <a:pt x="60114" y="582814"/>
                </a:lnTo>
                <a:lnTo>
                  <a:pt x="98425" y="590550"/>
                </a:lnTo>
                <a:lnTo>
                  <a:pt x="492125" y="590550"/>
                </a:lnTo>
                <a:lnTo>
                  <a:pt x="530435" y="582814"/>
                </a:lnTo>
                <a:lnTo>
                  <a:pt x="561721" y="561720"/>
                </a:lnTo>
                <a:lnTo>
                  <a:pt x="582814" y="530435"/>
                </a:lnTo>
                <a:lnTo>
                  <a:pt x="590550" y="492125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8612" y="151930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0"/>
            <a:ext cx="952500" cy="5143500"/>
          </a:xfrm>
          <a:custGeom>
            <a:avLst/>
            <a:gdLst/>
            <a:ahLst/>
            <a:cxnLst/>
            <a:rect l="l" t="t" r="r" b="b"/>
            <a:pathLst>
              <a:path w="952500" h="5143500">
                <a:moveTo>
                  <a:pt x="952500" y="0"/>
                </a:moveTo>
                <a:lnTo>
                  <a:pt x="0" y="0"/>
                </a:lnTo>
                <a:lnTo>
                  <a:pt x="952500" y="5143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547" y="917257"/>
            <a:ext cx="1243965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85420" y="140969"/>
            <a:ext cx="8858631" cy="492763"/>
          </a:xfrm>
          <a:prstGeom prst="rect">
            <a:avLst/>
          </a:prstGeom>
        </p:spPr>
        <p:txBody>
          <a:bodyPr vert="horz" wrap="square" lIns="0" tIns="251777" rIns="0" bIns="0" rtlCol="0">
            <a:spAutoFit/>
          </a:bodyPr>
          <a:lstStyle/>
          <a:p>
            <a:pPr marL="4693920">
              <a:lnSpc>
                <a:spcPct val="100000"/>
              </a:lnSpc>
              <a:spcBef>
                <a:spcPts val="125"/>
              </a:spcBef>
            </a:pPr>
            <a:r>
              <a:rPr lang="es-AR" dirty="0"/>
              <a:t>5W2H — ¿Cómo ocurre actualmente?</a:t>
            </a:r>
            <a:endParaRPr spc="140" dirty="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5" y="1581150"/>
            <a:ext cx="3609975" cy="3486148"/>
          </a:xfrm>
          <a:prstGeom prst="rect">
            <a:avLst/>
          </a:prstGeom>
        </p:spPr>
      </p:pic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E5AE3BBE-A17F-4680-A081-A0B4B7FC502C}"/>
              </a:ext>
            </a:extLst>
          </p:cNvPr>
          <p:cNvSpPr/>
          <p:nvPr/>
        </p:nvSpPr>
        <p:spPr>
          <a:xfrm>
            <a:off x="4616417" y="81938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0C42CEBF-1642-4432-B364-184490389A2C}"/>
              </a:ext>
            </a:extLst>
          </p:cNvPr>
          <p:cNvSpPr/>
          <p:nvPr/>
        </p:nvSpPr>
        <p:spPr>
          <a:xfrm>
            <a:off x="4616417" y="81938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B6334435-B8C7-4530-B1B1-1E027A7C82B4}"/>
              </a:ext>
            </a:extLst>
          </p:cNvPr>
          <p:cNvSpPr txBox="1"/>
          <p:nvPr/>
        </p:nvSpPr>
        <p:spPr>
          <a:xfrm>
            <a:off x="4689493" y="88968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01  ¿QUÉ?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DBC67EC9-5F43-4166-8B3C-2AA87A9DB0E7}"/>
              </a:ext>
            </a:extLst>
          </p:cNvPr>
          <p:cNvSpPr txBox="1"/>
          <p:nvPr/>
        </p:nvSpPr>
        <p:spPr>
          <a:xfrm>
            <a:off x="5846162" y="812287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Tornillos y pequeños elementos metálicos llegan al piso durante el desembalaje.</a:t>
            </a:r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24938FA3-8791-4476-8462-7A0A861397FD}"/>
              </a:ext>
            </a:extLst>
          </p:cNvPr>
          <p:cNvSpPr/>
          <p:nvPr/>
        </p:nvSpPr>
        <p:spPr>
          <a:xfrm>
            <a:off x="4630024" y="1292888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D4E6F95D-7226-4C04-9999-1F5245D3044D}"/>
              </a:ext>
            </a:extLst>
          </p:cNvPr>
          <p:cNvSpPr/>
          <p:nvPr/>
        </p:nvSpPr>
        <p:spPr>
          <a:xfrm>
            <a:off x="4630024" y="1292888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extBox 32">
            <a:extLst>
              <a:ext uri="{FF2B5EF4-FFF2-40B4-BE49-F238E27FC236}">
                <a16:creationId xmlns:a16="http://schemas.microsoft.com/office/drawing/2014/main" id="{A149FBB8-673B-4861-B271-5BBE256667B4}"/>
              </a:ext>
            </a:extLst>
          </p:cNvPr>
          <p:cNvSpPr txBox="1"/>
          <p:nvPr/>
        </p:nvSpPr>
        <p:spPr>
          <a:xfrm>
            <a:off x="4661375" y="1374239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02  ¿POR QUÉ?</a:t>
            </a:r>
          </a:p>
        </p:txBody>
      </p:sp>
      <p:sp>
        <p:nvSpPr>
          <p:cNvPr id="19" name="TextBox 33">
            <a:extLst>
              <a:ext uri="{FF2B5EF4-FFF2-40B4-BE49-F238E27FC236}">
                <a16:creationId xmlns:a16="http://schemas.microsoft.com/office/drawing/2014/main" id="{E68FC279-4A58-45D9-A9D0-912CE427785D}"/>
              </a:ext>
            </a:extLst>
          </p:cNvPr>
          <p:cNvSpPr txBox="1"/>
          <p:nvPr/>
        </p:nvSpPr>
        <p:spPr>
          <a:xfrm>
            <a:off x="5833353" y="1299604"/>
            <a:ext cx="320451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 apertura y manipulación de los CKD, algunos elementos y terminan fuera de la zona de trabajo.</a:t>
            </a:r>
          </a:p>
        </p:txBody>
      </p:sp>
      <p:sp>
        <p:nvSpPr>
          <p:cNvPr id="20" name="Rounded Rectangle 34">
            <a:extLst>
              <a:ext uri="{FF2B5EF4-FFF2-40B4-BE49-F238E27FC236}">
                <a16:creationId xmlns:a16="http://schemas.microsoft.com/office/drawing/2014/main" id="{D70167CE-D77B-43B4-9C76-93303E777C07}"/>
              </a:ext>
            </a:extLst>
          </p:cNvPr>
          <p:cNvSpPr/>
          <p:nvPr/>
        </p:nvSpPr>
        <p:spPr>
          <a:xfrm>
            <a:off x="4616417" y="176408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752E7829-C1F7-47B8-B318-0D51744D9C44}"/>
              </a:ext>
            </a:extLst>
          </p:cNvPr>
          <p:cNvSpPr/>
          <p:nvPr/>
        </p:nvSpPr>
        <p:spPr>
          <a:xfrm>
            <a:off x="4616417" y="1764086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id="{8279BE78-DAA3-424E-B186-3E81C46AE7EE}"/>
              </a:ext>
            </a:extLst>
          </p:cNvPr>
          <p:cNvSpPr txBox="1"/>
          <p:nvPr/>
        </p:nvSpPr>
        <p:spPr>
          <a:xfrm>
            <a:off x="4680425" y="1858707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03  ¿CUÁNDO?</a:t>
            </a:r>
          </a:p>
        </p:txBody>
      </p:sp>
      <p:sp>
        <p:nvSpPr>
          <p:cNvPr id="23" name="TextBox 37">
            <a:extLst>
              <a:ext uri="{FF2B5EF4-FFF2-40B4-BE49-F238E27FC236}">
                <a16:creationId xmlns:a16="http://schemas.microsoft.com/office/drawing/2014/main" id="{213B7622-A363-4C97-A90A-D89478AA14D3}"/>
              </a:ext>
            </a:extLst>
          </p:cNvPr>
          <p:cNvSpPr txBox="1"/>
          <p:nvPr/>
        </p:nvSpPr>
        <p:spPr>
          <a:xfrm>
            <a:off x="5851356" y="1869032"/>
            <a:ext cx="300564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las operaciones de desembalaje.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D51B7111-3C73-4113-9820-B85A098C9D5C}"/>
              </a:ext>
            </a:extLst>
          </p:cNvPr>
          <p:cNvSpPr/>
          <p:nvPr/>
        </p:nvSpPr>
        <p:spPr>
          <a:xfrm>
            <a:off x="4616417" y="2262903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ounded Rectangle 39">
            <a:extLst>
              <a:ext uri="{FF2B5EF4-FFF2-40B4-BE49-F238E27FC236}">
                <a16:creationId xmlns:a16="http://schemas.microsoft.com/office/drawing/2014/main" id="{D85C55BD-DB92-4502-8DD0-6D79B65521B9}"/>
              </a:ext>
            </a:extLst>
          </p:cNvPr>
          <p:cNvSpPr/>
          <p:nvPr/>
        </p:nvSpPr>
        <p:spPr>
          <a:xfrm>
            <a:off x="4616417" y="2262903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BDC3A41B-A1E5-48E4-B839-B496317AE050}"/>
              </a:ext>
            </a:extLst>
          </p:cNvPr>
          <p:cNvSpPr txBox="1"/>
          <p:nvPr/>
        </p:nvSpPr>
        <p:spPr>
          <a:xfrm>
            <a:off x="4680425" y="2342441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10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s-AR" dirty="0"/>
              <a:t>04  ¿DÓNDE?</a:t>
            </a:r>
          </a:p>
        </p:txBody>
      </p:sp>
      <p:sp>
        <p:nvSpPr>
          <p:cNvPr id="27" name="TextBox 41">
            <a:extLst>
              <a:ext uri="{FF2B5EF4-FFF2-40B4-BE49-F238E27FC236}">
                <a16:creationId xmlns:a16="http://schemas.microsoft.com/office/drawing/2014/main" id="{C0B5CFBF-06C3-4452-BA3E-1AF3B93766BA}"/>
              </a:ext>
            </a:extLst>
          </p:cNvPr>
          <p:cNvSpPr txBox="1"/>
          <p:nvPr/>
        </p:nvSpPr>
        <p:spPr>
          <a:xfrm>
            <a:off x="5875313" y="2279794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En el área de desembalaje de MS Line 2 y en las calles de circulación adyacentes.</a:t>
            </a:r>
          </a:p>
        </p:txBody>
      </p:sp>
      <p:sp>
        <p:nvSpPr>
          <p:cNvPr id="28" name="Rounded Rectangle 42">
            <a:extLst>
              <a:ext uri="{FF2B5EF4-FFF2-40B4-BE49-F238E27FC236}">
                <a16:creationId xmlns:a16="http://schemas.microsoft.com/office/drawing/2014/main" id="{96FD8552-B5AA-40F4-A6A6-41B89CDFA648}"/>
              </a:ext>
            </a:extLst>
          </p:cNvPr>
          <p:cNvSpPr/>
          <p:nvPr/>
        </p:nvSpPr>
        <p:spPr>
          <a:xfrm>
            <a:off x="4616417" y="276816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Rounded Rectangle 43">
            <a:extLst>
              <a:ext uri="{FF2B5EF4-FFF2-40B4-BE49-F238E27FC236}">
                <a16:creationId xmlns:a16="http://schemas.microsoft.com/office/drawing/2014/main" id="{6CFFC504-A606-4552-857E-EAD3DC453D58}"/>
              </a:ext>
            </a:extLst>
          </p:cNvPr>
          <p:cNvSpPr/>
          <p:nvPr/>
        </p:nvSpPr>
        <p:spPr>
          <a:xfrm>
            <a:off x="4616417" y="2768160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TextBox 44">
            <a:extLst>
              <a:ext uri="{FF2B5EF4-FFF2-40B4-BE49-F238E27FC236}">
                <a16:creationId xmlns:a16="http://schemas.microsoft.com/office/drawing/2014/main" id="{CA51A8F3-026A-4D15-A9AA-684F99E9BEA1}"/>
              </a:ext>
            </a:extLst>
          </p:cNvPr>
          <p:cNvSpPr txBox="1"/>
          <p:nvPr/>
        </p:nvSpPr>
        <p:spPr>
          <a:xfrm>
            <a:off x="4654649" y="284841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05  ¿QUIÉN?</a:t>
            </a:r>
          </a:p>
        </p:txBody>
      </p:sp>
      <p:sp>
        <p:nvSpPr>
          <p:cNvPr id="32" name="Rounded Rectangle 46">
            <a:extLst>
              <a:ext uri="{FF2B5EF4-FFF2-40B4-BE49-F238E27FC236}">
                <a16:creationId xmlns:a16="http://schemas.microsoft.com/office/drawing/2014/main" id="{0169974A-CF9E-4B05-93BD-17D96A2E7FEF}"/>
              </a:ext>
            </a:extLst>
          </p:cNvPr>
          <p:cNvSpPr/>
          <p:nvPr/>
        </p:nvSpPr>
        <p:spPr>
          <a:xfrm>
            <a:off x="4616417" y="3273417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Rounded Rectangle 47">
            <a:extLst>
              <a:ext uri="{FF2B5EF4-FFF2-40B4-BE49-F238E27FC236}">
                <a16:creationId xmlns:a16="http://schemas.microsoft.com/office/drawing/2014/main" id="{0D83FFEF-BDA9-4291-8C20-A602611B8846}"/>
              </a:ext>
            </a:extLst>
          </p:cNvPr>
          <p:cNvSpPr/>
          <p:nvPr/>
        </p:nvSpPr>
        <p:spPr>
          <a:xfrm>
            <a:off x="4616417" y="3273417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88F4ADFC-4DC8-4515-ACE8-BE7277410A07}"/>
              </a:ext>
            </a:extLst>
          </p:cNvPr>
          <p:cNvSpPr txBox="1"/>
          <p:nvPr/>
        </p:nvSpPr>
        <p:spPr>
          <a:xfrm>
            <a:off x="4654649" y="3340845"/>
            <a:ext cx="110692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930" b="1" i="0">
                <a:solidFill>
                  <a:schemeClr val="bg1">
                    <a:lumMod val="85000"/>
                  </a:schemeClr>
                </a:solidFill>
                <a:latin typeface="Arial"/>
              </a:defRPr>
            </a:lvl1pPr>
          </a:lstStyle>
          <a:p>
            <a:r>
              <a:rPr lang="es-AR" dirty="0"/>
              <a:t>06  ¿CÓMO?</a:t>
            </a:r>
          </a:p>
        </p:txBody>
      </p:sp>
      <p:sp>
        <p:nvSpPr>
          <p:cNvPr id="36" name="Rounded Rectangle 50">
            <a:extLst>
              <a:ext uri="{FF2B5EF4-FFF2-40B4-BE49-F238E27FC236}">
                <a16:creationId xmlns:a16="http://schemas.microsoft.com/office/drawing/2014/main" id="{BAECACEC-4198-423C-BDB5-927786DC8EC0}"/>
              </a:ext>
            </a:extLst>
          </p:cNvPr>
          <p:cNvSpPr/>
          <p:nvPr/>
        </p:nvSpPr>
        <p:spPr>
          <a:xfrm>
            <a:off x="4616417" y="377895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Rounded Rectangle 51">
            <a:extLst>
              <a:ext uri="{FF2B5EF4-FFF2-40B4-BE49-F238E27FC236}">
                <a16:creationId xmlns:a16="http://schemas.microsoft.com/office/drawing/2014/main" id="{7E61EAB8-0F3C-4AC3-A5B0-E02D24E4F58B}"/>
              </a:ext>
            </a:extLst>
          </p:cNvPr>
          <p:cNvSpPr/>
          <p:nvPr/>
        </p:nvSpPr>
        <p:spPr>
          <a:xfrm>
            <a:off x="4616417" y="3778956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3DA44946-D1E7-4FEB-B87C-4DC0C385F024}"/>
              </a:ext>
            </a:extLst>
          </p:cNvPr>
          <p:cNvSpPr txBox="1"/>
          <p:nvPr/>
        </p:nvSpPr>
        <p:spPr>
          <a:xfrm>
            <a:off x="4699206" y="3851772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75000"/>
                  </a:schemeClr>
                </a:solidFill>
              </a:rPr>
              <a:t>07  ¿CUÁNTO?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81626" y="70015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375" y="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590550" y="0"/>
                </a:moveTo>
                <a:lnTo>
                  <a:pt x="0" y="0"/>
                </a:lnTo>
                <a:lnTo>
                  <a:pt x="0" y="492125"/>
                </a:lnTo>
                <a:lnTo>
                  <a:pt x="7735" y="530435"/>
                </a:lnTo>
                <a:lnTo>
                  <a:pt x="28828" y="561721"/>
                </a:lnTo>
                <a:lnTo>
                  <a:pt x="60114" y="582814"/>
                </a:lnTo>
                <a:lnTo>
                  <a:pt x="98425" y="590550"/>
                </a:lnTo>
                <a:lnTo>
                  <a:pt x="492125" y="590550"/>
                </a:lnTo>
                <a:lnTo>
                  <a:pt x="530435" y="582814"/>
                </a:lnTo>
                <a:lnTo>
                  <a:pt x="561721" y="561720"/>
                </a:lnTo>
                <a:lnTo>
                  <a:pt x="582814" y="530435"/>
                </a:lnTo>
                <a:lnTo>
                  <a:pt x="590550" y="492125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8612" y="151930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0"/>
            <a:ext cx="952500" cy="5143500"/>
          </a:xfrm>
          <a:custGeom>
            <a:avLst/>
            <a:gdLst/>
            <a:ahLst/>
            <a:cxnLst/>
            <a:rect l="l" t="t" r="r" b="b"/>
            <a:pathLst>
              <a:path w="952500" h="5143500">
                <a:moveTo>
                  <a:pt x="952500" y="0"/>
                </a:moveTo>
                <a:lnTo>
                  <a:pt x="0" y="0"/>
                </a:lnTo>
                <a:lnTo>
                  <a:pt x="952500" y="5143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547" y="917257"/>
            <a:ext cx="1243965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85420" y="140969"/>
            <a:ext cx="8858631" cy="492763"/>
          </a:xfrm>
          <a:prstGeom prst="rect">
            <a:avLst/>
          </a:prstGeom>
        </p:spPr>
        <p:txBody>
          <a:bodyPr vert="horz" wrap="square" lIns="0" tIns="251777" rIns="0" bIns="0" rtlCol="0">
            <a:spAutoFit/>
          </a:bodyPr>
          <a:lstStyle/>
          <a:p>
            <a:pPr marL="4693920">
              <a:lnSpc>
                <a:spcPct val="100000"/>
              </a:lnSpc>
              <a:spcBef>
                <a:spcPts val="125"/>
              </a:spcBef>
            </a:pPr>
            <a:r>
              <a:rPr lang="es-AR" dirty="0"/>
              <a:t>5W2H — ¿Cómo ocurre actualmente?</a:t>
            </a:r>
            <a:endParaRPr spc="-10" dirty="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5" y="1581150"/>
            <a:ext cx="3609975" cy="3486148"/>
          </a:xfrm>
          <a:prstGeom prst="rect">
            <a:avLst/>
          </a:prstGeom>
        </p:spPr>
      </p:pic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2D4C8707-E018-4CE7-B58B-8697C0C75473}"/>
              </a:ext>
            </a:extLst>
          </p:cNvPr>
          <p:cNvSpPr/>
          <p:nvPr/>
        </p:nvSpPr>
        <p:spPr>
          <a:xfrm>
            <a:off x="4616417" y="81938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4989C368-F14C-4D5E-8CFE-733F2F3B9046}"/>
              </a:ext>
            </a:extLst>
          </p:cNvPr>
          <p:cNvSpPr/>
          <p:nvPr/>
        </p:nvSpPr>
        <p:spPr>
          <a:xfrm>
            <a:off x="4616417" y="81938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F2C111EB-9983-418D-916F-BA99E6A30A06}"/>
              </a:ext>
            </a:extLst>
          </p:cNvPr>
          <p:cNvSpPr txBox="1"/>
          <p:nvPr/>
        </p:nvSpPr>
        <p:spPr>
          <a:xfrm>
            <a:off x="4689493" y="88968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01  ¿QUÉ?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73023899-ED1E-4C6F-9F71-13706C09ADA6}"/>
              </a:ext>
            </a:extLst>
          </p:cNvPr>
          <p:cNvSpPr txBox="1"/>
          <p:nvPr/>
        </p:nvSpPr>
        <p:spPr>
          <a:xfrm>
            <a:off x="5846162" y="812287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Tornillos y pequeños elementos metálicos llegan al piso durante el desembalaje.</a:t>
            </a:r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B36E42E4-79AB-4313-8C80-D8DAD3D3A392}"/>
              </a:ext>
            </a:extLst>
          </p:cNvPr>
          <p:cNvSpPr/>
          <p:nvPr/>
        </p:nvSpPr>
        <p:spPr>
          <a:xfrm>
            <a:off x="4630024" y="1292888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EC6E4146-AFBA-45FE-A425-B155AE60A746}"/>
              </a:ext>
            </a:extLst>
          </p:cNvPr>
          <p:cNvSpPr/>
          <p:nvPr/>
        </p:nvSpPr>
        <p:spPr>
          <a:xfrm>
            <a:off x="4630024" y="1292888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extBox 32">
            <a:extLst>
              <a:ext uri="{FF2B5EF4-FFF2-40B4-BE49-F238E27FC236}">
                <a16:creationId xmlns:a16="http://schemas.microsoft.com/office/drawing/2014/main" id="{2CA3B2EC-8048-4A7E-AEC5-CFC2D6684BFA}"/>
              </a:ext>
            </a:extLst>
          </p:cNvPr>
          <p:cNvSpPr txBox="1"/>
          <p:nvPr/>
        </p:nvSpPr>
        <p:spPr>
          <a:xfrm>
            <a:off x="4661375" y="1374239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02  ¿POR QUÉ?</a:t>
            </a:r>
          </a:p>
        </p:txBody>
      </p:sp>
      <p:sp>
        <p:nvSpPr>
          <p:cNvPr id="19" name="TextBox 33">
            <a:extLst>
              <a:ext uri="{FF2B5EF4-FFF2-40B4-BE49-F238E27FC236}">
                <a16:creationId xmlns:a16="http://schemas.microsoft.com/office/drawing/2014/main" id="{AE1DF34E-5A63-4119-B325-D1D87337C344}"/>
              </a:ext>
            </a:extLst>
          </p:cNvPr>
          <p:cNvSpPr txBox="1"/>
          <p:nvPr/>
        </p:nvSpPr>
        <p:spPr>
          <a:xfrm>
            <a:off x="5833353" y="1299604"/>
            <a:ext cx="320451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 apertura y manipulación de los CKD, algunos elementos y terminan fuera de la zona de trabajo.</a:t>
            </a:r>
          </a:p>
        </p:txBody>
      </p:sp>
      <p:sp>
        <p:nvSpPr>
          <p:cNvPr id="20" name="Rounded Rectangle 34">
            <a:extLst>
              <a:ext uri="{FF2B5EF4-FFF2-40B4-BE49-F238E27FC236}">
                <a16:creationId xmlns:a16="http://schemas.microsoft.com/office/drawing/2014/main" id="{81BEA1CD-70BE-4370-8BC2-A667568647B8}"/>
              </a:ext>
            </a:extLst>
          </p:cNvPr>
          <p:cNvSpPr/>
          <p:nvPr/>
        </p:nvSpPr>
        <p:spPr>
          <a:xfrm>
            <a:off x="4616417" y="176408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BC659CF6-AAF8-4E6F-B4EB-4ED12B478E47}"/>
              </a:ext>
            </a:extLst>
          </p:cNvPr>
          <p:cNvSpPr/>
          <p:nvPr/>
        </p:nvSpPr>
        <p:spPr>
          <a:xfrm>
            <a:off x="4616417" y="1764086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id="{7EAB29D5-CC20-45BE-BEB5-7B9DE77A4843}"/>
              </a:ext>
            </a:extLst>
          </p:cNvPr>
          <p:cNvSpPr txBox="1"/>
          <p:nvPr/>
        </p:nvSpPr>
        <p:spPr>
          <a:xfrm>
            <a:off x="4680425" y="1858707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03  ¿CUÁNDO?</a:t>
            </a:r>
          </a:p>
        </p:txBody>
      </p:sp>
      <p:sp>
        <p:nvSpPr>
          <p:cNvPr id="23" name="TextBox 37">
            <a:extLst>
              <a:ext uri="{FF2B5EF4-FFF2-40B4-BE49-F238E27FC236}">
                <a16:creationId xmlns:a16="http://schemas.microsoft.com/office/drawing/2014/main" id="{3F3A821A-FEC1-4C14-BFD5-333C59026447}"/>
              </a:ext>
            </a:extLst>
          </p:cNvPr>
          <p:cNvSpPr txBox="1"/>
          <p:nvPr/>
        </p:nvSpPr>
        <p:spPr>
          <a:xfrm>
            <a:off x="5851356" y="1869032"/>
            <a:ext cx="300564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las operaciones de desembalaje.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0250E380-48B4-4118-9ED7-EAFC52627AA5}"/>
              </a:ext>
            </a:extLst>
          </p:cNvPr>
          <p:cNvSpPr/>
          <p:nvPr/>
        </p:nvSpPr>
        <p:spPr>
          <a:xfrm>
            <a:off x="4616417" y="2262903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ounded Rectangle 39">
            <a:extLst>
              <a:ext uri="{FF2B5EF4-FFF2-40B4-BE49-F238E27FC236}">
                <a16:creationId xmlns:a16="http://schemas.microsoft.com/office/drawing/2014/main" id="{3AD0D827-8C9A-43E2-BE83-9FBBBA7BAA42}"/>
              </a:ext>
            </a:extLst>
          </p:cNvPr>
          <p:cNvSpPr/>
          <p:nvPr/>
        </p:nvSpPr>
        <p:spPr>
          <a:xfrm>
            <a:off x="4616417" y="2262903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49E525-837F-4FEA-A599-9B1890645D07}"/>
              </a:ext>
            </a:extLst>
          </p:cNvPr>
          <p:cNvSpPr txBox="1"/>
          <p:nvPr/>
        </p:nvSpPr>
        <p:spPr>
          <a:xfrm>
            <a:off x="4680425" y="2342441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04  ¿DÓNDE?</a:t>
            </a:r>
          </a:p>
        </p:txBody>
      </p:sp>
      <p:sp>
        <p:nvSpPr>
          <p:cNvPr id="27" name="TextBox 41">
            <a:extLst>
              <a:ext uri="{FF2B5EF4-FFF2-40B4-BE49-F238E27FC236}">
                <a16:creationId xmlns:a16="http://schemas.microsoft.com/office/drawing/2014/main" id="{FA0D2817-AF9D-4E23-965F-865F508F3113}"/>
              </a:ext>
            </a:extLst>
          </p:cNvPr>
          <p:cNvSpPr txBox="1"/>
          <p:nvPr/>
        </p:nvSpPr>
        <p:spPr>
          <a:xfrm>
            <a:off x="5875313" y="2279794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En el área de desembalaje de MS Line 2 y en las calles de circulación adyacentes.</a:t>
            </a:r>
          </a:p>
        </p:txBody>
      </p:sp>
      <p:sp>
        <p:nvSpPr>
          <p:cNvPr id="28" name="Rounded Rectangle 42">
            <a:extLst>
              <a:ext uri="{FF2B5EF4-FFF2-40B4-BE49-F238E27FC236}">
                <a16:creationId xmlns:a16="http://schemas.microsoft.com/office/drawing/2014/main" id="{4ADCB046-43B5-422E-8380-75ED00A32F26}"/>
              </a:ext>
            </a:extLst>
          </p:cNvPr>
          <p:cNvSpPr/>
          <p:nvPr/>
        </p:nvSpPr>
        <p:spPr>
          <a:xfrm>
            <a:off x="4616417" y="276816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Rounded Rectangle 43">
            <a:extLst>
              <a:ext uri="{FF2B5EF4-FFF2-40B4-BE49-F238E27FC236}">
                <a16:creationId xmlns:a16="http://schemas.microsoft.com/office/drawing/2014/main" id="{2B809E75-6E29-48A5-9A89-6018D348B0FC}"/>
              </a:ext>
            </a:extLst>
          </p:cNvPr>
          <p:cNvSpPr/>
          <p:nvPr/>
        </p:nvSpPr>
        <p:spPr>
          <a:xfrm>
            <a:off x="4616417" y="276816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TextBox 44">
            <a:extLst>
              <a:ext uri="{FF2B5EF4-FFF2-40B4-BE49-F238E27FC236}">
                <a16:creationId xmlns:a16="http://schemas.microsoft.com/office/drawing/2014/main" id="{D544839F-1EB8-4C24-83B8-275DC57C9016}"/>
              </a:ext>
            </a:extLst>
          </p:cNvPr>
          <p:cNvSpPr txBox="1"/>
          <p:nvPr/>
        </p:nvSpPr>
        <p:spPr>
          <a:xfrm>
            <a:off x="4654649" y="284841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10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s-AR" dirty="0"/>
              <a:t>05  ¿QUIÉN?</a:t>
            </a:r>
          </a:p>
        </p:txBody>
      </p:sp>
      <p:sp>
        <p:nvSpPr>
          <p:cNvPr id="31" name="TextBox 45">
            <a:extLst>
              <a:ext uri="{FF2B5EF4-FFF2-40B4-BE49-F238E27FC236}">
                <a16:creationId xmlns:a16="http://schemas.microsoft.com/office/drawing/2014/main" id="{177F686A-8484-47DA-95E5-977581CFBB89}"/>
              </a:ext>
            </a:extLst>
          </p:cNvPr>
          <p:cNvSpPr txBox="1"/>
          <p:nvPr/>
        </p:nvSpPr>
        <p:spPr>
          <a:xfrm>
            <a:off x="5875313" y="2761720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Asociados que realizan las tareas de desembalaje y limpieza del sector.</a:t>
            </a:r>
          </a:p>
        </p:txBody>
      </p:sp>
      <p:sp>
        <p:nvSpPr>
          <p:cNvPr id="32" name="Rounded Rectangle 46">
            <a:extLst>
              <a:ext uri="{FF2B5EF4-FFF2-40B4-BE49-F238E27FC236}">
                <a16:creationId xmlns:a16="http://schemas.microsoft.com/office/drawing/2014/main" id="{4C5C24C3-DB22-4105-A25A-9D1B8F8DE376}"/>
              </a:ext>
            </a:extLst>
          </p:cNvPr>
          <p:cNvSpPr/>
          <p:nvPr/>
        </p:nvSpPr>
        <p:spPr>
          <a:xfrm>
            <a:off x="4616417" y="3273417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Rounded Rectangle 47">
            <a:extLst>
              <a:ext uri="{FF2B5EF4-FFF2-40B4-BE49-F238E27FC236}">
                <a16:creationId xmlns:a16="http://schemas.microsoft.com/office/drawing/2014/main" id="{5B5E87DE-1185-4AEB-AEFE-75AD965B0EFC}"/>
              </a:ext>
            </a:extLst>
          </p:cNvPr>
          <p:cNvSpPr/>
          <p:nvPr/>
        </p:nvSpPr>
        <p:spPr>
          <a:xfrm>
            <a:off x="4616417" y="3273417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CC9D98FC-FD4B-4D30-8F9E-F4D52901FCAA}"/>
              </a:ext>
            </a:extLst>
          </p:cNvPr>
          <p:cNvSpPr txBox="1"/>
          <p:nvPr/>
        </p:nvSpPr>
        <p:spPr>
          <a:xfrm>
            <a:off x="4654649" y="3340845"/>
            <a:ext cx="110692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kern="0"/>
            </a:defPPr>
            <a:lvl1pPr algn="ctr">
              <a:defRPr sz="930" b="1" i="0">
                <a:solidFill>
                  <a:schemeClr val="bg1">
                    <a:lumMod val="85000"/>
                  </a:schemeClr>
                </a:solidFill>
                <a:latin typeface="Arial"/>
              </a:defRPr>
            </a:lvl1pPr>
          </a:lstStyle>
          <a:p>
            <a:r>
              <a:rPr lang="es-AR" dirty="0"/>
              <a:t>06  ¿CÓMO?</a:t>
            </a:r>
          </a:p>
        </p:txBody>
      </p:sp>
      <p:sp>
        <p:nvSpPr>
          <p:cNvPr id="36" name="Rounded Rectangle 50">
            <a:extLst>
              <a:ext uri="{FF2B5EF4-FFF2-40B4-BE49-F238E27FC236}">
                <a16:creationId xmlns:a16="http://schemas.microsoft.com/office/drawing/2014/main" id="{31904AB4-50D2-47DA-8F62-2EA6DFD40DAF}"/>
              </a:ext>
            </a:extLst>
          </p:cNvPr>
          <p:cNvSpPr/>
          <p:nvPr/>
        </p:nvSpPr>
        <p:spPr>
          <a:xfrm>
            <a:off x="4616417" y="377895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Rounded Rectangle 51">
            <a:extLst>
              <a:ext uri="{FF2B5EF4-FFF2-40B4-BE49-F238E27FC236}">
                <a16:creationId xmlns:a16="http://schemas.microsoft.com/office/drawing/2014/main" id="{7485F987-B046-4C5D-AA5E-0B2B2DC19E58}"/>
              </a:ext>
            </a:extLst>
          </p:cNvPr>
          <p:cNvSpPr/>
          <p:nvPr/>
        </p:nvSpPr>
        <p:spPr>
          <a:xfrm>
            <a:off x="4616417" y="3778956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BA089505-782B-435A-AAA6-9C0B5FCFAC82}"/>
              </a:ext>
            </a:extLst>
          </p:cNvPr>
          <p:cNvSpPr txBox="1"/>
          <p:nvPr/>
        </p:nvSpPr>
        <p:spPr>
          <a:xfrm>
            <a:off x="4699206" y="3851772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75000"/>
                  </a:schemeClr>
                </a:solidFill>
              </a:rPr>
              <a:t>07  ¿CUÁNTO?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81626" y="70015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375" y="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590550" y="0"/>
                </a:moveTo>
                <a:lnTo>
                  <a:pt x="0" y="0"/>
                </a:lnTo>
                <a:lnTo>
                  <a:pt x="0" y="492125"/>
                </a:lnTo>
                <a:lnTo>
                  <a:pt x="7735" y="530435"/>
                </a:lnTo>
                <a:lnTo>
                  <a:pt x="28828" y="561721"/>
                </a:lnTo>
                <a:lnTo>
                  <a:pt x="60114" y="582814"/>
                </a:lnTo>
                <a:lnTo>
                  <a:pt x="98425" y="590550"/>
                </a:lnTo>
                <a:lnTo>
                  <a:pt x="492125" y="590550"/>
                </a:lnTo>
                <a:lnTo>
                  <a:pt x="530435" y="582814"/>
                </a:lnTo>
                <a:lnTo>
                  <a:pt x="561721" y="561720"/>
                </a:lnTo>
                <a:lnTo>
                  <a:pt x="582814" y="530435"/>
                </a:lnTo>
                <a:lnTo>
                  <a:pt x="590550" y="492125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8612" y="151930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0"/>
            <a:ext cx="952500" cy="5143500"/>
          </a:xfrm>
          <a:custGeom>
            <a:avLst/>
            <a:gdLst/>
            <a:ahLst/>
            <a:cxnLst/>
            <a:rect l="l" t="t" r="r" b="b"/>
            <a:pathLst>
              <a:path w="952500" h="5143500">
                <a:moveTo>
                  <a:pt x="952500" y="0"/>
                </a:moveTo>
                <a:lnTo>
                  <a:pt x="0" y="0"/>
                </a:lnTo>
                <a:lnTo>
                  <a:pt x="952500" y="5143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547" y="917257"/>
            <a:ext cx="1243965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85420" y="140969"/>
            <a:ext cx="8858631" cy="492763"/>
          </a:xfrm>
          <a:prstGeom prst="rect">
            <a:avLst/>
          </a:prstGeom>
        </p:spPr>
        <p:txBody>
          <a:bodyPr vert="horz" wrap="square" lIns="0" tIns="251777" rIns="0" bIns="0" rtlCol="0">
            <a:spAutoFit/>
          </a:bodyPr>
          <a:lstStyle/>
          <a:p>
            <a:pPr marL="4693920">
              <a:lnSpc>
                <a:spcPct val="100000"/>
              </a:lnSpc>
              <a:spcBef>
                <a:spcPts val="125"/>
              </a:spcBef>
            </a:pPr>
            <a:r>
              <a:rPr lang="es-AR" dirty="0"/>
              <a:t>5W2H — ¿Cómo ocurre actualmente?</a:t>
            </a:r>
            <a:endParaRPr spc="-10" dirty="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5" y="1581150"/>
            <a:ext cx="3609975" cy="3486148"/>
          </a:xfrm>
          <a:prstGeom prst="rect">
            <a:avLst/>
          </a:prstGeom>
        </p:spPr>
      </p:pic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F900FE27-391B-435C-9C55-3EF51152E574}"/>
              </a:ext>
            </a:extLst>
          </p:cNvPr>
          <p:cNvSpPr/>
          <p:nvPr/>
        </p:nvSpPr>
        <p:spPr>
          <a:xfrm>
            <a:off x="4616417" y="81938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4267FA40-1A00-4294-95C1-2B83BB29BED6}"/>
              </a:ext>
            </a:extLst>
          </p:cNvPr>
          <p:cNvSpPr/>
          <p:nvPr/>
        </p:nvSpPr>
        <p:spPr>
          <a:xfrm>
            <a:off x="4616417" y="81938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82334F27-D752-494C-8E71-874D610F42CE}"/>
              </a:ext>
            </a:extLst>
          </p:cNvPr>
          <p:cNvSpPr txBox="1"/>
          <p:nvPr/>
        </p:nvSpPr>
        <p:spPr>
          <a:xfrm>
            <a:off x="4689493" y="88968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01  ¿QUÉ?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6E403442-EF69-41C6-B49C-31D1FAD15A3F}"/>
              </a:ext>
            </a:extLst>
          </p:cNvPr>
          <p:cNvSpPr txBox="1"/>
          <p:nvPr/>
        </p:nvSpPr>
        <p:spPr>
          <a:xfrm>
            <a:off x="5846162" y="812287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Tornillos y pequeños elementos metálicos llegan al piso durante el desembalaje.</a:t>
            </a:r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E0EDF20C-B506-4CF8-A88E-C168E71CDE1A}"/>
              </a:ext>
            </a:extLst>
          </p:cNvPr>
          <p:cNvSpPr/>
          <p:nvPr/>
        </p:nvSpPr>
        <p:spPr>
          <a:xfrm>
            <a:off x="4630024" y="1292888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5823316D-2457-43ED-B3F3-24708FA3682E}"/>
              </a:ext>
            </a:extLst>
          </p:cNvPr>
          <p:cNvSpPr/>
          <p:nvPr/>
        </p:nvSpPr>
        <p:spPr>
          <a:xfrm>
            <a:off x="4630024" y="1292888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extBox 32">
            <a:extLst>
              <a:ext uri="{FF2B5EF4-FFF2-40B4-BE49-F238E27FC236}">
                <a16:creationId xmlns:a16="http://schemas.microsoft.com/office/drawing/2014/main" id="{EA90276A-00FD-41D4-8112-26B24C686203}"/>
              </a:ext>
            </a:extLst>
          </p:cNvPr>
          <p:cNvSpPr txBox="1"/>
          <p:nvPr/>
        </p:nvSpPr>
        <p:spPr>
          <a:xfrm>
            <a:off x="4661375" y="1374239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02  ¿POR QUÉ?</a:t>
            </a:r>
          </a:p>
        </p:txBody>
      </p:sp>
      <p:sp>
        <p:nvSpPr>
          <p:cNvPr id="19" name="TextBox 33">
            <a:extLst>
              <a:ext uri="{FF2B5EF4-FFF2-40B4-BE49-F238E27FC236}">
                <a16:creationId xmlns:a16="http://schemas.microsoft.com/office/drawing/2014/main" id="{98053037-50CD-4F5C-90AA-63EB3D52DF45}"/>
              </a:ext>
            </a:extLst>
          </p:cNvPr>
          <p:cNvSpPr txBox="1"/>
          <p:nvPr/>
        </p:nvSpPr>
        <p:spPr>
          <a:xfrm>
            <a:off x="5833353" y="1299604"/>
            <a:ext cx="320451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 apertura y manipulación de los CKD, algunos elementos y terminan fuera de la zona de trabajo.</a:t>
            </a:r>
          </a:p>
        </p:txBody>
      </p:sp>
      <p:sp>
        <p:nvSpPr>
          <p:cNvPr id="20" name="Rounded Rectangle 34">
            <a:extLst>
              <a:ext uri="{FF2B5EF4-FFF2-40B4-BE49-F238E27FC236}">
                <a16:creationId xmlns:a16="http://schemas.microsoft.com/office/drawing/2014/main" id="{DC68EE62-2895-4BE8-9BE1-A706E4DE906E}"/>
              </a:ext>
            </a:extLst>
          </p:cNvPr>
          <p:cNvSpPr/>
          <p:nvPr/>
        </p:nvSpPr>
        <p:spPr>
          <a:xfrm>
            <a:off x="4616417" y="176408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12DE1417-E401-4F05-9739-4974303396C5}"/>
              </a:ext>
            </a:extLst>
          </p:cNvPr>
          <p:cNvSpPr/>
          <p:nvPr/>
        </p:nvSpPr>
        <p:spPr>
          <a:xfrm>
            <a:off x="4616417" y="1764086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id="{59D30FAF-A199-44AA-A9AB-237D9FDCB55E}"/>
              </a:ext>
            </a:extLst>
          </p:cNvPr>
          <p:cNvSpPr txBox="1"/>
          <p:nvPr/>
        </p:nvSpPr>
        <p:spPr>
          <a:xfrm>
            <a:off x="4680425" y="1858707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03  ¿CUÁNDO?</a:t>
            </a:r>
          </a:p>
        </p:txBody>
      </p:sp>
      <p:sp>
        <p:nvSpPr>
          <p:cNvPr id="23" name="TextBox 37">
            <a:extLst>
              <a:ext uri="{FF2B5EF4-FFF2-40B4-BE49-F238E27FC236}">
                <a16:creationId xmlns:a16="http://schemas.microsoft.com/office/drawing/2014/main" id="{714BA0ED-3C34-46FF-9302-63B33CF7C734}"/>
              </a:ext>
            </a:extLst>
          </p:cNvPr>
          <p:cNvSpPr txBox="1"/>
          <p:nvPr/>
        </p:nvSpPr>
        <p:spPr>
          <a:xfrm>
            <a:off x="5851356" y="1869032"/>
            <a:ext cx="300564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las operaciones de desembalaje.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6DB60588-39C9-4DC5-BCCF-D2337E062C55}"/>
              </a:ext>
            </a:extLst>
          </p:cNvPr>
          <p:cNvSpPr/>
          <p:nvPr/>
        </p:nvSpPr>
        <p:spPr>
          <a:xfrm>
            <a:off x="4616417" y="2262903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ounded Rectangle 39">
            <a:extLst>
              <a:ext uri="{FF2B5EF4-FFF2-40B4-BE49-F238E27FC236}">
                <a16:creationId xmlns:a16="http://schemas.microsoft.com/office/drawing/2014/main" id="{01DE153B-90F1-46FD-86A3-FAEC6302766B}"/>
              </a:ext>
            </a:extLst>
          </p:cNvPr>
          <p:cNvSpPr/>
          <p:nvPr/>
        </p:nvSpPr>
        <p:spPr>
          <a:xfrm>
            <a:off x="4616417" y="2262903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D31EB674-CEA7-463A-8A98-8C442F947041}"/>
              </a:ext>
            </a:extLst>
          </p:cNvPr>
          <p:cNvSpPr txBox="1"/>
          <p:nvPr/>
        </p:nvSpPr>
        <p:spPr>
          <a:xfrm>
            <a:off x="4680425" y="2342441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04  ¿DÓNDE?</a:t>
            </a:r>
          </a:p>
        </p:txBody>
      </p:sp>
      <p:sp>
        <p:nvSpPr>
          <p:cNvPr id="27" name="TextBox 41">
            <a:extLst>
              <a:ext uri="{FF2B5EF4-FFF2-40B4-BE49-F238E27FC236}">
                <a16:creationId xmlns:a16="http://schemas.microsoft.com/office/drawing/2014/main" id="{E28EE799-C393-4704-8456-F5D45E9314A5}"/>
              </a:ext>
            </a:extLst>
          </p:cNvPr>
          <p:cNvSpPr txBox="1"/>
          <p:nvPr/>
        </p:nvSpPr>
        <p:spPr>
          <a:xfrm>
            <a:off x="5875313" y="2279794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En el área de desembalaje de MS Line 2 y en las calles de circulación adyacentes.</a:t>
            </a:r>
          </a:p>
        </p:txBody>
      </p:sp>
      <p:sp>
        <p:nvSpPr>
          <p:cNvPr id="28" name="Rounded Rectangle 42">
            <a:extLst>
              <a:ext uri="{FF2B5EF4-FFF2-40B4-BE49-F238E27FC236}">
                <a16:creationId xmlns:a16="http://schemas.microsoft.com/office/drawing/2014/main" id="{70F14A41-0EBD-4240-8712-CC345E509A41}"/>
              </a:ext>
            </a:extLst>
          </p:cNvPr>
          <p:cNvSpPr/>
          <p:nvPr/>
        </p:nvSpPr>
        <p:spPr>
          <a:xfrm>
            <a:off x="4616417" y="276816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Rounded Rectangle 43">
            <a:extLst>
              <a:ext uri="{FF2B5EF4-FFF2-40B4-BE49-F238E27FC236}">
                <a16:creationId xmlns:a16="http://schemas.microsoft.com/office/drawing/2014/main" id="{83420D98-6415-4D7B-B4B1-371F1A376C65}"/>
              </a:ext>
            </a:extLst>
          </p:cNvPr>
          <p:cNvSpPr/>
          <p:nvPr/>
        </p:nvSpPr>
        <p:spPr>
          <a:xfrm>
            <a:off x="4616417" y="276816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TextBox 44">
            <a:extLst>
              <a:ext uri="{FF2B5EF4-FFF2-40B4-BE49-F238E27FC236}">
                <a16:creationId xmlns:a16="http://schemas.microsoft.com/office/drawing/2014/main" id="{D4B4BDE8-8C43-4483-8547-FAD657FEA2E5}"/>
              </a:ext>
            </a:extLst>
          </p:cNvPr>
          <p:cNvSpPr txBox="1"/>
          <p:nvPr/>
        </p:nvSpPr>
        <p:spPr>
          <a:xfrm>
            <a:off x="4654649" y="284841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05  ¿QUIÉN?</a:t>
            </a:r>
          </a:p>
        </p:txBody>
      </p:sp>
      <p:sp>
        <p:nvSpPr>
          <p:cNvPr id="31" name="TextBox 45">
            <a:extLst>
              <a:ext uri="{FF2B5EF4-FFF2-40B4-BE49-F238E27FC236}">
                <a16:creationId xmlns:a16="http://schemas.microsoft.com/office/drawing/2014/main" id="{FA09EBED-ACA8-4266-B617-50446A48AFB5}"/>
              </a:ext>
            </a:extLst>
          </p:cNvPr>
          <p:cNvSpPr txBox="1"/>
          <p:nvPr/>
        </p:nvSpPr>
        <p:spPr>
          <a:xfrm>
            <a:off x="5875313" y="2761720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Asociados que realizan las tareas de desembalaje y limpieza del sector.</a:t>
            </a:r>
          </a:p>
        </p:txBody>
      </p:sp>
      <p:sp>
        <p:nvSpPr>
          <p:cNvPr id="32" name="Rounded Rectangle 46">
            <a:extLst>
              <a:ext uri="{FF2B5EF4-FFF2-40B4-BE49-F238E27FC236}">
                <a16:creationId xmlns:a16="http://schemas.microsoft.com/office/drawing/2014/main" id="{4C0C080B-E669-4063-A889-7678DDEBE3BA}"/>
              </a:ext>
            </a:extLst>
          </p:cNvPr>
          <p:cNvSpPr/>
          <p:nvPr/>
        </p:nvSpPr>
        <p:spPr>
          <a:xfrm>
            <a:off x="4616417" y="3273417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Rounded Rectangle 47">
            <a:extLst>
              <a:ext uri="{FF2B5EF4-FFF2-40B4-BE49-F238E27FC236}">
                <a16:creationId xmlns:a16="http://schemas.microsoft.com/office/drawing/2014/main" id="{6A3E4630-E73A-44CF-8713-E76FC2896BDC}"/>
              </a:ext>
            </a:extLst>
          </p:cNvPr>
          <p:cNvSpPr/>
          <p:nvPr/>
        </p:nvSpPr>
        <p:spPr>
          <a:xfrm>
            <a:off x="4616417" y="3273417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1F871F9C-BA4D-4D78-9224-1D5CF567A3ED}"/>
              </a:ext>
            </a:extLst>
          </p:cNvPr>
          <p:cNvSpPr txBox="1"/>
          <p:nvPr/>
        </p:nvSpPr>
        <p:spPr>
          <a:xfrm>
            <a:off x="4654649" y="3340845"/>
            <a:ext cx="110692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sz="1000" dirty="0"/>
              <a:t>06  ¿CÓMO?</a:t>
            </a:r>
          </a:p>
        </p:txBody>
      </p:sp>
      <p:sp>
        <p:nvSpPr>
          <p:cNvPr id="35" name="TextBox 49">
            <a:extLst>
              <a:ext uri="{FF2B5EF4-FFF2-40B4-BE49-F238E27FC236}">
                <a16:creationId xmlns:a16="http://schemas.microsoft.com/office/drawing/2014/main" id="{A258E31C-B5C7-4287-817D-EF4C59FAF9B1}"/>
              </a:ext>
            </a:extLst>
          </p:cNvPr>
          <p:cNvSpPr txBox="1"/>
          <p:nvPr/>
        </p:nvSpPr>
        <p:spPr>
          <a:xfrm>
            <a:off x="5862491" y="3272998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Actualmente se utiliza una escoba convencional para realizar la limpieza.</a:t>
            </a:r>
          </a:p>
        </p:txBody>
      </p:sp>
      <p:sp>
        <p:nvSpPr>
          <p:cNvPr id="36" name="Rounded Rectangle 50">
            <a:extLst>
              <a:ext uri="{FF2B5EF4-FFF2-40B4-BE49-F238E27FC236}">
                <a16:creationId xmlns:a16="http://schemas.microsoft.com/office/drawing/2014/main" id="{27A72AB8-D57E-4E87-AFC3-1A2187F1CE22}"/>
              </a:ext>
            </a:extLst>
          </p:cNvPr>
          <p:cNvSpPr/>
          <p:nvPr/>
        </p:nvSpPr>
        <p:spPr>
          <a:xfrm>
            <a:off x="4616417" y="377895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Rounded Rectangle 51">
            <a:extLst>
              <a:ext uri="{FF2B5EF4-FFF2-40B4-BE49-F238E27FC236}">
                <a16:creationId xmlns:a16="http://schemas.microsoft.com/office/drawing/2014/main" id="{EE09AA67-0D88-4BA5-87C6-8C58BEFE9C7B}"/>
              </a:ext>
            </a:extLst>
          </p:cNvPr>
          <p:cNvSpPr/>
          <p:nvPr/>
        </p:nvSpPr>
        <p:spPr>
          <a:xfrm>
            <a:off x="4616417" y="3778956"/>
            <a:ext cx="1245289" cy="384721"/>
          </a:xfrm>
          <a:prstGeom prst="roundRect">
            <a:avLst/>
          </a:prstGeom>
          <a:solidFill>
            <a:srgbClr val="60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TextBox 52">
            <a:extLst>
              <a:ext uri="{FF2B5EF4-FFF2-40B4-BE49-F238E27FC236}">
                <a16:creationId xmlns:a16="http://schemas.microsoft.com/office/drawing/2014/main" id="{0BA6C4AF-80E0-43AE-A2CA-BD303FBF6BB7}"/>
              </a:ext>
            </a:extLst>
          </p:cNvPr>
          <p:cNvSpPr txBox="1"/>
          <p:nvPr/>
        </p:nvSpPr>
        <p:spPr>
          <a:xfrm>
            <a:off x="4699206" y="3851772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75000"/>
                  </a:schemeClr>
                </a:solidFill>
              </a:rPr>
              <a:t>07  ¿CUÁNTO?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EC1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3375" y="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590550" y="0"/>
                </a:moveTo>
                <a:lnTo>
                  <a:pt x="0" y="0"/>
                </a:lnTo>
                <a:lnTo>
                  <a:pt x="0" y="492125"/>
                </a:lnTo>
                <a:lnTo>
                  <a:pt x="7735" y="530435"/>
                </a:lnTo>
                <a:lnTo>
                  <a:pt x="28828" y="561721"/>
                </a:lnTo>
                <a:lnTo>
                  <a:pt x="60114" y="582814"/>
                </a:lnTo>
                <a:lnTo>
                  <a:pt x="98425" y="590550"/>
                </a:lnTo>
                <a:lnTo>
                  <a:pt x="492125" y="590550"/>
                </a:lnTo>
                <a:lnTo>
                  <a:pt x="530435" y="582814"/>
                </a:lnTo>
                <a:lnTo>
                  <a:pt x="561721" y="561720"/>
                </a:lnTo>
                <a:lnTo>
                  <a:pt x="582814" y="530435"/>
                </a:lnTo>
                <a:lnTo>
                  <a:pt x="590550" y="492125"/>
                </a:lnTo>
                <a:lnTo>
                  <a:pt x="590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8612" y="1519300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99" y="0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0"/>
            <a:ext cx="952500" cy="5143500"/>
          </a:xfrm>
          <a:custGeom>
            <a:avLst/>
            <a:gdLst/>
            <a:ahLst/>
            <a:cxnLst/>
            <a:rect l="l" t="t" r="r" b="b"/>
            <a:pathLst>
              <a:path w="952500" h="5143500">
                <a:moveTo>
                  <a:pt x="952500" y="0"/>
                </a:moveTo>
                <a:lnTo>
                  <a:pt x="0" y="0"/>
                </a:lnTo>
                <a:lnTo>
                  <a:pt x="952500" y="5143500"/>
                </a:lnTo>
                <a:lnTo>
                  <a:pt x="9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6547" y="917257"/>
            <a:ext cx="1243965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situación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5" y="1581150"/>
            <a:ext cx="3609975" cy="3486148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0DC4825B-D4A2-409F-A045-3A20A29C0734}"/>
              </a:ext>
            </a:extLst>
          </p:cNvPr>
          <p:cNvSpPr/>
          <p:nvPr/>
        </p:nvSpPr>
        <p:spPr>
          <a:xfrm>
            <a:off x="4881626" y="70015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object 9" descr="$PPTXTitle">
            <a:extLst>
              <a:ext uri="{FF2B5EF4-FFF2-40B4-BE49-F238E27FC236}">
                <a16:creationId xmlns:a16="http://schemas.microsoft.com/office/drawing/2014/main" id="{B3F5EB15-4215-42EA-9B18-5689DC2423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420" y="140969"/>
            <a:ext cx="8858631" cy="492763"/>
          </a:xfrm>
          <a:prstGeom prst="rect">
            <a:avLst/>
          </a:prstGeom>
        </p:spPr>
        <p:txBody>
          <a:bodyPr vert="horz" wrap="square" lIns="0" tIns="251777" rIns="0" bIns="0" rtlCol="0">
            <a:spAutoFit/>
          </a:bodyPr>
          <a:lstStyle/>
          <a:p>
            <a:pPr marL="4693920">
              <a:lnSpc>
                <a:spcPct val="100000"/>
              </a:lnSpc>
              <a:spcBef>
                <a:spcPts val="125"/>
              </a:spcBef>
            </a:pPr>
            <a:r>
              <a:rPr lang="es-AR" dirty="0"/>
              <a:t>5W2H — ¿Cómo ocurre actualmente?</a:t>
            </a:r>
            <a:endParaRPr spc="-10" dirty="0"/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CC21E42D-4A07-436F-8578-354456FAC3F6}"/>
              </a:ext>
            </a:extLst>
          </p:cNvPr>
          <p:cNvSpPr/>
          <p:nvPr/>
        </p:nvSpPr>
        <p:spPr>
          <a:xfrm>
            <a:off x="4616417" y="81938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2EBFA58E-DABE-45E2-B068-A74E44FBC4F4}"/>
              </a:ext>
            </a:extLst>
          </p:cNvPr>
          <p:cNvSpPr/>
          <p:nvPr/>
        </p:nvSpPr>
        <p:spPr>
          <a:xfrm>
            <a:off x="4616417" y="81938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id="{B8F11BE5-C5E1-4092-948E-13EB267C9E3C}"/>
              </a:ext>
            </a:extLst>
          </p:cNvPr>
          <p:cNvSpPr txBox="1"/>
          <p:nvPr/>
        </p:nvSpPr>
        <p:spPr>
          <a:xfrm>
            <a:off x="4689493" y="88968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01  ¿QUÉ?</a:t>
            </a:r>
          </a:p>
        </p:txBody>
      </p:sp>
      <p:sp>
        <p:nvSpPr>
          <p:cNvPr id="22" name="TextBox 29">
            <a:extLst>
              <a:ext uri="{FF2B5EF4-FFF2-40B4-BE49-F238E27FC236}">
                <a16:creationId xmlns:a16="http://schemas.microsoft.com/office/drawing/2014/main" id="{45998EE7-DFBC-4130-A610-30F06D067D85}"/>
              </a:ext>
            </a:extLst>
          </p:cNvPr>
          <p:cNvSpPr txBox="1"/>
          <p:nvPr/>
        </p:nvSpPr>
        <p:spPr>
          <a:xfrm>
            <a:off x="5846162" y="812287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Tornillos y pequeños elementos metálicos llegan al piso durante el desembalaje.</a:t>
            </a:r>
          </a:p>
        </p:txBody>
      </p:sp>
      <p:sp>
        <p:nvSpPr>
          <p:cNvPr id="24" name="Rounded Rectangle 30">
            <a:extLst>
              <a:ext uri="{FF2B5EF4-FFF2-40B4-BE49-F238E27FC236}">
                <a16:creationId xmlns:a16="http://schemas.microsoft.com/office/drawing/2014/main" id="{FBDF9F2E-FF36-474C-92A0-A0433F2E0BE0}"/>
              </a:ext>
            </a:extLst>
          </p:cNvPr>
          <p:cNvSpPr/>
          <p:nvPr/>
        </p:nvSpPr>
        <p:spPr>
          <a:xfrm>
            <a:off x="4630024" y="1292888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ounded Rectangle 31">
            <a:extLst>
              <a:ext uri="{FF2B5EF4-FFF2-40B4-BE49-F238E27FC236}">
                <a16:creationId xmlns:a16="http://schemas.microsoft.com/office/drawing/2014/main" id="{8DC3E7F2-0497-42CC-B42F-C8E24DEA187E}"/>
              </a:ext>
            </a:extLst>
          </p:cNvPr>
          <p:cNvSpPr/>
          <p:nvPr/>
        </p:nvSpPr>
        <p:spPr>
          <a:xfrm>
            <a:off x="4630024" y="1292888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TextBox 32">
            <a:extLst>
              <a:ext uri="{FF2B5EF4-FFF2-40B4-BE49-F238E27FC236}">
                <a16:creationId xmlns:a16="http://schemas.microsoft.com/office/drawing/2014/main" id="{C66BF52E-666D-4DCB-B828-C2A70E644C47}"/>
              </a:ext>
            </a:extLst>
          </p:cNvPr>
          <p:cNvSpPr txBox="1"/>
          <p:nvPr/>
        </p:nvSpPr>
        <p:spPr>
          <a:xfrm>
            <a:off x="4661375" y="1374239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02  ¿POR QUÉ?</a:t>
            </a:r>
          </a:p>
        </p:txBody>
      </p:sp>
      <p:sp>
        <p:nvSpPr>
          <p:cNvPr id="27" name="TextBox 33">
            <a:extLst>
              <a:ext uri="{FF2B5EF4-FFF2-40B4-BE49-F238E27FC236}">
                <a16:creationId xmlns:a16="http://schemas.microsoft.com/office/drawing/2014/main" id="{1973B6D0-C9B1-4785-A986-25D211C5875D}"/>
              </a:ext>
            </a:extLst>
          </p:cNvPr>
          <p:cNvSpPr txBox="1"/>
          <p:nvPr/>
        </p:nvSpPr>
        <p:spPr>
          <a:xfrm>
            <a:off x="5833353" y="1299604"/>
            <a:ext cx="320451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 apertura y manipulación de los CKD, algunos elementos y terminan fuera de la zona de trabajo.</a:t>
            </a:r>
          </a:p>
        </p:txBody>
      </p:sp>
      <p:sp>
        <p:nvSpPr>
          <p:cNvPr id="29" name="Rounded Rectangle 34">
            <a:extLst>
              <a:ext uri="{FF2B5EF4-FFF2-40B4-BE49-F238E27FC236}">
                <a16:creationId xmlns:a16="http://schemas.microsoft.com/office/drawing/2014/main" id="{F457A395-73CB-4DB0-BE3C-509EA7C2DBE6}"/>
              </a:ext>
            </a:extLst>
          </p:cNvPr>
          <p:cNvSpPr/>
          <p:nvPr/>
        </p:nvSpPr>
        <p:spPr>
          <a:xfrm>
            <a:off x="4616417" y="176408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FBB3E25A-9690-44AB-98FD-E879FB44D135}"/>
              </a:ext>
            </a:extLst>
          </p:cNvPr>
          <p:cNvSpPr/>
          <p:nvPr/>
        </p:nvSpPr>
        <p:spPr>
          <a:xfrm>
            <a:off x="4616417" y="1764086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TextBox 36">
            <a:extLst>
              <a:ext uri="{FF2B5EF4-FFF2-40B4-BE49-F238E27FC236}">
                <a16:creationId xmlns:a16="http://schemas.microsoft.com/office/drawing/2014/main" id="{366AFC73-89E6-451C-A0C9-921E09FF3C67}"/>
              </a:ext>
            </a:extLst>
          </p:cNvPr>
          <p:cNvSpPr txBox="1"/>
          <p:nvPr/>
        </p:nvSpPr>
        <p:spPr>
          <a:xfrm>
            <a:off x="4680425" y="1858707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03  ¿CUÁNDO?</a:t>
            </a:r>
          </a:p>
        </p:txBody>
      </p:sp>
      <p:sp>
        <p:nvSpPr>
          <p:cNvPr id="32" name="TextBox 37">
            <a:extLst>
              <a:ext uri="{FF2B5EF4-FFF2-40B4-BE49-F238E27FC236}">
                <a16:creationId xmlns:a16="http://schemas.microsoft.com/office/drawing/2014/main" id="{64CBC0D4-06E1-486F-9D4C-EC05332E3DEE}"/>
              </a:ext>
            </a:extLst>
          </p:cNvPr>
          <p:cNvSpPr txBox="1"/>
          <p:nvPr/>
        </p:nvSpPr>
        <p:spPr>
          <a:xfrm>
            <a:off x="5851356" y="1869032"/>
            <a:ext cx="300564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Durante las operaciones de desembalaje.</a:t>
            </a:r>
          </a:p>
        </p:txBody>
      </p:sp>
      <p:sp>
        <p:nvSpPr>
          <p:cNvPr id="34" name="Rounded Rectangle 38">
            <a:extLst>
              <a:ext uri="{FF2B5EF4-FFF2-40B4-BE49-F238E27FC236}">
                <a16:creationId xmlns:a16="http://schemas.microsoft.com/office/drawing/2014/main" id="{600D21B7-E7FB-4AC2-8CDF-6A9A78778E3A}"/>
              </a:ext>
            </a:extLst>
          </p:cNvPr>
          <p:cNvSpPr/>
          <p:nvPr/>
        </p:nvSpPr>
        <p:spPr>
          <a:xfrm>
            <a:off x="4616417" y="2262903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Rounded Rectangle 39">
            <a:extLst>
              <a:ext uri="{FF2B5EF4-FFF2-40B4-BE49-F238E27FC236}">
                <a16:creationId xmlns:a16="http://schemas.microsoft.com/office/drawing/2014/main" id="{4EFC2BB9-4DDE-45A5-BAA5-20D686610448}"/>
              </a:ext>
            </a:extLst>
          </p:cNvPr>
          <p:cNvSpPr/>
          <p:nvPr/>
        </p:nvSpPr>
        <p:spPr>
          <a:xfrm>
            <a:off x="4616417" y="2262903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6" name="TextBox 40">
            <a:extLst>
              <a:ext uri="{FF2B5EF4-FFF2-40B4-BE49-F238E27FC236}">
                <a16:creationId xmlns:a16="http://schemas.microsoft.com/office/drawing/2014/main" id="{3EA701C1-6F27-45C0-859E-631E8E6D8634}"/>
              </a:ext>
            </a:extLst>
          </p:cNvPr>
          <p:cNvSpPr txBox="1"/>
          <p:nvPr/>
        </p:nvSpPr>
        <p:spPr>
          <a:xfrm>
            <a:off x="4680425" y="2342441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04  ¿DÓNDE?</a:t>
            </a:r>
          </a:p>
        </p:txBody>
      </p:sp>
      <p:sp>
        <p:nvSpPr>
          <p:cNvPr id="37" name="TextBox 41">
            <a:extLst>
              <a:ext uri="{FF2B5EF4-FFF2-40B4-BE49-F238E27FC236}">
                <a16:creationId xmlns:a16="http://schemas.microsoft.com/office/drawing/2014/main" id="{0B52F420-419C-4F09-BAEB-2470E3C0A822}"/>
              </a:ext>
            </a:extLst>
          </p:cNvPr>
          <p:cNvSpPr txBox="1"/>
          <p:nvPr/>
        </p:nvSpPr>
        <p:spPr>
          <a:xfrm>
            <a:off x="5875313" y="2279794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En el área de desembalaje de MS Line 2 y en las calles de circulación adyacentes.</a:t>
            </a:r>
          </a:p>
        </p:txBody>
      </p:sp>
      <p:sp>
        <p:nvSpPr>
          <p:cNvPr id="39" name="Rounded Rectangle 42">
            <a:extLst>
              <a:ext uri="{FF2B5EF4-FFF2-40B4-BE49-F238E27FC236}">
                <a16:creationId xmlns:a16="http://schemas.microsoft.com/office/drawing/2014/main" id="{31EC7EFE-D166-4F4F-A7F4-B107E2545063}"/>
              </a:ext>
            </a:extLst>
          </p:cNvPr>
          <p:cNvSpPr/>
          <p:nvPr/>
        </p:nvSpPr>
        <p:spPr>
          <a:xfrm>
            <a:off x="4616417" y="2768160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Rounded Rectangle 43">
            <a:extLst>
              <a:ext uri="{FF2B5EF4-FFF2-40B4-BE49-F238E27FC236}">
                <a16:creationId xmlns:a16="http://schemas.microsoft.com/office/drawing/2014/main" id="{BEEB8806-C39D-48EE-AFB9-3B17B48D9394}"/>
              </a:ext>
            </a:extLst>
          </p:cNvPr>
          <p:cNvSpPr/>
          <p:nvPr/>
        </p:nvSpPr>
        <p:spPr>
          <a:xfrm>
            <a:off x="4616417" y="2768160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1" name="TextBox 44">
            <a:extLst>
              <a:ext uri="{FF2B5EF4-FFF2-40B4-BE49-F238E27FC236}">
                <a16:creationId xmlns:a16="http://schemas.microsoft.com/office/drawing/2014/main" id="{E9D2718D-B291-47D6-8578-FEEA127204E2}"/>
              </a:ext>
            </a:extLst>
          </p:cNvPr>
          <p:cNvSpPr txBox="1"/>
          <p:nvPr/>
        </p:nvSpPr>
        <p:spPr>
          <a:xfrm>
            <a:off x="4654649" y="2848413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05  ¿QUIÉN?</a:t>
            </a:r>
          </a:p>
        </p:txBody>
      </p:sp>
      <p:sp>
        <p:nvSpPr>
          <p:cNvPr id="42" name="TextBox 45">
            <a:extLst>
              <a:ext uri="{FF2B5EF4-FFF2-40B4-BE49-F238E27FC236}">
                <a16:creationId xmlns:a16="http://schemas.microsoft.com/office/drawing/2014/main" id="{C6FB0414-FD1E-4930-A6E7-6EEE22C3BE1C}"/>
              </a:ext>
            </a:extLst>
          </p:cNvPr>
          <p:cNvSpPr txBox="1"/>
          <p:nvPr/>
        </p:nvSpPr>
        <p:spPr>
          <a:xfrm>
            <a:off x="5875313" y="2761720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Asociados que realizan las tareas de desembalaje y limpieza del sector.</a:t>
            </a:r>
          </a:p>
        </p:txBody>
      </p:sp>
      <p:sp>
        <p:nvSpPr>
          <p:cNvPr id="44" name="Rounded Rectangle 46">
            <a:extLst>
              <a:ext uri="{FF2B5EF4-FFF2-40B4-BE49-F238E27FC236}">
                <a16:creationId xmlns:a16="http://schemas.microsoft.com/office/drawing/2014/main" id="{89E87E07-6EAF-46EA-B7CB-59E6815FF869}"/>
              </a:ext>
            </a:extLst>
          </p:cNvPr>
          <p:cNvSpPr/>
          <p:nvPr/>
        </p:nvSpPr>
        <p:spPr>
          <a:xfrm>
            <a:off x="4616417" y="3273417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Rounded Rectangle 47">
            <a:extLst>
              <a:ext uri="{FF2B5EF4-FFF2-40B4-BE49-F238E27FC236}">
                <a16:creationId xmlns:a16="http://schemas.microsoft.com/office/drawing/2014/main" id="{0FF45997-EE47-42DF-9594-CD0E06628ECC}"/>
              </a:ext>
            </a:extLst>
          </p:cNvPr>
          <p:cNvSpPr/>
          <p:nvPr/>
        </p:nvSpPr>
        <p:spPr>
          <a:xfrm>
            <a:off x="4616417" y="3273417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6" name="TextBox 48">
            <a:extLst>
              <a:ext uri="{FF2B5EF4-FFF2-40B4-BE49-F238E27FC236}">
                <a16:creationId xmlns:a16="http://schemas.microsoft.com/office/drawing/2014/main" id="{4591D2FE-16B0-44DA-A2E3-66A461FD4790}"/>
              </a:ext>
            </a:extLst>
          </p:cNvPr>
          <p:cNvSpPr txBox="1"/>
          <p:nvPr/>
        </p:nvSpPr>
        <p:spPr>
          <a:xfrm>
            <a:off x="4654649" y="3346231"/>
            <a:ext cx="1106923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dirty="0">
                <a:solidFill>
                  <a:schemeClr val="bg1">
                    <a:lumMod val="85000"/>
                  </a:schemeClr>
                </a:solidFill>
              </a:rPr>
              <a:t>06  ¿CÓMO?</a:t>
            </a:r>
          </a:p>
        </p:txBody>
      </p:sp>
      <p:sp>
        <p:nvSpPr>
          <p:cNvPr id="47" name="TextBox 49">
            <a:extLst>
              <a:ext uri="{FF2B5EF4-FFF2-40B4-BE49-F238E27FC236}">
                <a16:creationId xmlns:a16="http://schemas.microsoft.com/office/drawing/2014/main" id="{D05F87E2-E8EF-496F-8508-B7DC1738C82C}"/>
              </a:ext>
            </a:extLst>
          </p:cNvPr>
          <p:cNvSpPr txBox="1"/>
          <p:nvPr/>
        </p:nvSpPr>
        <p:spPr>
          <a:xfrm>
            <a:off x="5862491" y="3272998"/>
            <a:ext cx="3005646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Actualmente se utiliza una escoba convencional para realizar la limpieza.</a:t>
            </a:r>
          </a:p>
        </p:txBody>
      </p:sp>
      <p:sp>
        <p:nvSpPr>
          <p:cNvPr id="49" name="Rounded Rectangle 50">
            <a:extLst>
              <a:ext uri="{FF2B5EF4-FFF2-40B4-BE49-F238E27FC236}">
                <a16:creationId xmlns:a16="http://schemas.microsoft.com/office/drawing/2014/main" id="{B3CEFBA0-A55A-4210-AA7E-D493941A4793}"/>
              </a:ext>
            </a:extLst>
          </p:cNvPr>
          <p:cNvSpPr/>
          <p:nvPr/>
        </p:nvSpPr>
        <p:spPr>
          <a:xfrm>
            <a:off x="4616417" y="3778956"/>
            <a:ext cx="4349815" cy="384721"/>
          </a:xfrm>
          <a:prstGeom prst="roundRect">
            <a:avLst/>
          </a:prstGeom>
          <a:solidFill>
            <a:srgbClr val="FFFFFF"/>
          </a:solidFill>
          <a:ln>
            <a:solidFill>
              <a:srgbClr val="E0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0" name="Rounded Rectangle 51">
            <a:extLst>
              <a:ext uri="{FF2B5EF4-FFF2-40B4-BE49-F238E27FC236}">
                <a16:creationId xmlns:a16="http://schemas.microsoft.com/office/drawing/2014/main" id="{5FAEE12B-C61F-46BA-B7B9-85C3781EEC8E}"/>
              </a:ext>
            </a:extLst>
          </p:cNvPr>
          <p:cNvSpPr/>
          <p:nvPr/>
        </p:nvSpPr>
        <p:spPr>
          <a:xfrm>
            <a:off x="4616417" y="3778956"/>
            <a:ext cx="1245289" cy="384721"/>
          </a:xfrm>
          <a:prstGeom prst="roundRect">
            <a:avLst/>
          </a:prstGeom>
          <a:solidFill>
            <a:srgbClr val="EF1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1" name="TextBox 52">
            <a:extLst>
              <a:ext uri="{FF2B5EF4-FFF2-40B4-BE49-F238E27FC236}">
                <a16:creationId xmlns:a16="http://schemas.microsoft.com/office/drawing/2014/main" id="{E91A1F8D-DB40-49F1-9845-6E919E1532FC}"/>
              </a:ext>
            </a:extLst>
          </p:cNvPr>
          <p:cNvSpPr txBox="1"/>
          <p:nvPr/>
        </p:nvSpPr>
        <p:spPr>
          <a:xfrm>
            <a:off x="4699206" y="3846386"/>
            <a:ext cx="110692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1" i="0">
                <a:solidFill>
                  <a:srgbClr val="FFFFFF"/>
                </a:solidFill>
                <a:latin typeface="Arial"/>
              </a:defRPr>
            </a:pPr>
            <a:r>
              <a:rPr lang="es-AR" sz="1000" dirty="0"/>
              <a:t>07  ¿CUÁNTO?</a:t>
            </a:r>
          </a:p>
        </p:txBody>
      </p:sp>
      <p:sp>
        <p:nvSpPr>
          <p:cNvPr id="52" name="TextBox 53">
            <a:extLst>
              <a:ext uri="{FF2B5EF4-FFF2-40B4-BE49-F238E27FC236}">
                <a16:creationId xmlns:a16="http://schemas.microsoft.com/office/drawing/2014/main" id="{E52DF816-6EDB-4E07-B8BC-973AC2DDC271}"/>
              </a:ext>
            </a:extLst>
          </p:cNvPr>
          <p:cNvSpPr txBox="1"/>
          <p:nvPr/>
        </p:nvSpPr>
        <p:spPr>
          <a:xfrm>
            <a:off x="5863065" y="3806713"/>
            <a:ext cx="3090921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 i="0">
                <a:solidFill>
                  <a:srgbClr val="1F384C"/>
                </a:solidFill>
                <a:latin typeface="Arial"/>
              </a:defRPr>
            </a:pPr>
            <a:r>
              <a:rPr lang="es-AR" dirty="0"/>
              <a:t>La frecuencia es recurrente durante el desembalaje; la cantidad será cuantificada durante la implementación.</a:t>
            </a:r>
          </a:p>
        </p:txBody>
      </p:sp>
      <p:sp>
        <p:nvSpPr>
          <p:cNvPr id="53" name="Rounded Rectangle 54">
            <a:extLst>
              <a:ext uri="{FF2B5EF4-FFF2-40B4-BE49-F238E27FC236}">
                <a16:creationId xmlns:a16="http://schemas.microsoft.com/office/drawing/2014/main" id="{0C327578-E275-46D9-860D-4E519842BBFE}"/>
              </a:ext>
            </a:extLst>
          </p:cNvPr>
          <p:cNvSpPr/>
          <p:nvPr/>
        </p:nvSpPr>
        <p:spPr>
          <a:xfrm>
            <a:off x="4622413" y="4284495"/>
            <a:ext cx="4357426" cy="746834"/>
          </a:xfrm>
          <a:prstGeom prst="roundRect">
            <a:avLst/>
          </a:prstGeom>
          <a:solidFill>
            <a:srgbClr val="47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defRPr sz="919" b="1" i="0">
                <a:solidFill>
                  <a:srgbClr val="1F384C"/>
                </a:solidFill>
                <a:latin typeface="Arial"/>
              </a:defRPr>
            </a:pPr>
            <a:r>
              <a:rPr lang="es-AR"/>
              <a:t>CONCLUSIÓN DEL ANÁLISIS</a:t>
            </a:r>
            <a:endParaRPr lang="es-AR" dirty="0"/>
          </a:p>
        </p:txBody>
      </p:sp>
      <p:sp>
        <p:nvSpPr>
          <p:cNvPr id="55" name="TextBox 56">
            <a:extLst>
              <a:ext uri="{FF2B5EF4-FFF2-40B4-BE49-F238E27FC236}">
                <a16:creationId xmlns:a16="http://schemas.microsoft.com/office/drawing/2014/main" id="{D8694670-4472-4873-A494-A146F7B7B58C}"/>
              </a:ext>
            </a:extLst>
          </p:cNvPr>
          <p:cNvSpPr txBox="1"/>
          <p:nvPr/>
        </p:nvSpPr>
        <p:spPr>
          <a:xfrm>
            <a:off x="4780528" y="4499980"/>
            <a:ext cx="404119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 i="0">
                <a:solidFill>
                  <a:srgbClr val="1F384C"/>
                </a:solidFill>
                <a:latin typeface="Arial"/>
              </a:defRPr>
            </a:pPr>
            <a:r>
              <a:rPr lang="es-AR" sz="1050" dirty="0"/>
              <a:t>No contamos con una herramienta específica para recuperar y segregar rápidamente los elementos metálicos del piso.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6CCFF6"/>
                </a:solidFill>
                <a:latin typeface="Arial Black"/>
                <a:cs typeface="Arial Black"/>
              </a:rPr>
              <a:t>6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95700" y="1901962"/>
            <a:ext cx="1856739" cy="101091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3950" spc="45" dirty="0">
                <a:solidFill>
                  <a:srgbClr val="FFFFFF"/>
                </a:solidFill>
              </a:rPr>
              <a:t>Análisis</a:t>
            </a:r>
            <a:endParaRPr sz="3950"/>
          </a:p>
          <a:p>
            <a:pPr marL="3810" algn="ctr">
              <a:lnSpc>
                <a:spcPct val="100000"/>
              </a:lnSpc>
              <a:spcBef>
                <a:spcPts val="220"/>
              </a:spcBef>
            </a:pP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dirty="0">
                <a:solidFill>
                  <a:srgbClr val="FFFFFF"/>
                </a:solidFill>
                <a:latin typeface="Trebuchet MS"/>
                <a:cs typeface="Trebuchet MS"/>
              </a:rPr>
              <a:t>las</a:t>
            </a:r>
            <a:r>
              <a:rPr sz="2000" b="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55" dirty="0">
                <a:solidFill>
                  <a:srgbClr val="FFFFFF"/>
                </a:solidFill>
                <a:latin typeface="Trebuchet MS"/>
                <a:cs typeface="Trebuchet MS"/>
              </a:rPr>
              <a:t>causas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0"/>
                  </a:moveTo>
                  <a:lnTo>
                    <a:pt x="8884285" y="0"/>
                  </a:lnTo>
                  <a:lnTo>
                    <a:pt x="8884285" y="250190"/>
                  </a:lnTo>
                  <a:lnTo>
                    <a:pt x="8884285" y="4883150"/>
                  </a:lnTo>
                  <a:lnTo>
                    <a:pt x="259765" y="4883150"/>
                  </a:lnTo>
                  <a:lnTo>
                    <a:pt x="259765" y="250190"/>
                  </a:lnTo>
                  <a:lnTo>
                    <a:pt x="8884285" y="250190"/>
                  </a:lnTo>
                  <a:lnTo>
                    <a:pt x="8884285" y="0"/>
                  </a:lnTo>
                  <a:lnTo>
                    <a:pt x="0" y="0"/>
                  </a:lnTo>
                  <a:lnTo>
                    <a:pt x="0" y="250190"/>
                  </a:lnTo>
                  <a:lnTo>
                    <a:pt x="0" y="48831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4883734"/>
                  </a:lnTo>
                  <a:lnTo>
                    <a:pt x="9144000" y="4883150"/>
                  </a:lnTo>
                  <a:lnTo>
                    <a:pt x="9144000" y="25019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91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48150" y="0"/>
              <a:ext cx="647700" cy="352425"/>
            </a:xfrm>
            <a:custGeom>
              <a:avLst/>
              <a:gdLst/>
              <a:ahLst/>
              <a:cxnLst/>
              <a:rect l="l" t="t" r="r" b="b"/>
              <a:pathLst>
                <a:path w="647700" h="352425">
                  <a:moveTo>
                    <a:pt x="647700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4746" y="315563"/>
                  </a:lnTo>
                  <a:lnTo>
                    <a:pt x="17684" y="334740"/>
                  </a:lnTo>
                  <a:lnTo>
                    <a:pt x="36861" y="347678"/>
                  </a:lnTo>
                  <a:lnTo>
                    <a:pt x="60325" y="352425"/>
                  </a:lnTo>
                  <a:lnTo>
                    <a:pt x="587375" y="352425"/>
                  </a:lnTo>
                  <a:lnTo>
                    <a:pt x="610838" y="347678"/>
                  </a:lnTo>
                  <a:lnTo>
                    <a:pt x="630015" y="334740"/>
                  </a:lnTo>
                  <a:lnTo>
                    <a:pt x="642953" y="315563"/>
                  </a:lnTo>
                  <a:lnTo>
                    <a:pt x="647700" y="292100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0" y="142875"/>
              <a:ext cx="571500" cy="180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1314450"/>
              <a:ext cx="6496050" cy="23177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595765" y="1656314"/>
            <a:ext cx="1266681" cy="394980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78105" marR="5080" indent="-66040" algn="l">
              <a:spcBef>
                <a:spcPts val="160"/>
              </a:spcBef>
            </a:pPr>
            <a:r>
              <a:rPr lang="es-MX" sz="800" dirty="0">
                <a:solidFill>
                  <a:srgbClr val="FF0000"/>
                </a:solidFill>
                <a:latin typeface="Arial Narrow" panose="020B0606020202030204" pitchFamily="34" charset="0"/>
              </a:rPr>
              <a:t>Herramienta convencional </a:t>
            </a:r>
          </a:p>
          <a:p>
            <a:pPr marR="5080" indent="12700" algn="l">
              <a:spcBef>
                <a:spcPts val="160"/>
              </a:spcBef>
            </a:pPr>
            <a:r>
              <a:rPr lang="es-MX" sz="800" dirty="0">
                <a:solidFill>
                  <a:srgbClr val="FF0000"/>
                </a:solidFill>
                <a:latin typeface="Arial Narrow" panose="020B0606020202030204" pitchFamily="34" charset="0"/>
              </a:rPr>
              <a:t>sin capacidad de recuperación magnética.</a:t>
            </a:r>
            <a:endParaRPr lang="es-AR" sz="800" noProof="1">
              <a:solidFill>
                <a:srgbClr val="FF0000"/>
              </a:solidFill>
              <a:latin typeface="Arial Narrow" panose="020B0606020202030204" pitchFamily="34" charset="0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4390" y="1608679"/>
            <a:ext cx="963446" cy="380873"/>
          </a:xfrm>
          <a:prstGeom prst="rect">
            <a:avLst/>
          </a:prstGeom>
          <a:ln>
            <a:noFill/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5080" algn="l">
              <a:spcBef>
                <a:spcPts val="90"/>
              </a:spcBef>
            </a:pPr>
            <a:r>
              <a:rPr lang="es-MX" sz="800" dirty="0">
                <a:latin typeface="Arial Narrow" panose="020B0606020202030204" pitchFamily="34" charset="0"/>
              </a:rPr>
              <a:t>Los elementos pueden caer en zonas de trabajo y circulación.</a:t>
            </a:r>
            <a:endParaRPr sz="800" dirty="0">
              <a:latin typeface="Arial Narrow" panose="020B0606020202030204" pitchFamily="34" charset="0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60157" y="2835929"/>
            <a:ext cx="1353142" cy="492443"/>
          </a:xfrm>
          <a:prstGeom prst="rect">
            <a:avLst/>
          </a:prstGeom>
          <a:ln w="317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s-MX" sz="800" dirty="0">
                <a:latin typeface="Arial Narrow" panose="020B0606020202030204" pitchFamily="34" charset="0"/>
              </a:rPr>
              <a:t>Tornillos y pequeños elementos metálicos pueden desprenderse durante la apertura y </a:t>
            </a:r>
          </a:p>
          <a:p>
            <a:pPr algn="l"/>
            <a:r>
              <a:rPr lang="es-MX" sz="800" dirty="0">
                <a:latin typeface="Arial Narrow" panose="020B0606020202030204" pitchFamily="34" charset="0"/>
              </a:rPr>
              <a:t>el desembalaje de CKD.</a:t>
            </a:r>
            <a:endParaRPr sz="800" dirty="0">
              <a:latin typeface="Arial Narrow" panose="020B0606020202030204" pitchFamily="34" charset="0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19815" y="2837681"/>
            <a:ext cx="1103390" cy="492443"/>
          </a:xfrm>
          <a:prstGeom prst="rect">
            <a:avLst/>
          </a:prstGeom>
          <a:ln w="3175"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29845" marR="22225" indent="635" algn="l">
              <a:spcBef>
                <a:spcPts val="855"/>
              </a:spcBef>
            </a:pPr>
            <a:r>
              <a:rPr lang="es-AR" sz="800" dirty="0">
                <a:latin typeface="Arial Narrow" panose="020B0606020202030204" pitchFamily="34" charset="0"/>
              </a:rPr>
              <a:t>No existe un indicador específico para cuantificar los elementos metálicos recuperados.</a:t>
            </a:r>
            <a:endParaRPr sz="800" dirty="0">
              <a:latin typeface="Arial Narrow" panose="020B0606020202030204" pitchFamily="34" charset="0"/>
              <a:cs typeface="Arial MT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29148"/>
              </p:ext>
            </p:extLst>
          </p:nvPr>
        </p:nvGraphicFramePr>
        <p:xfrm>
          <a:off x="312480" y="768572"/>
          <a:ext cx="6651625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4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4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20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0975">
                <a:tc gridSpan="7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Causa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6350" marB="0" anchor="ctr">
                    <a:lnL w="3175">
                      <a:solidFill>
                        <a:srgbClr val="4E6C92"/>
                      </a:solidFill>
                      <a:prstDash val="solid"/>
                    </a:lnL>
                    <a:lnR w="3175">
                      <a:solidFill>
                        <a:srgbClr val="4E6C92"/>
                      </a:solidFill>
                      <a:prstDash val="solid"/>
                    </a:lnR>
                    <a:lnT w="3175">
                      <a:solidFill>
                        <a:srgbClr val="4E6C92"/>
                      </a:solidFill>
                      <a:prstDash val="solid"/>
                    </a:lnT>
                    <a:lnB w="3175">
                      <a:solidFill>
                        <a:srgbClr val="4E6C92"/>
                      </a:solidFill>
                      <a:prstDash val="solid"/>
                    </a:lnB>
                    <a:solidFill>
                      <a:srgbClr val="6CCF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R w="9525">
                      <a:solidFill>
                        <a:srgbClr val="4E6C92"/>
                      </a:solidFill>
                      <a:prstDash val="solid"/>
                    </a:lnR>
                    <a:lnT w="3175">
                      <a:solidFill>
                        <a:srgbClr val="4E6C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Mano</a:t>
                      </a:r>
                      <a:r>
                        <a:rPr sz="900" b="1" spc="-15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900" b="1" spc="-55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Obra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683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T w="3175">
                      <a:solidFill>
                        <a:srgbClr val="4E6C92"/>
                      </a:solidFill>
                      <a:prstDash val="solid"/>
                    </a:lnT>
                    <a:lnB w="952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T w="3175">
                      <a:solidFill>
                        <a:srgbClr val="4E6C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59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spc="-1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Máquina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683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T w="3175">
                      <a:solidFill>
                        <a:srgbClr val="4E6C92"/>
                      </a:solidFill>
                      <a:prstDash val="solid"/>
                    </a:lnT>
                    <a:lnB w="952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T w="3175">
                      <a:solidFill>
                        <a:srgbClr val="4E6C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b="1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Medio</a:t>
                      </a:r>
                      <a:r>
                        <a:rPr sz="900" b="1" spc="-45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Ambiente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683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T w="3175">
                      <a:solidFill>
                        <a:srgbClr val="4E6C92"/>
                      </a:solidFill>
                      <a:prstDash val="solid"/>
                    </a:lnT>
                    <a:lnB w="952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T w="3175">
                      <a:solidFill>
                        <a:srgbClr val="4E6C9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7167626" y="757301"/>
            <a:ext cx="1619250" cy="180975"/>
          </a:xfrm>
          <a:prstGeom prst="rect">
            <a:avLst/>
          </a:prstGeom>
          <a:solidFill>
            <a:srgbClr val="333333"/>
          </a:solidFill>
          <a:ln w="3175">
            <a:solidFill>
              <a:srgbClr val="4E6C92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50"/>
              </a:spcBef>
            </a:pPr>
            <a:r>
              <a:rPr sz="900" b="1" spc="-10" dirty="0">
                <a:solidFill>
                  <a:srgbClr val="6CCFF6"/>
                </a:solidFill>
                <a:latin typeface="Calibri"/>
                <a:cs typeface="Calibri"/>
              </a:rPr>
              <a:t>Efecto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986333" y="1354936"/>
            <a:ext cx="2895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Good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6" name="object 4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162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340"/>
              </a:spcBef>
            </a:pPr>
            <a:r>
              <a:rPr dirty="0"/>
              <a:t>Análisis</a:t>
            </a:r>
            <a:r>
              <a:rPr spc="-6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65" dirty="0"/>
              <a:t>las</a:t>
            </a:r>
            <a:r>
              <a:rPr spc="40" dirty="0"/>
              <a:t> </a:t>
            </a:r>
            <a:r>
              <a:rPr spc="65" dirty="0"/>
              <a:t>causas</a:t>
            </a:r>
          </a:p>
          <a:p>
            <a:pPr marL="170180">
              <a:lnSpc>
                <a:spcPct val="100000"/>
              </a:lnSpc>
              <a:spcBef>
                <a:spcPts val="165"/>
              </a:spcBef>
            </a:pPr>
            <a:r>
              <a:rPr sz="950" b="0" dirty="0">
                <a:latin typeface="Trebuchet MS"/>
                <a:cs typeface="Trebuchet MS"/>
              </a:rPr>
              <a:t>Diagrama</a:t>
            </a:r>
            <a:r>
              <a:rPr sz="950" b="0" spc="50" dirty="0">
                <a:latin typeface="Trebuchet MS"/>
                <a:cs typeface="Trebuchet MS"/>
              </a:rPr>
              <a:t> </a:t>
            </a:r>
            <a:r>
              <a:rPr sz="950" b="0" dirty="0">
                <a:latin typeface="Trebuchet MS"/>
                <a:cs typeface="Trebuchet MS"/>
              </a:rPr>
              <a:t>espina</a:t>
            </a:r>
            <a:r>
              <a:rPr sz="950" b="0" spc="55" dirty="0">
                <a:latin typeface="Trebuchet MS"/>
                <a:cs typeface="Trebuchet MS"/>
              </a:rPr>
              <a:t> </a:t>
            </a:r>
            <a:r>
              <a:rPr sz="950" b="0" dirty="0">
                <a:latin typeface="Trebuchet MS"/>
                <a:cs typeface="Trebuchet MS"/>
              </a:rPr>
              <a:t>de</a:t>
            </a:r>
            <a:r>
              <a:rPr sz="950" b="0" spc="-55" dirty="0">
                <a:latin typeface="Trebuchet MS"/>
                <a:cs typeface="Trebuchet MS"/>
              </a:rPr>
              <a:t> </a:t>
            </a:r>
            <a:r>
              <a:rPr sz="950" b="0" spc="-10" dirty="0">
                <a:latin typeface="Trebuchet MS"/>
                <a:cs typeface="Trebuchet MS"/>
              </a:rPr>
              <a:t>pescado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04800" y="4375132"/>
            <a:ext cx="6653212" cy="487380"/>
          </a:xfrm>
          <a:custGeom>
            <a:avLst/>
            <a:gdLst/>
            <a:ahLst/>
            <a:cxnLst/>
            <a:rect l="l" t="t" r="r" b="b"/>
            <a:pathLst>
              <a:path w="5829300" h="714375">
                <a:moveTo>
                  <a:pt x="0" y="714375"/>
                </a:moveTo>
                <a:lnTo>
                  <a:pt x="5829300" y="714375"/>
                </a:lnTo>
                <a:lnTo>
                  <a:pt x="5829300" y="0"/>
                </a:lnTo>
                <a:lnTo>
                  <a:pt x="0" y="0"/>
                </a:lnTo>
                <a:lnTo>
                  <a:pt x="0" y="714375"/>
                </a:lnTo>
                <a:close/>
              </a:path>
            </a:pathLst>
          </a:custGeom>
          <a:ln w="3175">
            <a:solidFill>
              <a:srgbClr val="A6A6A6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s-MX" sz="1200" dirty="0">
                <a:latin typeface="Bahnschrift SemiLight" panose="020B0502040204020203" pitchFamily="34" charset="0"/>
                <a:ea typeface="HYSWLongFangSong" panose="02010600000101010101" pitchFamily="2" charset="-122"/>
              </a:rPr>
              <a:t>No existe una herramienta ni un método específico para recuperar y segregar rápidamente los elementos metálicos que caen durante el desembalaje de CKD.</a:t>
            </a:r>
            <a:endParaRPr sz="1200" dirty="0">
              <a:latin typeface="Bahnschrift SemiLight" panose="020B0502040204020203" pitchFamily="34" charset="0"/>
              <a:ea typeface="HYSWLongFangSong" panose="02010600000101010101" pitchFamily="2" charset="-122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54926" y="1676082"/>
            <a:ext cx="164528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755" algn="l"/>
                <a:tab pos="1631950" algn="l"/>
              </a:tabLst>
            </a:pPr>
            <a:r>
              <a:rPr sz="1100" u="sng" dirty="0">
                <a:solidFill>
                  <a:srgbClr val="4E6C92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	</a:t>
            </a:r>
            <a:r>
              <a:rPr sz="1100" u="sng" spc="-10" dirty="0">
                <a:solidFill>
                  <a:srgbClr val="4E6C92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Problema</a:t>
            </a:r>
            <a:r>
              <a:rPr sz="1100" u="sng" dirty="0">
                <a:solidFill>
                  <a:srgbClr val="4E6C92"/>
                </a:solidFill>
                <a:uFill>
                  <a:solidFill>
                    <a:srgbClr val="333333"/>
                  </a:solidFill>
                </a:uFill>
                <a:latin typeface="Calibri"/>
                <a:cs typeface="Calibri"/>
              </a:rPr>
              <a:t>	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25529" y="2008804"/>
            <a:ext cx="1434275" cy="346249"/>
          </a:xfrm>
          <a:prstGeom prst="rect">
            <a:avLst/>
          </a:prstGeom>
          <a:ln w="317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80010" algn="l">
              <a:lnSpc>
                <a:spcPts val="880"/>
              </a:lnSpc>
            </a:pPr>
            <a:r>
              <a:rPr lang="es-MX" sz="800" dirty="0">
                <a:latin typeface="Arial Narrow" panose="020B0606020202030204" pitchFamily="34" charset="0"/>
              </a:rPr>
              <a:t>La separación de los elementos metálicos se realiza durante la limpieza del sector.</a:t>
            </a:r>
            <a:endParaRPr sz="800" dirty="0">
              <a:latin typeface="Arial Narrow" panose="020B0606020202030204" pitchFamily="34" charset="0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45880" y="2727272"/>
            <a:ext cx="1676400" cy="253403"/>
          </a:xfrm>
          <a:prstGeom prst="rect">
            <a:avLst/>
          </a:prstGeom>
          <a:ln>
            <a:noFill/>
          </a:ln>
        </p:spPr>
        <p:txBody>
          <a:bodyPr vert="horz" wrap="square" lIns="0" tIns="6350" rIns="0" bIns="0" rtlCol="0">
            <a:spAutoFit/>
          </a:bodyPr>
          <a:lstStyle/>
          <a:p>
            <a:pPr marL="12700" marR="5080" indent="118110" algn="l">
              <a:lnSpc>
                <a:spcPct val="104400"/>
              </a:lnSpc>
              <a:spcBef>
                <a:spcPts val="50"/>
              </a:spcBef>
            </a:pPr>
            <a:r>
              <a:rPr lang="es-MX" sz="800" dirty="0">
                <a:solidFill>
                  <a:srgbClr val="FF0000"/>
                </a:solidFill>
                <a:latin typeface="Arial Narrow" panose="020B0606020202030204" pitchFamily="34" charset="0"/>
              </a:rPr>
              <a:t>No existe un método específico de recuperación de elementos metálicos.</a:t>
            </a:r>
            <a:endParaRPr sz="800" dirty="0">
              <a:solidFill>
                <a:srgbClr val="FF0000"/>
              </a:solidFill>
              <a:latin typeface="Arial Narrow" panose="020B0606020202030204" pitchFamily="34" charset="0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14961" y="3120477"/>
            <a:ext cx="1302323" cy="262251"/>
          </a:xfrm>
          <a:prstGeom prst="rect">
            <a:avLst/>
          </a:prstGeom>
          <a:ln>
            <a:noFill/>
          </a:ln>
        </p:spPr>
        <p:txBody>
          <a:bodyPr vert="horz" wrap="square" lIns="0" tIns="1587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25"/>
              </a:spcBef>
            </a:pPr>
            <a:r>
              <a:rPr lang="es-MX" sz="800" dirty="0">
                <a:solidFill>
                  <a:srgbClr val="FF0000"/>
                </a:solidFill>
                <a:latin typeface="Arial Narrow" panose="020B0606020202030204" pitchFamily="34" charset="0"/>
              </a:rPr>
              <a:t>La recuperación se realiza durante la limpieza convencional.</a:t>
            </a:r>
            <a:endParaRPr sz="800" dirty="0">
              <a:solidFill>
                <a:srgbClr val="FF0000"/>
              </a:solidFill>
              <a:latin typeface="Arial Narrow" panose="020B0606020202030204" pitchFamily="34" charset="0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154926" y="2025590"/>
            <a:ext cx="1645285" cy="985325"/>
          </a:xfrm>
          <a:prstGeom prst="rect">
            <a:avLst/>
          </a:prstGeom>
          <a:ln w="3175">
            <a:solidFill>
              <a:srgbClr val="A6A6A6"/>
            </a:solidFill>
          </a:ln>
        </p:spPr>
        <p:txBody>
          <a:bodyPr vert="horz" wrap="square" lIns="36000" tIns="36000" rIns="36000" bIns="36000" rtlCol="0">
            <a:spAutoFit/>
          </a:bodyPr>
          <a:lstStyle/>
          <a:p>
            <a:pPr marL="6985" marR="20320">
              <a:lnSpc>
                <a:spcPts val="1200"/>
              </a:lnSpc>
              <a:spcBef>
                <a:spcPts val="20"/>
              </a:spcBef>
            </a:pPr>
            <a:r>
              <a:rPr lang="es-MX" sz="950" dirty="0">
                <a:solidFill>
                  <a:srgbClr val="C00000"/>
                </a:solidFill>
                <a:latin typeface="Arial MT"/>
                <a:cs typeface="Arial MT"/>
              </a:rPr>
              <a:t>Presencia de tornillos y piezas metálicas en el piso durante la apertura del CKD, generando riesgo de accidentes y dificultad en la separación de residuos</a:t>
            </a:r>
            <a:r>
              <a:rPr sz="950" spc="-10" dirty="0">
                <a:solidFill>
                  <a:srgbClr val="C00000"/>
                </a:solidFill>
                <a:latin typeface="Arial MT"/>
                <a:cs typeface="Arial MT"/>
              </a:rPr>
              <a:t>.</a:t>
            </a:r>
            <a:endParaRPr sz="950" dirty="0">
              <a:latin typeface="Arial MT"/>
              <a:cs typeface="Arial MT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27729"/>
              </p:ext>
            </p:extLst>
          </p:nvPr>
        </p:nvGraphicFramePr>
        <p:xfrm>
          <a:off x="320417" y="3855611"/>
          <a:ext cx="6651625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4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4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20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R w="9525">
                      <a:solidFill>
                        <a:srgbClr val="4E6C92"/>
                      </a:solidFill>
                      <a:prstDash val="solid"/>
                    </a:lnR>
                    <a:lnB w="317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900" b="1" spc="-1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Método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795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T w="9525">
                      <a:solidFill>
                        <a:srgbClr val="4E6C92"/>
                      </a:solidFill>
                      <a:prstDash val="solid"/>
                    </a:lnT>
                    <a:lnB w="317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B w="317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900" b="1" spc="-1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Material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795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T w="9525">
                      <a:solidFill>
                        <a:srgbClr val="4E6C92"/>
                      </a:solidFill>
                      <a:prstDash val="solid"/>
                    </a:lnT>
                    <a:lnB w="317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B w="317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2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900" b="1" spc="-10" dirty="0">
                          <a:solidFill>
                            <a:srgbClr val="294667"/>
                          </a:solidFill>
                          <a:latin typeface="Calibri"/>
                          <a:cs typeface="Calibri"/>
                        </a:rPr>
                        <a:t>Medición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R w="9525">
                      <a:solidFill>
                        <a:srgbClr val="4E6C92"/>
                      </a:solidFill>
                      <a:prstDash val="solid"/>
                    </a:lnR>
                    <a:lnT w="9525">
                      <a:solidFill>
                        <a:srgbClr val="4E6C92"/>
                      </a:solidFill>
                      <a:prstDash val="solid"/>
                    </a:lnT>
                    <a:lnB w="3175">
                      <a:solidFill>
                        <a:srgbClr val="4E6C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4E6C92"/>
                      </a:solidFill>
                      <a:prstDash val="solid"/>
                    </a:lnL>
                    <a:lnB w="3175">
                      <a:solidFill>
                        <a:srgbClr val="4E6C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 gridSpan="7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Causa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15240" marB="0" anchor="ctr">
                    <a:lnL w="3175">
                      <a:solidFill>
                        <a:srgbClr val="4E6C92"/>
                      </a:solidFill>
                      <a:prstDash val="solid"/>
                    </a:lnL>
                    <a:lnR w="3175">
                      <a:solidFill>
                        <a:srgbClr val="4E6C92"/>
                      </a:solidFill>
                      <a:prstDash val="solid"/>
                    </a:lnR>
                    <a:lnT w="3175">
                      <a:solidFill>
                        <a:srgbClr val="4E6C92"/>
                      </a:solidFill>
                      <a:prstDash val="solid"/>
                    </a:lnT>
                    <a:lnB w="3175">
                      <a:solidFill>
                        <a:srgbClr val="4E6C92"/>
                      </a:solidFill>
                      <a:prstDash val="solid"/>
                    </a:lnB>
                    <a:solidFill>
                      <a:srgbClr val="6CCF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5" name="object 85"/>
          <p:cNvSpPr txBox="1"/>
          <p:nvPr/>
        </p:nvSpPr>
        <p:spPr>
          <a:xfrm>
            <a:off x="4974618" y="3489138"/>
            <a:ext cx="2895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900" dirty="0">
                <a:solidFill>
                  <a:srgbClr val="FFFFFF"/>
                </a:solidFill>
                <a:latin typeface="Arial MT"/>
                <a:cs typeface="Arial MT"/>
              </a:rPr>
              <a:t>NG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86" name="object 85">
            <a:extLst>
              <a:ext uri="{FF2B5EF4-FFF2-40B4-BE49-F238E27FC236}">
                <a16:creationId xmlns:a16="http://schemas.microsoft.com/office/drawing/2014/main" id="{50E97CB4-450B-4638-AE53-E33D6F496178}"/>
              </a:ext>
            </a:extLst>
          </p:cNvPr>
          <p:cNvSpPr txBox="1"/>
          <p:nvPr/>
        </p:nvSpPr>
        <p:spPr>
          <a:xfrm>
            <a:off x="3728081" y="3501425"/>
            <a:ext cx="2895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900" dirty="0">
                <a:solidFill>
                  <a:srgbClr val="FFFFFF"/>
                </a:solidFill>
                <a:latin typeface="Arial MT"/>
                <a:cs typeface="Arial MT"/>
              </a:rPr>
              <a:t>NG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A0DF028E-43F4-48F3-BAA5-76655E099775}"/>
              </a:ext>
            </a:extLst>
          </p:cNvPr>
          <p:cNvSpPr txBox="1"/>
          <p:nvPr/>
        </p:nvSpPr>
        <p:spPr>
          <a:xfrm>
            <a:off x="2763357" y="3504664"/>
            <a:ext cx="2895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900" dirty="0">
                <a:solidFill>
                  <a:srgbClr val="FFFFFF"/>
                </a:solidFill>
                <a:latin typeface="Arial MT"/>
                <a:cs typeface="Arial MT"/>
              </a:rPr>
              <a:t>NG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90" name="object 85">
            <a:extLst>
              <a:ext uri="{FF2B5EF4-FFF2-40B4-BE49-F238E27FC236}">
                <a16:creationId xmlns:a16="http://schemas.microsoft.com/office/drawing/2014/main" id="{E46BBC5C-96BD-414D-81F8-2F203290D7E5}"/>
              </a:ext>
            </a:extLst>
          </p:cNvPr>
          <p:cNvSpPr txBox="1"/>
          <p:nvPr/>
        </p:nvSpPr>
        <p:spPr>
          <a:xfrm>
            <a:off x="3726112" y="1365063"/>
            <a:ext cx="2895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900" dirty="0">
                <a:solidFill>
                  <a:srgbClr val="FFFFFF"/>
                </a:solidFill>
                <a:latin typeface="Arial MT"/>
                <a:cs typeface="Arial MT"/>
              </a:rPr>
              <a:t>NG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94" name="object 50">
            <a:extLst>
              <a:ext uri="{FF2B5EF4-FFF2-40B4-BE49-F238E27FC236}">
                <a16:creationId xmlns:a16="http://schemas.microsoft.com/office/drawing/2014/main" id="{F35F454B-669C-4EC8-8636-A10EAAB6CB16}"/>
              </a:ext>
            </a:extLst>
          </p:cNvPr>
          <p:cNvSpPr txBox="1"/>
          <p:nvPr/>
        </p:nvSpPr>
        <p:spPr>
          <a:xfrm>
            <a:off x="883356" y="1676559"/>
            <a:ext cx="1434275" cy="246221"/>
          </a:xfrm>
          <a:prstGeom prst="rect">
            <a:avLst/>
          </a:prstGeom>
          <a:ln w="317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80010" algn="l"/>
            <a:r>
              <a:rPr lang="es-MX" sz="800" dirty="0">
                <a:latin typeface="Arial Narrow" panose="020B0606020202030204" pitchFamily="34" charset="0"/>
              </a:rPr>
              <a:t>La recuperación de elementos requiere una tarea adicional manual.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1874126" y="1141875"/>
            <a:ext cx="518776" cy="520393"/>
            <a:chOff x="2647950" y="1133411"/>
            <a:chExt cx="490537" cy="500062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950" y="1133411"/>
              <a:ext cx="490537" cy="50006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7000" y="1209611"/>
              <a:ext cx="433387" cy="36671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690876" y="1176401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176149" y="0"/>
                  </a:moveTo>
                  <a:lnTo>
                    <a:pt x="129322" y="6455"/>
                  </a:lnTo>
                  <a:lnTo>
                    <a:pt x="87244" y="24680"/>
                  </a:lnTo>
                  <a:lnTo>
                    <a:pt x="51593" y="52959"/>
                  </a:lnTo>
                  <a:lnTo>
                    <a:pt x="24050" y="89577"/>
                  </a:lnTo>
                  <a:lnTo>
                    <a:pt x="6292" y="132820"/>
                  </a:lnTo>
                  <a:lnTo>
                    <a:pt x="0" y="180975"/>
                  </a:lnTo>
                  <a:lnTo>
                    <a:pt x="6292" y="229085"/>
                  </a:lnTo>
                  <a:lnTo>
                    <a:pt x="24050" y="272316"/>
                  </a:lnTo>
                  <a:lnTo>
                    <a:pt x="51593" y="308943"/>
                  </a:lnTo>
                  <a:lnTo>
                    <a:pt x="87244" y="337241"/>
                  </a:lnTo>
                  <a:lnTo>
                    <a:pt x="129322" y="355485"/>
                  </a:lnTo>
                  <a:lnTo>
                    <a:pt x="176149" y="361950"/>
                  </a:lnTo>
                  <a:lnTo>
                    <a:pt x="222984" y="355485"/>
                  </a:lnTo>
                  <a:lnTo>
                    <a:pt x="265086" y="337241"/>
                  </a:lnTo>
                  <a:lnTo>
                    <a:pt x="300767" y="308943"/>
                  </a:lnTo>
                  <a:lnTo>
                    <a:pt x="328342" y="272316"/>
                  </a:lnTo>
                  <a:lnTo>
                    <a:pt x="346123" y="229085"/>
                  </a:lnTo>
                  <a:lnTo>
                    <a:pt x="352425" y="180975"/>
                  </a:lnTo>
                  <a:lnTo>
                    <a:pt x="346123" y="132820"/>
                  </a:lnTo>
                  <a:lnTo>
                    <a:pt x="328342" y="89577"/>
                  </a:lnTo>
                  <a:lnTo>
                    <a:pt x="300767" y="52959"/>
                  </a:lnTo>
                  <a:lnTo>
                    <a:pt x="265086" y="24680"/>
                  </a:lnTo>
                  <a:lnTo>
                    <a:pt x="222984" y="6455"/>
                  </a:lnTo>
                  <a:lnTo>
                    <a:pt x="176149" y="0"/>
                  </a:lnTo>
                  <a:close/>
                </a:path>
              </a:pathLst>
            </a:custGeom>
            <a:solidFill>
              <a:srgbClr val="0091D2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s-AR" sz="900" dirty="0">
                  <a:solidFill>
                    <a:schemeClr val="bg1"/>
                  </a:solidFill>
                </a:rPr>
                <a:t>NG</a:t>
              </a:r>
              <a:endParaRPr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5" name="object 18">
            <a:extLst>
              <a:ext uri="{FF2B5EF4-FFF2-40B4-BE49-F238E27FC236}">
                <a16:creationId xmlns:a16="http://schemas.microsoft.com/office/drawing/2014/main" id="{A1D2CA70-6B70-4CD6-81A8-3BAA23942F87}"/>
              </a:ext>
            </a:extLst>
          </p:cNvPr>
          <p:cNvGrpSpPr/>
          <p:nvPr/>
        </p:nvGrpSpPr>
        <p:grpSpPr>
          <a:xfrm>
            <a:off x="1842667" y="3400305"/>
            <a:ext cx="519112" cy="520724"/>
            <a:chOff x="2647950" y="1133411"/>
            <a:chExt cx="490855" cy="500380"/>
          </a:xfrm>
        </p:grpSpPr>
        <p:pic>
          <p:nvPicPr>
            <p:cNvPr id="96" name="object 19">
              <a:extLst>
                <a:ext uri="{FF2B5EF4-FFF2-40B4-BE49-F238E27FC236}">
                  <a16:creationId xmlns:a16="http://schemas.microsoft.com/office/drawing/2014/main" id="{876512C6-8E37-48BE-979B-789A4191111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950" y="1133411"/>
              <a:ext cx="490537" cy="500062"/>
            </a:xfrm>
            <a:prstGeom prst="rect">
              <a:avLst/>
            </a:prstGeom>
          </p:spPr>
        </p:pic>
        <p:pic>
          <p:nvPicPr>
            <p:cNvPr id="97" name="object 20">
              <a:extLst>
                <a:ext uri="{FF2B5EF4-FFF2-40B4-BE49-F238E27FC236}">
                  <a16:creationId xmlns:a16="http://schemas.microsoft.com/office/drawing/2014/main" id="{5578FA6A-3BAF-4693-8AE8-B4ECDD68E15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7000" y="1209611"/>
              <a:ext cx="433387" cy="366712"/>
            </a:xfrm>
            <a:prstGeom prst="rect">
              <a:avLst/>
            </a:prstGeom>
          </p:spPr>
        </p:pic>
        <p:sp>
          <p:nvSpPr>
            <p:cNvPr id="98" name="object 21">
              <a:extLst>
                <a:ext uri="{FF2B5EF4-FFF2-40B4-BE49-F238E27FC236}">
                  <a16:creationId xmlns:a16="http://schemas.microsoft.com/office/drawing/2014/main" id="{786905A3-4CFF-48E5-B75B-FA573681F051}"/>
                </a:ext>
              </a:extLst>
            </p:cNvPr>
            <p:cNvSpPr/>
            <p:nvPr/>
          </p:nvSpPr>
          <p:spPr>
            <a:xfrm>
              <a:off x="2690876" y="1176401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176149" y="0"/>
                  </a:moveTo>
                  <a:lnTo>
                    <a:pt x="129322" y="6455"/>
                  </a:lnTo>
                  <a:lnTo>
                    <a:pt x="87244" y="24680"/>
                  </a:lnTo>
                  <a:lnTo>
                    <a:pt x="51593" y="52959"/>
                  </a:lnTo>
                  <a:lnTo>
                    <a:pt x="24050" y="89577"/>
                  </a:lnTo>
                  <a:lnTo>
                    <a:pt x="6292" y="132820"/>
                  </a:lnTo>
                  <a:lnTo>
                    <a:pt x="0" y="180975"/>
                  </a:lnTo>
                  <a:lnTo>
                    <a:pt x="6292" y="229085"/>
                  </a:lnTo>
                  <a:lnTo>
                    <a:pt x="24050" y="272316"/>
                  </a:lnTo>
                  <a:lnTo>
                    <a:pt x="51593" y="308943"/>
                  </a:lnTo>
                  <a:lnTo>
                    <a:pt x="87244" y="337241"/>
                  </a:lnTo>
                  <a:lnTo>
                    <a:pt x="129322" y="355485"/>
                  </a:lnTo>
                  <a:lnTo>
                    <a:pt x="176149" y="361950"/>
                  </a:lnTo>
                  <a:lnTo>
                    <a:pt x="222984" y="355485"/>
                  </a:lnTo>
                  <a:lnTo>
                    <a:pt x="265086" y="337241"/>
                  </a:lnTo>
                  <a:lnTo>
                    <a:pt x="300767" y="308943"/>
                  </a:lnTo>
                  <a:lnTo>
                    <a:pt x="328342" y="272316"/>
                  </a:lnTo>
                  <a:lnTo>
                    <a:pt x="346123" y="229085"/>
                  </a:lnTo>
                  <a:lnTo>
                    <a:pt x="352425" y="180975"/>
                  </a:lnTo>
                  <a:lnTo>
                    <a:pt x="346123" y="132820"/>
                  </a:lnTo>
                  <a:lnTo>
                    <a:pt x="328342" y="89577"/>
                  </a:lnTo>
                  <a:lnTo>
                    <a:pt x="300767" y="52959"/>
                  </a:lnTo>
                  <a:lnTo>
                    <a:pt x="265086" y="24680"/>
                  </a:lnTo>
                  <a:lnTo>
                    <a:pt x="222984" y="6455"/>
                  </a:lnTo>
                  <a:lnTo>
                    <a:pt x="176149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s-AR" sz="900" dirty="0">
                  <a:solidFill>
                    <a:schemeClr val="bg1"/>
                  </a:solidFill>
                </a:rPr>
                <a:t>NG</a:t>
              </a:r>
              <a:endParaRPr sz="900" dirty="0">
                <a:solidFill>
                  <a:schemeClr val="bg1"/>
                </a:solidFill>
              </a:endParaRPr>
            </a:p>
          </p:txBody>
        </p:sp>
        <p:sp>
          <p:nvSpPr>
            <p:cNvPr id="99" name="object 22">
              <a:extLst>
                <a:ext uri="{FF2B5EF4-FFF2-40B4-BE49-F238E27FC236}">
                  <a16:creationId xmlns:a16="http://schemas.microsoft.com/office/drawing/2014/main" id="{D8C5F408-EFF8-40F8-AB2C-D91C211B1768}"/>
                </a:ext>
              </a:extLst>
            </p:cNvPr>
            <p:cNvSpPr/>
            <p:nvPr/>
          </p:nvSpPr>
          <p:spPr>
            <a:xfrm>
              <a:off x="2690876" y="1176401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180975"/>
                  </a:moveTo>
                  <a:lnTo>
                    <a:pt x="6292" y="132820"/>
                  </a:lnTo>
                  <a:lnTo>
                    <a:pt x="24050" y="89577"/>
                  </a:lnTo>
                  <a:lnTo>
                    <a:pt x="51593" y="52959"/>
                  </a:lnTo>
                  <a:lnTo>
                    <a:pt x="87244" y="24680"/>
                  </a:lnTo>
                  <a:lnTo>
                    <a:pt x="129322" y="6455"/>
                  </a:lnTo>
                  <a:lnTo>
                    <a:pt x="176149" y="0"/>
                  </a:lnTo>
                  <a:lnTo>
                    <a:pt x="222984" y="6455"/>
                  </a:lnTo>
                  <a:lnTo>
                    <a:pt x="265086" y="24680"/>
                  </a:lnTo>
                  <a:lnTo>
                    <a:pt x="300767" y="52959"/>
                  </a:lnTo>
                  <a:lnTo>
                    <a:pt x="328342" y="89577"/>
                  </a:lnTo>
                  <a:lnTo>
                    <a:pt x="346123" y="132820"/>
                  </a:lnTo>
                  <a:lnTo>
                    <a:pt x="352425" y="180975"/>
                  </a:lnTo>
                  <a:lnTo>
                    <a:pt x="346123" y="229085"/>
                  </a:lnTo>
                  <a:lnTo>
                    <a:pt x="328342" y="272316"/>
                  </a:lnTo>
                  <a:lnTo>
                    <a:pt x="300767" y="308943"/>
                  </a:lnTo>
                  <a:lnTo>
                    <a:pt x="265086" y="337241"/>
                  </a:lnTo>
                  <a:lnTo>
                    <a:pt x="222984" y="355485"/>
                  </a:lnTo>
                  <a:lnTo>
                    <a:pt x="176149" y="361950"/>
                  </a:lnTo>
                  <a:lnTo>
                    <a:pt x="129322" y="355485"/>
                  </a:lnTo>
                  <a:lnTo>
                    <a:pt x="87244" y="337241"/>
                  </a:lnTo>
                  <a:lnTo>
                    <a:pt x="51593" y="308943"/>
                  </a:lnTo>
                  <a:lnTo>
                    <a:pt x="24050" y="272316"/>
                  </a:lnTo>
                  <a:lnTo>
                    <a:pt x="6292" y="229085"/>
                  </a:lnTo>
                  <a:lnTo>
                    <a:pt x="0" y="180975"/>
                  </a:lnTo>
                  <a:close/>
                </a:path>
              </a:pathLst>
            </a:custGeom>
            <a:ln w="9525">
              <a:solidFill>
                <a:srgbClr val="EC1B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8">
            <a:extLst>
              <a:ext uri="{FF2B5EF4-FFF2-40B4-BE49-F238E27FC236}">
                <a16:creationId xmlns:a16="http://schemas.microsoft.com/office/drawing/2014/main" id="{0EB78DD7-9B48-46B7-80CA-46EB42A332BA}"/>
              </a:ext>
            </a:extLst>
          </p:cNvPr>
          <p:cNvGrpSpPr/>
          <p:nvPr/>
        </p:nvGrpSpPr>
        <p:grpSpPr>
          <a:xfrm>
            <a:off x="3277672" y="1141408"/>
            <a:ext cx="519112" cy="520724"/>
            <a:chOff x="2647950" y="1133411"/>
            <a:chExt cx="490855" cy="500380"/>
          </a:xfrm>
        </p:grpSpPr>
        <p:pic>
          <p:nvPicPr>
            <p:cNvPr id="101" name="object 19">
              <a:extLst>
                <a:ext uri="{FF2B5EF4-FFF2-40B4-BE49-F238E27FC236}">
                  <a16:creationId xmlns:a16="http://schemas.microsoft.com/office/drawing/2014/main" id="{1224EA55-9869-4770-9BA0-0FC435577A4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950" y="1133411"/>
              <a:ext cx="490537" cy="500062"/>
            </a:xfrm>
            <a:prstGeom prst="rect">
              <a:avLst/>
            </a:prstGeom>
          </p:spPr>
        </p:pic>
        <p:pic>
          <p:nvPicPr>
            <p:cNvPr id="102" name="object 20">
              <a:extLst>
                <a:ext uri="{FF2B5EF4-FFF2-40B4-BE49-F238E27FC236}">
                  <a16:creationId xmlns:a16="http://schemas.microsoft.com/office/drawing/2014/main" id="{C8477C0C-DF0C-4AB4-BEC1-579AF418C65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7000" y="1209611"/>
              <a:ext cx="433387" cy="366712"/>
            </a:xfrm>
            <a:prstGeom prst="rect">
              <a:avLst/>
            </a:prstGeom>
          </p:spPr>
        </p:pic>
        <p:sp>
          <p:nvSpPr>
            <p:cNvPr id="103" name="object 21">
              <a:extLst>
                <a:ext uri="{FF2B5EF4-FFF2-40B4-BE49-F238E27FC236}">
                  <a16:creationId xmlns:a16="http://schemas.microsoft.com/office/drawing/2014/main" id="{FAD018A7-459E-4FF4-A706-9C5309979E09}"/>
                </a:ext>
              </a:extLst>
            </p:cNvPr>
            <p:cNvSpPr/>
            <p:nvPr/>
          </p:nvSpPr>
          <p:spPr>
            <a:xfrm>
              <a:off x="2690876" y="1176401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176149" y="0"/>
                  </a:moveTo>
                  <a:lnTo>
                    <a:pt x="129322" y="6455"/>
                  </a:lnTo>
                  <a:lnTo>
                    <a:pt x="87244" y="24680"/>
                  </a:lnTo>
                  <a:lnTo>
                    <a:pt x="51593" y="52959"/>
                  </a:lnTo>
                  <a:lnTo>
                    <a:pt x="24050" y="89577"/>
                  </a:lnTo>
                  <a:lnTo>
                    <a:pt x="6292" y="132820"/>
                  </a:lnTo>
                  <a:lnTo>
                    <a:pt x="0" y="180975"/>
                  </a:lnTo>
                  <a:lnTo>
                    <a:pt x="6292" y="229085"/>
                  </a:lnTo>
                  <a:lnTo>
                    <a:pt x="24050" y="272316"/>
                  </a:lnTo>
                  <a:lnTo>
                    <a:pt x="51593" y="308943"/>
                  </a:lnTo>
                  <a:lnTo>
                    <a:pt x="87244" y="337241"/>
                  </a:lnTo>
                  <a:lnTo>
                    <a:pt x="129322" y="355485"/>
                  </a:lnTo>
                  <a:lnTo>
                    <a:pt x="176149" y="361950"/>
                  </a:lnTo>
                  <a:lnTo>
                    <a:pt x="222984" y="355485"/>
                  </a:lnTo>
                  <a:lnTo>
                    <a:pt x="265086" y="337241"/>
                  </a:lnTo>
                  <a:lnTo>
                    <a:pt x="300767" y="308943"/>
                  </a:lnTo>
                  <a:lnTo>
                    <a:pt x="328342" y="272316"/>
                  </a:lnTo>
                  <a:lnTo>
                    <a:pt x="346123" y="229085"/>
                  </a:lnTo>
                  <a:lnTo>
                    <a:pt x="352425" y="180975"/>
                  </a:lnTo>
                  <a:lnTo>
                    <a:pt x="346123" y="132820"/>
                  </a:lnTo>
                  <a:lnTo>
                    <a:pt x="328342" y="89577"/>
                  </a:lnTo>
                  <a:lnTo>
                    <a:pt x="300767" y="52959"/>
                  </a:lnTo>
                  <a:lnTo>
                    <a:pt x="265086" y="24680"/>
                  </a:lnTo>
                  <a:lnTo>
                    <a:pt x="222984" y="6455"/>
                  </a:lnTo>
                  <a:lnTo>
                    <a:pt x="176149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s-AR" sz="900" dirty="0">
                  <a:solidFill>
                    <a:schemeClr val="bg1"/>
                  </a:solidFill>
                </a:rPr>
                <a:t>NG</a:t>
              </a:r>
              <a:endParaRPr sz="900" dirty="0">
                <a:solidFill>
                  <a:schemeClr val="bg1"/>
                </a:solidFill>
              </a:endParaRPr>
            </a:p>
          </p:txBody>
        </p:sp>
        <p:sp>
          <p:nvSpPr>
            <p:cNvPr id="104" name="object 22">
              <a:extLst>
                <a:ext uri="{FF2B5EF4-FFF2-40B4-BE49-F238E27FC236}">
                  <a16:creationId xmlns:a16="http://schemas.microsoft.com/office/drawing/2014/main" id="{D7D300FC-BAD2-4279-8B3E-E2631517DF79}"/>
                </a:ext>
              </a:extLst>
            </p:cNvPr>
            <p:cNvSpPr/>
            <p:nvPr/>
          </p:nvSpPr>
          <p:spPr>
            <a:xfrm>
              <a:off x="2690876" y="1176401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180975"/>
                  </a:moveTo>
                  <a:lnTo>
                    <a:pt x="6292" y="132820"/>
                  </a:lnTo>
                  <a:lnTo>
                    <a:pt x="24050" y="89577"/>
                  </a:lnTo>
                  <a:lnTo>
                    <a:pt x="51593" y="52959"/>
                  </a:lnTo>
                  <a:lnTo>
                    <a:pt x="87244" y="24680"/>
                  </a:lnTo>
                  <a:lnTo>
                    <a:pt x="129322" y="6455"/>
                  </a:lnTo>
                  <a:lnTo>
                    <a:pt x="176149" y="0"/>
                  </a:lnTo>
                  <a:lnTo>
                    <a:pt x="222984" y="6455"/>
                  </a:lnTo>
                  <a:lnTo>
                    <a:pt x="265086" y="24680"/>
                  </a:lnTo>
                  <a:lnTo>
                    <a:pt x="300767" y="52959"/>
                  </a:lnTo>
                  <a:lnTo>
                    <a:pt x="328342" y="89577"/>
                  </a:lnTo>
                  <a:lnTo>
                    <a:pt x="346123" y="132820"/>
                  </a:lnTo>
                  <a:lnTo>
                    <a:pt x="352425" y="180975"/>
                  </a:lnTo>
                  <a:lnTo>
                    <a:pt x="346123" y="229085"/>
                  </a:lnTo>
                  <a:lnTo>
                    <a:pt x="328342" y="272316"/>
                  </a:lnTo>
                  <a:lnTo>
                    <a:pt x="300767" y="308943"/>
                  </a:lnTo>
                  <a:lnTo>
                    <a:pt x="265086" y="337241"/>
                  </a:lnTo>
                  <a:lnTo>
                    <a:pt x="222984" y="355485"/>
                  </a:lnTo>
                  <a:lnTo>
                    <a:pt x="176149" y="361950"/>
                  </a:lnTo>
                  <a:lnTo>
                    <a:pt x="129322" y="355485"/>
                  </a:lnTo>
                  <a:lnTo>
                    <a:pt x="87244" y="337241"/>
                  </a:lnTo>
                  <a:lnTo>
                    <a:pt x="51593" y="308943"/>
                  </a:lnTo>
                  <a:lnTo>
                    <a:pt x="24050" y="272316"/>
                  </a:lnTo>
                  <a:lnTo>
                    <a:pt x="6292" y="229085"/>
                  </a:lnTo>
                  <a:lnTo>
                    <a:pt x="0" y="180975"/>
                  </a:lnTo>
                  <a:close/>
                </a:path>
              </a:pathLst>
            </a:custGeom>
            <a:ln w="9525">
              <a:solidFill>
                <a:srgbClr val="EC1B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8">
            <a:extLst>
              <a:ext uri="{FF2B5EF4-FFF2-40B4-BE49-F238E27FC236}">
                <a16:creationId xmlns:a16="http://schemas.microsoft.com/office/drawing/2014/main" id="{5E071E14-7CCF-4818-B622-BE6C16D5E6B7}"/>
              </a:ext>
            </a:extLst>
          </p:cNvPr>
          <p:cNvGrpSpPr/>
          <p:nvPr/>
        </p:nvGrpSpPr>
        <p:grpSpPr>
          <a:xfrm>
            <a:off x="4626113" y="1148436"/>
            <a:ext cx="518776" cy="520393"/>
            <a:chOff x="2647950" y="1133411"/>
            <a:chExt cx="490537" cy="500062"/>
          </a:xfrm>
        </p:grpSpPr>
        <p:pic>
          <p:nvPicPr>
            <p:cNvPr id="106" name="object 19">
              <a:extLst>
                <a:ext uri="{FF2B5EF4-FFF2-40B4-BE49-F238E27FC236}">
                  <a16:creationId xmlns:a16="http://schemas.microsoft.com/office/drawing/2014/main" id="{00EDA6F4-3B93-451A-9984-AB7F0503C45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950" y="1133411"/>
              <a:ext cx="490537" cy="500062"/>
            </a:xfrm>
            <a:prstGeom prst="rect">
              <a:avLst/>
            </a:prstGeom>
          </p:spPr>
        </p:pic>
        <p:pic>
          <p:nvPicPr>
            <p:cNvPr id="107" name="object 20">
              <a:extLst>
                <a:ext uri="{FF2B5EF4-FFF2-40B4-BE49-F238E27FC236}">
                  <a16:creationId xmlns:a16="http://schemas.microsoft.com/office/drawing/2014/main" id="{6DE0DDB7-C89E-454D-A394-FB2AFA7A355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7000" y="1209611"/>
              <a:ext cx="433387" cy="366712"/>
            </a:xfrm>
            <a:prstGeom prst="rect">
              <a:avLst/>
            </a:prstGeom>
          </p:spPr>
        </p:pic>
        <p:sp>
          <p:nvSpPr>
            <p:cNvPr id="108" name="object 21">
              <a:extLst>
                <a:ext uri="{FF2B5EF4-FFF2-40B4-BE49-F238E27FC236}">
                  <a16:creationId xmlns:a16="http://schemas.microsoft.com/office/drawing/2014/main" id="{902D4466-B88A-4C74-8512-0F26B05B35C8}"/>
                </a:ext>
              </a:extLst>
            </p:cNvPr>
            <p:cNvSpPr/>
            <p:nvPr/>
          </p:nvSpPr>
          <p:spPr>
            <a:xfrm>
              <a:off x="2690876" y="1176401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176149" y="0"/>
                  </a:moveTo>
                  <a:lnTo>
                    <a:pt x="129322" y="6455"/>
                  </a:lnTo>
                  <a:lnTo>
                    <a:pt x="87244" y="24680"/>
                  </a:lnTo>
                  <a:lnTo>
                    <a:pt x="51593" y="52959"/>
                  </a:lnTo>
                  <a:lnTo>
                    <a:pt x="24050" y="89577"/>
                  </a:lnTo>
                  <a:lnTo>
                    <a:pt x="6292" y="132820"/>
                  </a:lnTo>
                  <a:lnTo>
                    <a:pt x="0" y="180975"/>
                  </a:lnTo>
                  <a:lnTo>
                    <a:pt x="6292" y="229085"/>
                  </a:lnTo>
                  <a:lnTo>
                    <a:pt x="24050" y="272316"/>
                  </a:lnTo>
                  <a:lnTo>
                    <a:pt x="51593" y="308943"/>
                  </a:lnTo>
                  <a:lnTo>
                    <a:pt x="87244" y="337241"/>
                  </a:lnTo>
                  <a:lnTo>
                    <a:pt x="129322" y="355485"/>
                  </a:lnTo>
                  <a:lnTo>
                    <a:pt x="176149" y="361950"/>
                  </a:lnTo>
                  <a:lnTo>
                    <a:pt x="222984" y="355485"/>
                  </a:lnTo>
                  <a:lnTo>
                    <a:pt x="265086" y="337241"/>
                  </a:lnTo>
                  <a:lnTo>
                    <a:pt x="300767" y="308943"/>
                  </a:lnTo>
                  <a:lnTo>
                    <a:pt x="328342" y="272316"/>
                  </a:lnTo>
                  <a:lnTo>
                    <a:pt x="346123" y="229085"/>
                  </a:lnTo>
                  <a:lnTo>
                    <a:pt x="352425" y="180975"/>
                  </a:lnTo>
                  <a:lnTo>
                    <a:pt x="346123" y="132820"/>
                  </a:lnTo>
                  <a:lnTo>
                    <a:pt x="328342" y="89577"/>
                  </a:lnTo>
                  <a:lnTo>
                    <a:pt x="300767" y="52959"/>
                  </a:lnTo>
                  <a:lnTo>
                    <a:pt x="265086" y="24680"/>
                  </a:lnTo>
                  <a:lnTo>
                    <a:pt x="222984" y="6455"/>
                  </a:lnTo>
                  <a:lnTo>
                    <a:pt x="176149" y="0"/>
                  </a:lnTo>
                  <a:close/>
                </a:path>
              </a:pathLst>
            </a:custGeom>
            <a:solidFill>
              <a:srgbClr val="0091D2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s-AR" sz="900" dirty="0">
                  <a:solidFill>
                    <a:schemeClr val="bg1"/>
                  </a:solidFill>
                </a:rPr>
                <a:t>GOOD</a:t>
              </a:r>
              <a:endParaRPr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object 18">
            <a:extLst>
              <a:ext uri="{FF2B5EF4-FFF2-40B4-BE49-F238E27FC236}">
                <a16:creationId xmlns:a16="http://schemas.microsoft.com/office/drawing/2014/main" id="{AD793216-2B30-4B7E-8BE8-31A36C795915}"/>
              </a:ext>
            </a:extLst>
          </p:cNvPr>
          <p:cNvGrpSpPr/>
          <p:nvPr/>
        </p:nvGrpSpPr>
        <p:grpSpPr>
          <a:xfrm>
            <a:off x="3154535" y="3410229"/>
            <a:ext cx="518776" cy="520393"/>
            <a:chOff x="2647950" y="1133411"/>
            <a:chExt cx="490537" cy="500062"/>
          </a:xfrm>
        </p:grpSpPr>
        <p:pic>
          <p:nvPicPr>
            <p:cNvPr id="111" name="object 19">
              <a:extLst>
                <a:ext uri="{FF2B5EF4-FFF2-40B4-BE49-F238E27FC236}">
                  <a16:creationId xmlns:a16="http://schemas.microsoft.com/office/drawing/2014/main" id="{82D612E0-8647-4831-AFC7-3D1624FCB9A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950" y="1133411"/>
              <a:ext cx="490537" cy="500062"/>
            </a:xfrm>
            <a:prstGeom prst="rect">
              <a:avLst/>
            </a:prstGeom>
          </p:spPr>
        </p:pic>
        <p:pic>
          <p:nvPicPr>
            <p:cNvPr id="112" name="object 20">
              <a:extLst>
                <a:ext uri="{FF2B5EF4-FFF2-40B4-BE49-F238E27FC236}">
                  <a16:creationId xmlns:a16="http://schemas.microsoft.com/office/drawing/2014/main" id="{F6293621-E0DB-46D8-96C2-B20B9602B2C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7000" y="1209611"/>
              <a:ext cx="433387" cy="366712"/>
            </a:xfrm>
            <a:prstGeom prst="rect">
              <a:avLst/>
            </a:prstGeom>
          </p:spPr>
        </p:pic>
        <p:sp>
          <p:nvSpPr>
            <p:cNvPr id="113" name="object 21">
              <a:extLst>
                <a:ext uri="{FF2B5EF4-FFF2-40B4-BE49-F238E27FC236}">
                  <a16:creationId xmlns:a16="http://schemas.microsoft.com/office/drawing/2014/main" id="{3681B987-02A2-49EA-A65C-E78C746A5F5A}"/>
                </a:ext>
              </a:extLst>
            </p:cNvPr>
            <p:cNvSpPr/>
            <p:nvPr/>
          </p:nvSpPr>
          <p:spPr>
            <a:xfrm>
              <a:off x="2690876" y="1176401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176149" y="0"/>
                  </a:moveTo>
                  <a:lnTo>
                    <a:pt x="129322" y="6455"/>
                  </a:lnTo>
                  <a:lnTo>
                    <a:pt x="87244" y="24680"/>
                  </a:lnTo>
                  <a:lnTo>
                    <a:pt x="51593" y="52959"/>
                  </a:lnTo>
                  <a:lnTo>
                    <a:pt x="24050" y="89577"/>
                  </a:lnTo>
                  <a:lnTo>
                    <a:pt x="6292" y="132820"/>
                  </a:lnTo>
                  <a:lnTo>
                    <a:pt x="0" y="180975"/>
                  </a:lnTo>
                  <a:lnTo>
                    <a:pt x="6292" y="229085"/>
                  </a:lnTo>
                  <a:lnTo>
                    <a:pt x="24050" y="272316"/>
                  </a:lnTo>
                  <a:lnTo>
                    <a:pt x="51593" y="308943"/>
                  </a:lnTo>
                  <a:lnTo>
                    <a:pt x="87244" y="337241"/>
                  </a:lnTo>
                  <a:lnTo>
                    <a:pt x="129322" y="355485"/>
                  </a:lnTo>
                  <a:lnTo>
                    <a:pt x="176149" y="361950"/>
                  </a:lnTo>
                  <a:lnTo>
                    <a:pt x="222984" y="355485"/>
                  </a:lnTo>
                  <a:lnTo>
                    <a:pt x="265086" y="337241"/>
                  </a:lnTo>
                  <a:lnTo>
                    <a:pt x="300767" y="308943"/>
                  </a:lnTo>
                  <a:lnTo>
                    <a:pt x="328342" y="272316"/>
                  </a:lnTo>
                  <a:lnTo>
                    <a:pt x="346123" y="229085"/>
                  </a:lnTo>
                  <a:lnTo>
                    <a:pt x="352425" y="180975"/>
                  </a:lnTo>
                  <a:lnTo>
                    <a:pt x="346123" y="132820"/>
                  </a:lnTo>
                  <a:lnTo>
                    <a:pt x="328342" y="89577"/>
                  </a:lnTo>
                  <a:lnTo>
                    <a:pt x="300767" y="52959"/>
                  </a:lnTo>
                  <a:lnTo>
                    <a:pt x="265086" y="24680"/>
                  </a:lnTo>
                  <a:lnTo>
                    <a:pt x="222984" y="6455"/>
                  </a:lnTo>
                  <a:lnTo>
                    <a:pt x="176149" y="0"/>
                  </a:lnTo>
                  <a:close/>
                </a:path>
              </a:pathLst>
            </a:custGeom>
            <a:solidFill>
              <a:srgbClr val="0091D2"/>
            </a:solidFill>
          </p:spPr>
          <p:txBody>
            <a:bodyPr wrap="square" lIns="0" tIns="0" rIns="0" bIns="0" rtlCol="0" anchor="ctr"/>
            <a:lstStyle/>
            <a:p>
              <a:pPr algn="ctr"/>
              <a:r>
                <a:rPr lang="es-AR" sz="900" dirty="0">
                  <a:solidFill>
                    <a:schemeClr val="bg1"/>
                  </a:solidFill>
                </a:rPr>
                <a:t>NG</a:t>
              </a:r>
              <a:endParaRPr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5" name="object 18">
            <a:extLst>
              <a:ext uri="{FF2B5EF4-FFF2-40B4-BE49-F238E27FC236}">
                <a16:creationId xmlns:a16="http://schemas.microsoft.com/office/drawing/2014/main" id="{F7535DDD-FF71-4164-AF1D-E83EFC8F6947}"/>
              </a:ext>
            </a:extLst>
          </p:cNvPr>
          <p:cNvGrpSpPr/>
          <p:nvPr/>
        </p:nvGrpSpPr>
        <p:grpSpPr>
          <a:xfrm>
            <a:off x="4600288" y="3409572"/>
            <a:ext cx="518776" cy="520393"/>
            <a:chOff x="2647950" y="1133411"/>
            <a:chExt cx="490537" cy="500062"/>
          </a:xfrm>
        </p:grpSpPr>
        <p:pic>
          <p:nvPicPr>
            <p:cNvPr id="116" name="object 19">
              <a:extLst>
                <a:ext uri="{FF2B5EF4-FFF2-40B4-BE49-F238E27FC236}">
                  <a16:creationId xmlns:a16="http://schemas.microsoft.com/office/drawing/2014/main" id="{F8C5E412-38E2-4750-9DDF-686B4B05B6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7950" y="1133411"/>
              <a:ext cx="490537" cy="500062"/>
            </a:xfrm>
            <a:prstGeom prst="rect">
              <a:avLst/>
            </a:prstGeom>
          </p:spPr>
        </p:pic>
        <p:pic>
          <p:nvPicPr>
            <p:cNvPr id="117" name="object 20">
              <a:extLst>
                <a:ext uri="{FF2B5EF4-FFF2-40B4-BE49-F238E27FC236}">
                  <a16:creationId xmlns:a16="http://schemas.microsoft.com/office/drawing/2014/main" id="{3EFA5DFA-BC9F-48D1-8AEA-6355CFAABF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7000" y="1209611"/>
              <a:ext cx="433387" cy="366712"/>
            </a:xfrm>
            <a:prstGeom prst="rect">
              <a:avLst/>
            </a:prstGeom>
          </p:spPr>
        </p:pic>
        <p:sp>
          <p:nvSpPr>
            <p:cNvPr id="118" name="object 21">
              <a:extLst>
                <a:ext uri="{FF2B5EF4-FFF2-40B4-BE49-F238E27FC236}">
                  <a16:creationId xmlns:a16="http://schemas.microsoft.com/office/drawing/2014/main" id="{3F68A825-4BB1-4078-AE83-F705B8959589}"/>
                </a:ext>
              </a:extLst>
            </p:cNvPr>
            <p:cNvSpPr/>
            <p:nvPr/>
          </p:nvSpPr>
          <p:spPr>
            <a:xfrm>
              <a:off x="2690876" y="1176401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176149" y="0"/>
                  </a:moveTo>
                  <a:lnTo>
                    <a:pt x="129322" y="6455"/>
                  </a:lnTo>
                  <a:lnTo>
                    <a:pt x="87244" y="24680"/>
                  </a:lnTo>
                  <a:lnTo>
                    <a:pt x="51593" y="52959"/>
                  </a:lnTo>
                  <a:lnTo>
                    <a:pt x="24050" y="89577"/>
                  </a:lnTo>
                  <a:lnTo>
                    <a:pt x="6292" y="132820"/>
                  </a:lnTo>
                  <a:lnTo>
                    <a:pt x="0" y="180975"/>
                  </a:lnTo>
                  <a:lnTo>
                    <a:pt x="6292" y="229085"/>
                  </a:lnTo>
                  <a:lnTo>
                    <a:pt x="24050" y="272316"/>
                  </a:lnTo>
                  <a:lnTo>
                    <a:pt x="51593" y="308943"/>
                  </a:lnTo>
                  <a:lnTo>
                    <a:pt x="87244" y="337241"/>
                  </a:lnTo>
                  <a:lnTo>
                    <a:pt x="129322" y="355485"/>
                  </a:lnTo>
                  <a:lnTo>
                    <a:pt x="176149" y="361950"/>
                  </a:lnTo>
                  <a:lnTo>
                    <a:pt x="222984" y="355485"/>
                  </a:lnTo>
                  <a:lnTo>
                    <a:pt x="265086" y="337241"/>
                  </a:lnTo>
                  <a:lnTo>
                    <a:pt x="300767" y="308943"/>
                  </a:lnTo>
                  <a:lnTo>
                    <a:pt x="328342" y="272316"/>
                  </a:lnTo>
                  <a:lnTo>
                    <a:pt x="346123" y="229085"/>
                  </a:lnTo>
                  <a:lnTo>
                    <a:pt x="352425" y="180975"/>
                  </a:lnTo>
                  <a:lnTo>
                    <a:pt x="346123" y="132820"/>
                  </a:lnTo>
                  <a:lnTo>
                    <a:pt x="328342" y="89577"/>
                  </a:lnTo>
                  <a:lnTo>
                    <a:pt x="300767" y="52959"/>
                  </a:lnTo>
                  <a:lnTo>
                    <a:pt x="265086" y="24680"/>
                  </a:lnTo>
                  <a:lnTo>
                    <a:pt x="222984" y="6455"/>
                  </a:lnTo>
                  <a:lnTo>
                    <a:pt x="176149" y="0"/>
                  </a:lnTo>
                  <a:close/>
                </a:path>
              </a:pathLst>
            </a:custGeom>
            <a:solidFill>
              <a:srgbClr val="0091D2"/>
            </a:solidFill>
            <a:ln>
              <a:solidFill>
                <a:srgbClr val="002060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s-AR" sz="900" dirty="0">
                  <a:solidFill>
                    <a:schemeClr val="bg1"/>
                  </a:solidFill>
                </a:rPr>
                <a:t>NG</a:t>
              </a:r>
              <a:endParaRPr sz="9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6CCFF6"/>
                </a:solidFill>
                <a:latin typeface="Arial Black"/>
                <a:cs typeface="Arial Black"/>
              </a:rPr>
              <a:t>7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507104" y="1864751"/>
            <a:ext cx="2239010" cy="101091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3950" spc="-10" dirty="0">
                <a:solidFill>
                  <a:srgbClr val="FFFFFF"/>
                </a:solidFill>
              </a:rPr>
              <a:t>Objetivos</a:t>
            </a:r>
            <a:endParaRPr sz="3950"/>
          </a:p>
          <a:p>
            <a:pPr marL="1905" algn="ctr">
              <a:lnSpc>
                <a:spcPct val="100000"/>
              </a:lnSpc>
              <a:spcBef>
                <a:spcPts val="220"/>
              </a:spcBef>
            </a:pPr>
            <a:r>
              <a:rPr sz="2000" b="0" spc="-8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000" b="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metas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552700" cy="5143500"/>
            <a:chOff x="0" y="0"/>
            <a:chExt cx="25527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8137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19404" y="1149286"/>
            <a:ext cx="91186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Objetivos </a:t>
            </a:r>
            <a:r>
              <a:rPr sz="1550" b="1" spc="-5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55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50" dirty="0">
                <a:solidFill>
                  <a:srgbClr val="FFFFFF"/>
                </a:solidFill>
                <a:latin typeface="Trebuchet MS"/>
                <a:cs typeface="Trebuchet MS"/>
              </a:rPr>
              <a:t>Metas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117B2D4D-D68B-413D-97D8-C43438E9F22E}"/>
              </a:ext>
            </a:extLst>
          </p:cNvPr>
          <p:cNvSpPr txBox="1"/>
          <p:nvPr/>
        </p:nvSpPr>
        <p:spPr>
          <a:xfrm>
            <a:off x="2263237" y="600582"/>
            <a:ext cx="66927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rPr lang="es-AR"/>
              <a:t>Convertimos la intención en resultados medibles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2D3CEBCE-5F37-4A67-BBC3-A6B255641696}"/>
              </a:ext>
            </a:extLst>
          </p:cNvPr>
          <p:cNvSpPr/>
          <p:nvPr/>
        </p:nvSpPr>
        <p:spPr>
          <a:xfrm>
            <a:off x="2333625" y="1149286"/>
            <a:ext cx="3134465" cy="2191726"/>
          </a:xfrm>
          <a:prstGeom prst="roundRect">
            <a:avLst>
              <a:gd name="adj" fmla="val 7223"/>
            </a:avLst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6B81FA92-6AE7-4A9A-9020-CBEA0B940A6B}"/>
              </a:ext>
            </a:extLst>
          </p:cNvPr>
          <p:cNvSpPr/>
          <p:nvPr/>
        </p:nvSpPr>
        <p:spPr>
          <a:xfrm>
            <a:off x="2324467" y="1173411"/>
            <a:ext cx="55036" cy="2088000"/>
          </a:xfrm>
          <a:prstGeom prst="rect">
            <a:avLst/>
          </a:prstGeom>
          <a:solidFill>
            <a:srgbClr val="35A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074326C-44C9-4C00-A4B8-C9580B1D76AF}"/>
              </a:ext>
            </a:extLst>
          </p:cNvPr>
          <p:cNvSpPr txBox="1"/>
          <p:nvPr/>
        </p:nvSpPr>
        <p:spPr>
          <a:xfrm>
            <a:off x="2475147" y="1245039"/>
            <a:ext cx="283315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B3136"/>
                </a:solidFill>
              </a:defRPr>
            </a:pPr>
            <a:r>
              <a:rPr lang="es-AR"/>
              <a:t>OBJETIVOS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C4037DDC-9211-4A08-A6E1-7D7127DC8696}"/>
              </a:ext>
            </a:extLst>
          </p:cNvPr>
          <p:cNvSpPr txBox="1"/>
          <p:nvPr/>
        </p:nvSpPr>
        <p:spPr>
          <a:xfrm>
            <a:off x="2475147" y="1588161"/>
            <a:ext cx="2992944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>
              <a:lnSpc>
                <a:spcPct val="150000"/>
              </a:lnSpc>
              <a:defRPr sz="1500">
                <a:solidFill>
                  <a:srgbClr val="646C72"/>
                </a:solidFill>
              </a:defRPr>
            </a:pPr>
            <a:r>
              <a:rPr lang="es-AR" sz="1200" dirty="0"/>
              <a:t>• Optimizar la limpieza del sector.</a:t>
            </a:r>
          </a:p>
          <a:p>
            <a:pPr marL="90488" indent="-90488">
              <a:lnSpc>
                <a:spcPct val="150000"/>
              </a:lnSpc>
              <a:defRPr sz="1500">
                <a:solidFill>
                  <a:srgbClr val="646C72"/>
                </a:solidFill>
              </a:defRPr>
            </a:pPr>
            <a:r>
              <a:rPr lang="es-AR" sz="1200" dirty="0"/>
              <a:t>• Mejorar 5S.</a:t>
            </a:r>
          </a:p>
          <a:p>
            <a:pPr marL="90488" indent="-90488">
              <a:lnSpc>
                <a:spcPct val="150000"/>
              </a:lnSpc>
              <a:defRPr sz="1500">
                <a:solidFill>
                  <a:srgbClr val="646C72"/>
                </a:solidFill>
              </a:defRPr>
            </a:pPr>
            <a:r>
              <a:rPr lang="es-AR" sz="1200" dirty="0"/>
              <a:t>• Evitar condiciones inseguras asociadas a elementos metálicos.</a:t>
            </a:r>
          </a:p>
          <a:p>
            <a:pPr marL="90488" indent="-90488">
              <a:lnSpc>
                <a:spcPct val="150000"/>
              </a:lnSpc>
              <a:defRPr sz="1500">
                <a:solidFill>
                  <a:srgbClr val="646C72"/>
                </a:solidFill>
              </a:defRPr>
            </a:pPr>
            <a:r>
              <a:rPr lang="es-AR" sz="1200" dirty="0"/>
              <a:t>• Implementar un método estandarizado.</a:t>
            </a: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5A7DF1B8-A3D3-4CF0-B09B-A9F3FC7F8CA6}"/>
              </a:ext>
            </a:extLst>
          </p:cNvPr>
          <p:cNvSpPr/>
          <p:nvPr/>
        </p:nvSpPr>
        <p:spPr>
          <a:xfrm>
            <a:off x="6070296" y="1149287"/>
            <a:ext cx="2916765" cy="2191726"/>
          </a:xfrm>
          <a:prstGeom prst="roundRect">
            <a:avLst>
              <a:gd name="adj" fmla="val 7390"/>
            </a:avLst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C19FE2CE-2944-421A-A2BE-AE9D7FEBF3B8}"/>
              </a:ext>
            </a:extLst>
          </p:cNvPr>
          <p:cNvSpPr/>
          <p:nvPr/>
        </p:nvSpPr>
        <p:spPr>
          <a:xfrm>
            <a:off x="6033817" y="1166390"/>
            <a:ext cx="55036" cy="2088000"/>
          </a:xfrm>
          <a:prstGeom prst="rect">
            <a:avLst/>
          </a:prstGeom>
          <a:solidFill>
            <a:srgbClr val="EE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4972214D-2682-4903-888F-CC388342C3CB}"/>
              </a:ext>
            </a:extLst>
          </p:cNvPr>
          <p:cNvSpPr txBox="1"/>
          <p:nvPr/>
        </p:nvSpPr>
        <p:spPr>
          <a:xfrm>
            <a:off x="6255566" y="1255948"/>
            <a:ext cx="229827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B3136"/>
                </a:solidFill>
              </a:defRPr>
            </a:pPr>
            <a:r>
              <a:rPr lang="es-AR" dirty="0"/>
              <a:t>METAS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9F3D1ED9-50FD-40AE-BD63-83C59F3B7B26}"/>
              </a:ext>
            </a:extLst>
          </p:cNvPr>
          <p:cNvSpPr txBox="1"/>
          <p:nvPr/>
        </p:nvSpPr>
        <p:spPr>
          <a:xfrm>
            <a:off x="6172200" y="1588161"/>
            <a:ext cx="2851340" cy="17528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90488" indent="-90488">
              <a:lnSpc>
                <a:spcPct val="150000"/>
              </a:lnSpc>
              <a:defRPr sz="1200">
                <a:solidFill>
                  <a:srgbClr val="646C72"/>
                </a:solidFill>
              </a:defRPr>
            </a:lvl1pPr>
          </a:lstStyle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s-AR" dirty="0"/>
              <a:t>• Eliminar el 100 % de los elementos metálicos detectables en el piso del área intervenida.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s-AR" dirty="0"/>
              <a:t>• Segregar el 100 % de los elementos recuperados.</a:t>
            </a:r>
          </a:p>
          <a:p>
            <a:pPr>
              <a:lnSpc>
                <a:spcPts val="1700"/>
              </a:lnSpc>
              <a:spcAft>
                <a:spcPts val="600"/>
              </a:spcAft>
            </a:pPr>
            <a:r>
              <a:rPr lang="es-AR" dirty="0"/>
              <a:t>• Método estándar de recupero de estos objetos.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45EAAE58-DB04-4C62-B371-D9EB881DE5FD}"/>
              </a:ext>
            </a:extLst>
          </p:cNvPr>
          <p:cNvSpPr/>
          <p:nvPr/>
        </p:nvSpPr>
        <p:spPr>
          <a:xfrm>
            <a:off x="2763684" y="3772673"/>
            <a:ext cx="1808316" cy="877750"/>
          </a:xfrm>
          <a:prstGeom prst="roundRect">
            <a:avLst/>
          </a:prstGeom>
          <a:solidFill>
            <a:srgbClr val="FFFFFF"/>
          </a:solidFill>
          <a:ln>
            <a:solidFill>
              <a:srgbClr val="EE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C05AA0A1-F410-477C-875E-47F79410F3B3}"/>
              </a:ext>
            </a:extLst>
          </p:cNvPr>
          <p:cNvSpPr txBox="1"/>
          <p:nvPr/>
        </p:nvSpPr>
        <p:spPr>
          <a:xfrm>
            <a:off x="3084990" y="3868427"/>
            <a:ext cx="116570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EE1934"/>
                </a:solidFill>
              </a:defRPr>
            </a:pPr>
            <a:r>
              <a:rPr lang="es-AR"/>
              <a:t>100 %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61B75940-168A-491B-B5C4-017CC6B7315B}"/>
              </a:ext>
            </a:extLst>
          </p:cNvPr>
          <p:cNvSpPr txBox="1"/>
          <p:nvPr/>
        </p:nvSpPr>
        <p:spPr>
          <a:xfrm>
            <a:off x="2934307" y="4275384"/>
            <a:ext cx="14670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C72"/>
                </a:solidFill>
              </a:defRPr>
            </a:pPr>
            <a:r>
              <a:rPr lang="es-AR"/>
              <a:t>Piso sin metal detectable</a:t>
            </a:r>
          </a:p>
        </p:txBody>
      </p:sp>
      <p:sp>
        <p:nvSpPr>
          <p:cNvPr id="27" name="Rounded Rectangle 16">
            <a:extLst>
              <a:ext uri="{FF2B5EF4-FFF2-40B4-BE49-F238E27FC236}">
                <a16:creationId xmlns:a16="http://schemas.microsoft.com/office/drawing/2014/main" id="{5CD33DE4-3FD5-46CF-8E63-6393A7161EC2}"/>
              </a:ext>
            </a:extLst>
          </p:cNvPr>
          <p:cNvSpPr/>
          <p:nvPr/>
        </p:nvSpPr>
        <p:spPr>
          <a:xfrm>
            <a:off x="4768556" y="3772673"/>
            <a:ext cx="1808316" cy="877750"/>
          </a:xfrm>
          <a:prstGeom prst="roundRect">
            <a:avLst/>
          </a:prstGeom>
          <a:solidFill>
            <a:srgbClr val="FFFFFF"/>
          </a:solidFill>
          <a:ln>
            <a:solidFill>
              <a:srgbClr val="2F8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8B1DFDBC-1391-45D7-8F6F-412C6EB853C8}"/>
              </a:ext>
            </a:extLst>
          </p:cNvPr>
          <p:cNvSpPr txBox="1"/>
          <p:nvPr/>
        </p:nvSpPr>
        <p:spPr>
          <a:xfrm>
            <a:off x="5089862" y="3868427"/>
            <a:ext cx="116570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F8E4F"/>
                </a:solidFill>
              </a:defRPr>
            </a:pPr>
            <a:r>
              <a:rPr lang="es-AR"/>
              <a:t>100 %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CA22B255-25A0-436A-9F8A-D4226560A453}"/>
              </a:ext>
            </a:extLst>
          </p:cNvPr>
          <p:cNvSpPr txBox="1"/>
          <p:nvPr/>
        </p:nvSpPr>
        <p:spPr>
          <a:xfrm>
            <a:off x="5256574" y="4275384"/>
            <a:ext cx="8322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C72"/>
                </a:solidFill>
              </a:defRPr>
            </a:pPr>
            <a:r>
              <a:rPr lang="es-AR"/>
              <a:t>Segregación</a:t>
            </a:r>
          </a:p>
        </p:txBody>
      </p:sp>
      <p:sp>
        <p:nvSpPr>
          <p:cNvPr id="30" name="Rounded Rectangle 19">
            <a:extLst>
              <a:ext uri="{FF2B5EF4-FFF2-40B4-BE49-F238E27FC236}">
                <a16:creationId xmlns:a16="http://schemas.microsoft.com/office/drawing/2014/main" id="{E150821B-786D-4474-8CB2-9507B4D8F9D7}"/>
              </a:ext>
            </a:extLst>
          </p:cNvPr>
          <p:cNvSpPr/>
          <p:nvPr/>
        </p:nvSpPr>
        <p:spPr>
          <a:xfrm>
            <a:off x="6773428" y="3772673"/>
            <a:ext cx="1808316" cy="877750"/>
          </a:xfrm>
          <a:prstGeom prst="roundRect">
            <a:avLst/>
          </a:prstGeom>
          <a:solidFill>
            <a:srgbClr val="FFFFFF"/>
          </a:solidFill>
          <a:ln>
            <a:solidFill>
              <a:srgbClr val="35A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960BC3D5-ABF2-4EFD-B0F0-C49F68180742}"/>
              </a:ext>
            </a:extLst>
          </p:cNvPr>
          <p:cNvSpPr txBox="1"/>
          <p:nvPr/>
        </p:nvSpPr>
        <p:spPr>
          <a:xfrm>
            <a:off x="7489073" y="3868427"/>
            <a:ext cx="3770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5AEDE"/>
                </a:solidFill>
              </a:defRPr>
            </a:pPr>
            <a:r>
              <a:rPr lang="es-AR"/>
              <a:t>1</a:t>
            </a: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127F1FD0-71B3-420F-86CE-83B1E84C5992}"/>
              </a:ext>
            </a:extLst>
          </p:cNvPr>
          <p:cNvSpPr txBox="1"/>
          <p:nvPr/>
        </p:nvSpPr>
        <p:spPr>
          <a:xfrm>
            <a:off x="7152441" y="4275384"/>
            <a:ext cx="10502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C72"/>
                </a:solidFill>
              </a:defRPr>
            </a:pPr>
            <a:r>
              <a:rPr lang="es-AR" dirty="0"/>
              <a:t>Método estándar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6CCFF6"/>
                </a:solidFill>
                <a:latin typeface="Arial Black"/>
                <a:cs typeface="Arial Black"/>
              </a:rPr>
              <a:t>8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29560" y="1717512"/>
            <a:ext cx="3597910" cy="10096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3950" spc="-10" dirty="0">
                <a:solidFill>
                  <a:srgbClr val="FFFFFF"/>
                </a:solidFill>
              </a:rPr>
              <a:t>Estudio</a:t>
            </a:r>
            <a:endParaRPr sz="3950"/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2000" b="0" spc="-3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000" b="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30" dirty="0">
                <a:solidFill>
                  <a:srgbClr val="FFFFFF"/>
                </a:solidFill>
                <a:latin typeface="Trebuchet MS"/>
                <a:cs typeface="Trebuchet MS"/>
              </a:rPr>
              <a:t>implementación</a:t>
            </a:r>
            <a:r>
              <a:rPr sz="2000" b="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0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5">
            <a:extLst>
              <a:ext uri="{FF2B5EF4-FFF2-40B4-BE49-F238E27FC236}">
                <a16:creationId xmlns:a16="http://schemas.microsoft.com/office/drawing/2014/main" id="{259973B8-DC4C-43B8-AE5E-D1417AD46438}"/>
              </a:ext>
            </a:extLst>
          </p:cNvPr>
          <p:cNvSpPr txBox="1"/>
          <p:nvPr/>
        </p:nvSpPr>
        <p:spPr>
          <a:xfrm>
            <a:off x="701040" y="212598"/>
            <a:ext cx="8061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3136"/>
                </a:solidFill>
              </a:defRPr>
            </a:pPr>
            <a:r>
              <a:t>Estudio e implementación de soluciones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8491A42-24EE-4483-8BC7-4D6933068595}"/>
              </a:ext>
            </a:extLst>
          </p:cNvPr>
          <p:cNvSpPr txBox="1"/>
          <p:nvPr/>
        </p:nvSpPr>
        <p:spPr>
          <a:xfrm>
            <a:off x="701040" y="690045"/>
            <a:ext cx="8138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Tres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alternativas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antes de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decidir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A5557A3E-B3C7-4478-9042-3C0A7FECC727}"/>
              </a:ext>
            </a:extLst>
          </p:cNvPr>
          <p:cNvSpPr/>
          <p:nvPr/>
        </p:nvSpPr>
        <p:spPr>
          <a:xfrm>
            <a:off x="668674" y="1154430"/>
            <a:ext cx="2618232" cy="28346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1EC54C95-664F-4CDD-B804-0919C699857D}"/>
              </a:ext>
            </a:extLst>
          </p:cNvPr>
          <p:cNvSpPr/>
          <p:nvPr/>
        </p:nvSpPr>
        <p:spPr>
          <a:xfrm>
            <a:off x="668674" y="1154430"/>
            <a:ext cx="64008" cy="2834640"/>
          </a:xfrm>
          <a:prstGeom prst="rect">
            <a:avLst/>
          </a:prstGeom>
          <a:solidFill>
            <a:srgbClr val="EE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7B301F30-1C3A-4C1E-970F-B5586D50C67B}"/>
              </a:ext>
            </a:extLst>
          </p:cNvPr>
          <p:cNvSpPr txBox="1"/>
          <p:nvPr/>
        </p:nvSpPr>
        <p:spPr>
          <a:xfrm>
            <a:off x="833266" y="1264158"/>
            <a:ext cx="242678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3136"/>
                </a:solidFill>
              </a:defRPr>
            </a:pPr>
            <a:r>
              <a:t>PROPUESTA 1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D0F29F63-BC68-4350-A19D-7F04B7522C73}"/>
              </a:ext>
            </a:extLst>
          </p:cNvPr>
          <p:cNvSpPr txBox="1"/>
          <p:nvPr/>
        </p:nvSpPr>
        <p:spPr>
          <a:xfrm>
            <a:off x="833266" y="1657349"/>
            <a:ext cx="2426789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Escobillón magnético con imanes de neodimio.</a:t>
            </a:r>
            <a:b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s-A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 sz="1300">
                <a:solidFill>
                  <a:srgbClr val="646C72"/>
                </a:solidFill>
              </a:defRPr>
            </a:pPr>
            <a:b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s-A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Alta capacidad de atracción y separación de elementos metálicos.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E59225CC-5E10-4441-BF31-563DD8263C3E}"/>
              </a:ext>
            </a:extLst>
          </p:cNvPr>
          <p:cNvSpPr/>
          <p:nvPr/>
        </p:nvSpPr>
        <p:spPr>
          <a:xfrm>
            <a:off x="3529584" y="1156063"/>
            <a:ext cx="2527373" cy="28346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A5094F78-AE0C-4B94-B66B-B908827D0E4D}"/>
              </a:ext>
            </a:extLst>
          </p:cNvPr>
          <p:cNvSpPr/>
          <p:nvPr/>
        </p:nvSpPr>
        <p:spPr>
          <a:xfrm>
            <a:off x="3529584" y="1156063"/>
            <a:ext cx="64008" cy="2834640"/>
          </a:xfrm>
          <a:prstGeom prst="rect">
            <a:avLst/>
          </a:prstGeom>
          <a:solidFill>
            <a:srgbClr val="EF9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9AD81AD9-1F28-4294-8CED-F35E034CAB8D}"/>
              </a:ext>
            </a:extLst>
          </p:cNvPr>
          <p:cNvSpPr txBox="1"/>
          <p:nvPr/>
        </p:nvSpPr>
        <p:spPr>
          <a:xfrm>
            <a:off x="3694176" y="1265791"/>
            <a:ext cx="2286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3136"/>
                </a:solidFill>
              </a:defRPr>
            </a:pPr>
            <a:r>
              <a:t>PROPUESTA 2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880BE0B1-D989-44C9-9ACD-AB3932ADF7D2}"/>
              </a:ext>
            </a:extLst>
          </p:cNvPr>
          <p:cNvSpPr txBox="1"/>
          <p:nvPr/>
        </p:nvSpPr>
        <p:spPr>
          <a:xfrm>
            <a:off x="3694176" y="1658982"/>
            <a:ext cx="2463365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Adaptación de una escoba convencional incorporando imanes.</a:t>
            </a:r>
            <a:b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s-A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costo de implementación, pero limita el diseño y la descarga.</a:t>
            </a:r>
          </a:p>
        </p:txBody>
      </p:sp>
      <p:sp>
        <p:nvSpPr>
          <p:cNvPr id="18" name="Rounded Rectangle 15">
            <a:extLst>
              <a:ext uri="{FF2B5EF4-FFF2-40B4-BE49-F238E27FC236}">
                <a16:creationId xmlns:a16="http://schemas.microsoft.com/office/drawing/2014/main" id="{0897750D-C3EA-4BE2-8B69-FAF61DBFDFB8}"/>
              </a:ext>
            </a:extLst>
          </p:cNvPr>
          <p:cNvSpPr/>
          <p:nvPr/>
        </p:nvSpPr>
        <p:spPr>
          <a:xfrm>
            <a:off x="6235627" y="1154430"/>
            <a:ext cx="2527373" cy="28346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662531CA-AED4-48E0-8F25-81A1B5E2AFF4}"/>
              </a:ext>
            </a:extLst>
          </p:cNvPr>
          <p:cNvSpPr/>
          <p:nvPr/>
        </p:nvSpPr>
        <p:spPr>
          <a:xfrm>
            <a:off x="6235627" y="1154430"/>
            <a:ext cx="64008" cy="2834640"/>
          </a:xfrm>
          <a:prstGeom prst="rect">
            <a:avLst/>
          </a:prstGeom>
          <a:solidFill>
            <a:srgbClr val="35A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C55E62C1-C835-4A14-8ECF-19A48A00B2A7}"/>
              </a:ext>
            </a:extLst>
          </p:cNvPr>
          <p:cNvSpPr txBox="1"/>
          <p:nvPr/>
        </p:nvSpPr>
        <p:spPr>
          <a:xfrm>
            <a:off x="6400219" y="1264158"/>
            <a:ext cx="2286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3136"/>
                </a:solidFill>
              </a:defRPr>
            </a:pPr>
            <a:r>
              <a:t>PROPUESTA 3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18F5E2AC-2CC4-4188-8ADE-BBE8403BC885}"/>
              </a:ext>
            </a:extLst>
          </p:cNvPr>
          <p:cNvSpPr txBox="1"/>
          <p:nvPr/>
        </p:nvSpPr>
        <p:spPr>
          <a:xfrm>
            <a:off x="6400219" y="1657349"/>
            <a:ext cx="24536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Escobillón magnético con rueda.</a:t>
            </a:r>
            <a:b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s-A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 sz="1300">
                <a:solidFill>
                  <a:srgbClr val="646C72"/>
                </a:solidFill>
              </a:defRPr>
            </a:pPr>
            <a:br>
              <a:rPr lang="es-A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s-A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Mejora potencial de ergonomía y desplazamiento, pero requiere recursos de fabricación.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F2F6DAB-B3B9-41DF-A59F-03C507F4C70B}"/>
              </a:ext>
            </a:extLst>
          </p:cNvPr>
          <p:cNvSpPr txBox="1"/>
          <p:nvPr/>
        </p:nvSpPr>
        <p:spPr>
          <a:xfrm>
            <a:off x="1363285" y="4252894"/>
            <a:ext cx="69958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B3136"/>
                </a:solidFill>
              </a:defRPr>
            </a:pPr>
            <a:r>
              <a:rPr lang="es-AR"/>
              <a:t>Evaluamos eficacia • seguridad • ergonomía • facilidad de fabricación • recursos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965D219-69D4-405F-8B58-7786DAC910DD}"/>
              </a:ext>
            </a:extLst>
          </p:cNvPr>
          <p:cNvSpPr/>
          <p:nvPr/>
        </p:nvSpPr>
        <p:spPr>
          <a:xfrm>
            <a:off x="0" y="4870048"/>
            <a:ext cx="9144000" cy="273452"/>
          </a:xfrm>
          <a:prstGeom prst="rect">
            <a:avLst/>
          </a:prstGeom>
          <a:solidFill>
            <a:srgbClr val="0091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5">
            <a:extLst>
              <a:ext uri="{FF2B5EF4-FFF2-40B4-BE49-F238E27FC236}">
                <a16:creationId xmlns:a16="http://schemas.microsoft.com/office/drawing/2014/main" id="{259973B8-DC4C-43B8-AE5E-D1417AD46438}"/>
              </a:ext>
            </a:extLst>
          </p:cNvPr>
          <p:cNvSpPr txBox="1"/>
          <p:nvPr/>
        </p:nvSpPr>
        <p:spPr>
          <a:xfrm>
            <a:off x="701040" y="212598"/>
            <a:ext cx="8061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B3136"/>
                </a:solidFill>
              </a:defRPr>
            </a:pPr>
            <a:r>
              <a:t>Estudio e implementación de soluciones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8491A42-24EE-4483-8BC7-4D6933068595}"/>
              </a:ext>
            </a:extLst>
          </p:cNvPr>
          <p:cNvSpPr txBox="1"/>
          <p:nvPr/>
        </p:nvSpPr>
        <p:spPr>
          <a:xfrm>
            <a:off x="701040" y="690045"/>
            <a:ext cx="8138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rPr lang="es-MX" dirty="0">
                <a:solidFill>
                  <a:schemeClr val="bg1">
                    <a:lumMod val="85000"/>
                  </a:schemeClr>
                </a:solidFill>
              </a:rPr>
              <a:t>La alternativa que mejor responde al problema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965D219-69D4-405F-8B58-7786DAC910DD}"/>
              </a:ext>
            </a:extLst>
          </p:cNvPr>
          <p:cNvSpPr/>
          <p:nvPr/>
        </p:nvSpPr>
        <p:spPr>
          <a:xfrm>
            <a:off x="0" y="4870048"/>
            <a:ext cx="9144000" cy="273452"/>
          </a:xfrm>
          <a:prstGeom prst="rect">
            <a:avLst/>
          </a:prstGeom>
          <a:solidFill>
            <a:srgbClr val="0091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4663ED64-DDB4-4342-8F14-A0A298BA1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539263"/>
              </p:ext>
            </p:extLst>
          </p:nvPr>
        </p:nvGraphicFramePr>
        <p:xfrm>
          <a:off x="609600" y="971550"/>
          <a:ext cx="82295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9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Criterio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B31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</a:rPr>
                        <a:t>P1 Neodimio</a:t>
                      </a:r>
                    </a:p>
                  </a:txBody>
                  <a:tcPr anchor="ctr">
                    <a:solidFill>
                      <a:srgbClr val="2B31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</a:rPr>
                        <a:t>P2 Adaptada</a:t>
                      </a:r>
                    </a:p>
                  </a:txBody>
                  <a:tcPr anchor="ctr">
                    <a:solidFill>
                      <a:srgbClr val="2B31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>
                          <a:solidFill>
                            <a:schemeClr val="bg1"/>
                          </a:solidFill>
                        </a:rPr>
                        <a:t>P3 Con </a:t>
                      </a:r>
                      <a:r>
                        <a:rPr sz="1600" dirty="0" err="1">
                          <a:solidFill>
                            <a:schemeClr val="bg1"/>
                          </a:solidFill>
                        </a:rPr>
                        <a:t>rueda</a:t>
                      </a:r>
                      <a:endParaRPr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B31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Atracción</a:t>
                      </a: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/ </a:t>
                      </a:r>
                      <a:r>
                        <a:rPr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recuperación</a:t>
                      </a:r>
                      <a:endParaRPr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E2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Seguridad</a:t>
                      </a: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/ </a:t>
                      </a:r>
                      <a:r>
                        <a:rPr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segregación</a:t>
                      </a:r>
                      <a:endParaRPr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B3136"/>
                          </a:solidFill>
                        </a:defRPr>
                      </a:pPr>
                      <a:r>
                        <a:rPr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E2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Fabricación</a:t>
                      </a: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/ </a:t>
                      </a:r>
                      <a:r>
                        <a:rPr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recursos</a:t>
                      </a:r>
                      <a:endParaRPr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E2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Implementación</a:t>
                      </a: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inmediata</a:t>
                      </a:r>
                      <a:endParaRPr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B3136"/>
                          </a:solidFill>
                        </a:defRPr>
                      </a:pPr>
                      <a:r>
                        <a:rPr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E2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B3136"/>
                          </a:solidFill>
                        </a:defRPr>
                      </a:pPr>
                      <a:r>
                        <a:rPr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27BDA20F-2622-4CB7-B37B-A50137DF202E}"/>
              </a:ext>
            </a:extLst>
          </p:cNvPr>
          <p:cNvSpPr/>
          <p:nvPr/>
        </p:nvSpPr>
        <p:spPr>
          <a:xfrm>
            <a:off x="990600" y="3950482"/>
            <a:ext cx="7273636" cy="82296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7E5DF092-370A-469A-843E-3A3CB369303C}"/>
              </a:ext>
            </a:extLst>
          </p:cNvPr>
          <p:cNvSpPr/>
          <p:nvPr/>
        </p:nvSpPr>
        <p:spPr>
          <a:xfrm>
            <a:off x="990600" y="3950482"/>
            <a:ext cx="58189" cy="822960"/>
          </a:xfrm>
          <a:prstGeom prst="rect">
            <a:avLst/>
          </a:prstGeom>
          <a:solidFill>
            <a:srgbClr val="EE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DD0B823E-5462-40AE-8705-48213002BDA6}"/>
              </a:ext>
            </a:extLst>
          </p:cNvPr>
          <p:cNvSpPr txBox="1"/>
          <p:nvPr/>
        </p:nvSpPr>
        <p:spPr>
          <a:xfrm>
            <a:off x="1155193" y="4060210"/>
            <a:ext cx="70242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3136"/>
                </a:solidFill>
              </a:defRPr>
            </a:pPr>
            <a:r>
              <a:rPr dirty="0"/>
              <a:t>DECISIÓN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EA1500F1-ED6C-4B55-AA55-64314C2403A3}"/>
              </a:ext>
            </a:extLst>
          </p:cNvPr>
          <p:cNvSpPr txBox="1"/>
          <p:nvPr/>
        </p:nvSpPr>
        <p:spPr>
          <a:xfrm>
            <a:off x="1155193" y="4453401"/>
            <a:ext cx="702425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t>Se selecciona la Propuesta 1: escobillón con imanes de neodimio.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505FAA-2607-4859-8668-585DBFFE8163}"/>
              </a:ext>
            </a:extLst>
          </p:cNvPr>
          <p:cNvSpPr/>
          <p:nvPr/>
        </p:nvSpPr>
        <p:spPr>
          <a:xfrm>
            <a:off x="4114800" y="971550"/>
            <a:ext cx="1548000" cy="2752212"/>
          </a:xfrm>
          <a:prstGeom prst="rect">
            <a:avLst/>
          </a:prstGeom>
          <a:noFill/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1885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552700" cy="5143500"/>
            <a:chOff x="0" y="0"/>
            <a:chExt cx="25527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757551" y="690626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420" y="827657"/>
            <a:ext cx="1553845" cy="7531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Estudio</a:t>
            </a:r>
            <a:r>
              <a:rPr sz="155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50" dirty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implementación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soluciones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003" rIns="0" bIns="0" rtlCol="0">
            <a:spAutoFit/>
          </a:bodyPr>
          <a:lstStyle/>
          <a:p>
            <a:pPr marL="2592705">
              <a:lnSpc>
                <a:spcPct val="100000"/>
              </a:lnSpc>
              <a:spcBef>
                <a:spcPts val="125"/>
              </a:spcBef>
            </a:pPr>
            <a:r>
              <a:rPr dirty="0"/>
              <a:t>Evidencias</a:t>
            </a:r>
            <a:r>
              <a:rPr spc="10" dirty="0"/>
              <a:t> </a:t>
            </a:r>
            <a:r>
              <a:rPr spc="-20" dirty="0"/>
              <a:t>de</a:t>
            </a:r>
            <a:r>
              <a:rPr spc="-65" dirty="0"/>
              <a:t> </a:t>
            </a:r>
            <a:r>
              <a:rPr dirty="0"/>
              <a:t>la</a:t>
            </a:r>
            <a:r>
              <a:rPr spc="-60" dirty="0"/>
              <a:t> </a:t>
            </a:r>
            <a:r>
              <a:rPr dirty="0"/>
              <a:t>implementación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25" dirty="0"/>
              <a:t> </a:t>
            </a:r>
            <a:r>
              <a:rPr dirty="0"/>
              <a:t>la</a:t>
            </a:r>
            <a:r>
              <a:rPr spc="-60" dirty="0"/>
              <a:t> </a:t>
            </a:r>
            <a:r>
              <a:rPr spc="-10" dirty="0"/>
              <a:t>solución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99672DF2-C9F9-4B65-81E5-E562A1F8541F}"/>
              </a:ext>
            </a:extLst>
          </p:cNvPr>
          <p:cNvSpPr txBox="1"/>
          <p:nvPr/>
        </p:nvSpPr>
        <p:spPr>
          <a:xfrm>
            <a:off x="2005713" y="1127896"/>
            <a:ext cx="26238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Escobillón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con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imanes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neodimio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82DEED13-88D3-4A14-BD69-0844130D1448}"/>
              </a:ext>
            </a:extLst>
          </p:cNvPr>
          <p:cNvSpPr/>
          <p:nvPr/>
        </p:nvSpPr>
        <p:spPr>
          <a:xfrm>
            <a:off x="4730117" y="904493"/>
            <a:ext cx="4160520" cy="12344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33DE950F-6769-4EBF-909D-77C833562D8A}"/>
              </a:ext>
            </a:extLst>
          </p:cNvPr>
          <p:cNvSpPr/>
          <p:nvPr/>
        </p:nvSpPr>
        <p:spPr>
          <a:xfrm>
            <a:off x="4730117" y="904493"/>
            <a:ext cx="64008" cy="1234440"/>
          </a:xfrm>
          <a:prstGeom prst="rect">
            <a:avLst/>
          </a:prstGeom>
          <a:solidFill>
            <a:srgbClr val="EE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D8E6B1C-D992-4892-8828-45618C07B8AB}"/>
              </a:ext>
            </a:extLst>
          </p:cNvPr>
          <p:cNvSpPr txBox="1"/>
          <p:nvPr/>
        </p:nvSpPr>
        <p:spPr>
          <a:xfrm>
            <a:off x="4894709" y="1014220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3136"/>
                </a:solidFill>
              </a:defRPr>
            </a:pPr>
            <a:r>
              <a:t>¿QUÉ HACE?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F459CD41-93D6-4F04-9434-6EF5C106A176}"/>
              </a:ext>
            </a:extLst>
          </p:cNvPr>
          <p:cNvSpPr txBox="1"/>
          <p:nvPr/>
        </p:nvSpPr>
        <p:spPr>
          <a:xfrm>
            <a:off x="4894709" y="1407413"/>
            <a:ext cx="3886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t>Atrae tornillos y pequeños elementos ferromagnéticos desde el piso.</a:t>
            </a: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EE56F2A2-85DB-4E11-8D42-467501B50410}"/>
              </a:ext>
            </a:extLst>
          </p:cNvPr>
          <p:cNvSpPr/>
          <p:nvPr/>
        </p:nvSpPr>
        <p:spPr>
          <a:xfrm>
            <a:off x="4730117" y="2321813"/>
            <a:ext cx="4160520" cy="12344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16EE7E7-7003-4C22-903A-B24DD70CA64A}"/>
              </a:ext>
            </a:extLst>
          </p:cNvPr>
          <p:cNvSpPr/>
          <p:nvPr/>
        </p:nvSpPr>
        <p:spPr>
          <a:xfrm>
            <a:off x="4730117" y="2321813"/>
            <a:ext cx="64008" cy="1234440"/>
          </a:xfrm>
          <a:prstGeom prst="rect">
            <a:avLst/>
          </a:prstGeom>
          <a:solidFill>
            <a:srgbClr val="35A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5DB7E596-1A37-4CB8-9FDA-F4A62CF66F6F}"/>
              </a:ext>
            </a:extLst>
          </p:cNvPr>
          <p:cNvSpPr txBox="1"/>
          <p:nvPr/>
        </p:nvSpPr>
        <p:spPr>
          <a:xfrm>
            <a:off x="4894709" y="2431541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3136"/>
                </a:solidFill>
              </a:defRPr>
            </a:pPr>
            <a:r>
              <a:t>¿CÓMO SE USA?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36E3C099-25C2-4725-8933-DCB39A3D8C23}"/>
              </a:ext>
            </a:extLst>
          </p:cNvPr>
          <p:cNvSpPr txBox="1"/>
          <p:nvPr/>
        </p:nvSpPr>
        <p:spPr>
          <a:xfrm>
            <a:off x="4894709" y="2824733"/>
            <a:ext cx="3886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dirty="0"/>
              <a:t>Se </a:t>
            </a:r>
            <a:r>
              <a:rPr dirty="0" err="1"/>
              <a:t>pasa</a:t>
            </a:r>
            <a:r>
              <a:rPr dirty="0"/>
              <a:t> primero por la zona </a:t>
            </a:r>
            <a:r>
              <a:rPr dirty="0" err="1"/>
              <a:t>intervenida</a:t>
            </a:r>
            <a:r>
              <a:rPr dirty="0"/>
              <a:t> y </a:t>
            </a:r>
            <a:r>
              <a:rPr dirty="0" err="1"/>
              <a:t>luego</a:t>
            </a:r>
            <a:r>
              <a:rPr dirty="0"/>
              <a:t> se </a:t>
            </a:r>
            <a:r>
              <a:rPr dirty="0" err="1"/>
              <a:t>realiza</a:t>
            </a:r>
            <a:r>
              <a:rPr dirty="0"/>
              <a:t> la </a:t>
            </a:r>
            <a:r>
              <a:rPr dirty="0" err="1"/>
              <a:t>limpieza</a:t>
            </a:r>
            <a:r>
              <a:rPr dirty="0"/>
              <a:t> </a:t>
            </a:r>
            <a:r>
              <a:rPr dirty="0" err="1"/>
              <a:t>convencional</a:t>
            </a:r>
            <a:r>
              <a:rPr dirty="0"/>
              <a:t>.</a:t>
            </a:r>
          </a:p>
        </p:txBody>
      </p:sp>
      <p:sp>
        <p:nvSpPr>
          <p:cNvPr id="24" name="Rounded Rectangle 16">
            <a:extLst>
              <a:ext uri="{FF2B5EF4-FFF2-40B4-BE49-F238E27FC236}">
                <a16:creationId xmlns:a16="http://schemas.microsoft.com/office/drawing/2014/main" id="{1DF71022-CB60-4D4D-8722-87DD002FA0A1}"/>
              </a:ext>
            </a:extLst>
          </p:cNvPr>
          <p:cNvSpPr/>
          <p:nvPr/>
        </p:nvSpPr>
        <p:spPr>
          <a:xfrm>
            <a:off x="4730117" y="3739133"/>
            <a:ext cx="4160520" cy="12344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C7838A01-DF30-4495-8B0A-8D13560CEF81}"/>
              </a:ext>
            </a:extLst>
          </p:cNvPr>
          <p:cNvSpPr/>
          <p:nvPr/>
        </p:nvSpPr>
        <p:spPr>
          <a:xfrm>
            <a:off x="4730117" y="3739133"/>
            <a:ext cx="64008" cy="1234440"/>
          </a:xfrm>
          <a:prstGeom prst="rect">
            <a:avLst/>
          </a:prstGeom>
          <a:solidFill>
            <a:srgbClr val="2F8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E55CA1C0-6B95-4AC8-B3EB-8FCB6B886150}"/>
              </a:ext>
            </a:extLst>
          </p:cNvPr>
          <p:cNvSpPr txBox="1"/>
          <p:nvPr/>
        </p:nvSpPr>
        <p:spPr>
          <a:xfrm>
            <a:off x="4894709" y="3848861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3136"/>
                </a:solidFill>
              </a:defRPr>
            </a:pPr>
            <a:r>
              <a:t>¿DÓNDE?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C2D207A9-E920-4BBB-8D1C-9956275E98E9}"/>
              </a:ext>
            </a:extLst>
          </p:cNvPr>
          <p:cNvSpPr txBox="1"/>
          <p:nvPr/>
        </p:nvSpPr>
        <p:spPr>
          <a:xfrm>
            <a:off x="4894709" y="4242053"/>
            <a:ext cx="3886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t>Implementación: área de desembalaje MS Line 2.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D085E883-F4E0-4364-9C21-47748F633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685" y="1478678"/>
            <a:ext cx="2647315" cy="3494896"/>
          </a:xfrm>
          <a:prstGeom prst="roundRect">
            <a:avLst>
              <a:gd name="adj" fmla="val 782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552700" cy="5143500"/>
            <a:chOff x="0" y="0"/>
            <a:chExt cx="25527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757551" y="690626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420" y="827657"/>
            <a:ext cx="1553845" cy="7531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Estudio</a:t>
            </a:r>
            <a:r>
              <a:rPr sz="155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50" dirty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implementación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soluciones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003" rIns="0" bIns="0" rtlCol="0">
            <a:spAutoFit/>
          </a:bodyPr>
          <a:lstStyle/>
          <a:p>
            <a:pPr marL="2592705">
              <a:lnSpc>
                <a:spcPct val="100000"/>
              </a:lnSpc>
              <a:spcBef>
                <a:spcPts val="125"/>
              </a:spcBef>
            </a:pPr>
            <a:r>
              <a:rPr dirty="0"/>
              <a:t>Evidencias</a:t>
            </a:r>
            <a:r>
              <a:rPr spc="10" dirty="0"/>
              <a:t> </a:t>
            </a:r>
            <a:r>
              <a:rPr spc="-20" dirty="0"/>
              <a:t>de</a:t>
            </a:r>
            <a:r>
              <a:rPr spc="-65" dirty="0"/>
              <a:t> </a:t>
            </a:r>
            <a:r>
              <a:rPr dirty="0"/>
              <a:t>la</a:t>
            </a:r>
            <a:r>
              <a:rPr spc="-60" dirty="0"/>
              <a:t> </a:t>
            </a:r>
            <a:r>
              <a:rPr dirty="0"/>
              <a:t>implementación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25" dirty="0"/>
              <a:t> </a:t>
            </a:r>
            <a:r>
              <a:rPr dirty="0"/>
              <a:t>la</a:t>
            </a:r>
            <a:r>
              <a:rPr spc="-60" dirty="0"/>
              <a:t> </a:t>
            </a:r>
            <a:r>
              <a:rPr spc="-10" dirty="0"/>
              <a:t>solución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1FDCB20-43FE-4819-8CA1-E7BCA5442BD5}"/>
              </a:ext>
            </a:extLst>
          </p:cNvPr>
          <p:cNvGrpSpPr/>
          <p:nvPr/>
        </p:nvGrpSpPr>
        <p:grpSpPr>
          <a:xfrm>
            <a:off x="2438400" y="827656"/>
            <a:ext cx="6705600" cy="4030091"/>
            <a:chOff x="1508760" y="384048"/>
            <a:chExt cx="8869680" cy="5056632"/>
          </a:xfrm>
        </p:grpSpPr>
        <p:sp>
          <p:nvSpPr>
            <p:cNvPr id="28" name="TextBox 3">
              <a:extLst>
                <a:ext uri="{FF2B5EF4-FFF2-40B4-BE49-F238E27FC236}">
                  <a16:creationId xmlns:a16="http://schemas.microsoft.com/office/drawing/2014/main" id="{34D3AECF-8569-451F-81F0-EBEB6A775458}"/>
                </a:ext>
              </a:extLst>
            </p:cNvPr>
            <p:cNvSpPr txBox="1"/>
            <p:nvPr/>
          </p:nvSpPr>
          <p:spPr>
            <a:xfrm>
              <a:off x="1508760" y="384048"/>
              <a:ext cx="868680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2B3136"/>
                  </a:solidFill>
                </a:defRPr>
              </a:pPr>
              <a:r>
                <a:t>Validación y puesta en uso</a:t>
              </a:r>
            </a:p>
          </p:txBody>
        </p:sp>
        <p:sp>
          <p:nvSpPr>
            <p:cNvPr id="29" name="TextBox 4">
              <a:extLst>
                <a:ext uri="{FF2B5EF4-FFF2-40B4-BE49-F238E27FC236}">
                  <a16:creationId xmlns:a16="http://schemas.microsoft.com/office/drawing/2014/main" id="{3587EDA0-4883-4C31-ACEF-8F9C2094B53D}"/>
                </a:ext>
              </a:extLst>
            </p:cNvPr>
            <p:cNvSpPr txBox="1"/>
            <p:nvPr/>
          </p:nvSpPr>
          <p:spPr>
            <a:xfrm>
              <a:off x="1508760" y="950976"/>
              <a:ext cx="886968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646C72"/>
                  </a:solidFill>
                </a:defRPr>
              </a:pPr>
              <a:r>
                <a:t>La solución se incorpora al proceso con validación de HSMA</a:t>
              </a:r>
            </a:p>
          </p:txBody>
        </p:sp>
        <p:sp>
          <p:nvSpPr>
            <p:cNvPr id="31" name="Rounded Rectangle 5">
              <a:extLst>
                <a:ext uri="{FF2B5EF4-FFF2-40B4-BE49-F238E27FC236}">
                  <a16:creationId xmlns:a16="http://schemas.microsoft.com/office/drawing/2014/main" id="{32ACC264-5324-4B58-98D2-148C128AD931}"/>
                </a:ext>
              </a:extLst>
            </p:cNvPr>
            <p:cNvSpPr/>
            <p:nvPr/>
          </p:nvSpPr>
          <p:spPr>
            <a:xfrm>
              <a:off x="1828800" y="1508760"/>
              <a:ext cx="228600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2F8E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6">
              <a:extLst>
                <a:ext uri="{FF2B5EF4-FFF2-40B4-BE49-F238E27FC236}">
                  <a16:creationId xmlns:a16="http://schemas.microsoft.com/office/drawing/2014/main" id="{8A1D8091-B95D-4AF3-B7AE-FC7CE63FEEA4}"/>
                </a:ext>
              </a:extLst>
            </p:cNvPr>
            <p:cNvSpPr txBox="1"/>
            <p:nvPr/>
          </p:nvSpPr>
          <p:spPr>
            <a:xfrm>
              <a:off x="1828800" y="1618488"/>
              <a:ext cx="2286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700" b="1">
                  <a:solidFill>
                    <a:srgbClr val="2F8E4F"/>
                  </a:solidFill>
                </a:defRPr>
              </a:pPr>
              <a:r>
                <a:t>HSMA</a:t>
              </a:r>
            </a:p>
          </p:txBody>
        </p:sp>
        <p:sp>
          <p:nvSpPr>
            <p:cNvPr id="33" name="TextBox 7">
              <a:extLst>
                <a:ext uri="{FF2B5EF4-FFF2-40B4-BE49-F238E27FC236}">
                  <a16:creationId xmlns:a16="http://schemas.microsoft.com/office/drawing/2014/main" id="{6CAF2A6B-F8C8-48D6-A5F0-B4EE75CC1C84}"/>
                </a:ext>
              </a:extLst>
            </p:cNvPr>
            <p:cNvSpPr txBox="1"/>
            <p:nvPr/>
          </p:nvSpPr>
          <p:spPr>
            <a:xfrm>
              <a:off x="1874519" y="2084831"/>
              <a:ext cx="21945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>
                  <a:solidFill>
                    <a:srgbClr val="646C72"/>
                  </a:solidFill>
                </a:defRPr>
              </a:pPr>
              <a:r>
                <a:t>Validación del dispositivo</a:t>
              </a:r>
            </a:p>
          </p:txBody>
        </p:sp>
        <p:sp>
          <p:nvSpPr>
            <p:cNvPr id="34" name="Rounded Rectangle 8">
              <a:extLst>
                <a:ext uri="{FF2B5EF4-FFF2-40B4-BE49-F238E27FC236}">
                  <a16:creationId xmlns:a16="http://schemas.microsoft.com/office/drawing/2014/main" id="{F1610A3A-EF3B-42DA-B320-464960D95C95}"/>
                </a:ext>
              </a:extLst>
            </p:cNvPr>
            <p:cNvSpPr/>
            <p:nvPr/>
          </p:nvSpPr>
          <p:spPr>
            <a:xfrm>
              <a:off x="4572000" y="1508760"/>
              <a:ext cx="228600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35AED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9">
              <a:extLst>
                <a:ext uri="{FF2B5EF4-FFF2-40B4-BE49-F238E27FC236}">
                  <a16:creationId xmlns:a16="http://schemas.microsoft.com/office/drawing/2014/main" id="{C9762E8A-FE5A-44B6-86FD-A3DA8F993B3A}"/>
                </a:ext>
              </a:extLst>
            </p:cNvPr>
            <p:cNvSpPr txBox="1"/>
            <p:nvPr/>
          </p:nvSpPr>
          <p:spPr>
            <a:xfrm>
              <a:off x="4572000" y="1618488"/>
              <a:ext cx="2286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700" b="1">
                  <a:solidFill>
                    <a:srgbClr val="35AEDE"/>
                  </a:solidFill>
                </a:defRPr>
              </a:pPr>
              <a:r>
                <a:t>MS Line 2</a:t>
              </a:r>
            </a:p>
          </p:txBody>
        </p:sp>
        <p:sp>
          <p:nvSpPr>
            <p:cNvPr id="36" name="TextBox 10">
              <a:extLst>
                <a:ext uri="{FF2B5EF4-FFF2-40B4-BE49-F238E27FC236}">
                  <a16:creationId xmlns:a16="http://schemas.microsoft.com/office/drawing/2014/main" id="{961D753A-EE60-4EC1-B005-47A559BA1311}"/>
                </a:ext>
              </a:extLst>
            </p:cNvPr>
            <p:cNvSpPr txBox="1"/>
            <p:nvPr/>
          </p:nvSpPr>
          <p:spPr>
            <a:xfrm>
              <a:off x="4617720" y="2084831"/>
              <a:ext cx="21945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>
                  <a:solidFill>
                    <a:srgbClr val="646C72"/>
                  </a:solidFill>
                </a:defRPr>
              </a:pPr>
              <a:r>
                <a:t>Área de uso</a:t>
              </a:r>
            </a:p>
          </p:txBody>
        </p:sp>
        <p:sp>
          <p:nvSpPr>
            <p:cNvPr id="37" name="Rounded Rectangle 11">
              <a:extLst>
                <a:ext uri="{FF2B5EF4-FFF2-40B4-BE49-F238E27FC236}">
                  <a16:creationId xmlns:a16="http://schemas.microsoft.com/office/drawing/2014/main" id="{0524D454-2828-464D-909E-B0C7164DD1BD}"/>
                </a:ext>
              </a:extLst>
            </p:cNvPr>
            <p:cNvSpPr/>
            <p:nvPr/>
          </p:nvSpPr>
          <p:spPr>
            <a:xfrm>
              <a:off x="7315200" y="1508760"/>
              <a:ext cx="2286000" cy="10058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E19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12">
              <a:extLst>
                <a:ext uri="{FF2B5EF4-FFF2-40B4-BE49-F238E27FC236}">
                  <a16:creationId xmlns:a16="http://schemas.microsoft.com/office/drawing/2014/main" id="{1ED8A54B-6F3E-4B8A-88E3-E60A73AE367A}"/>
                </a:ext>
              </a:extLst>
            </p:cNvPr>
            <p:cNvSpPr txBox="1"/>
            <p:nvPr/>
          </p:nvSpPr>
          <p:spPr>
            <a:xfrm>
              <a:off x="7315200" y="1618488"/>
              <a:ext cx="2286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700" b="1">
                  <a:solidFill>
                    <a:srgbClr val="EE1934"/>
                  </a:solidFill>
                </a:defRPr>
              </a:pPr>
              <a:r>
                <a:t>100 %</a:t>
              </a:r>
            </a:p>
          </p:txBody>
        </p:sp>
        <p:sp>
          <p:nvSpPr>
            <p:cNvPr id="39" name="TextBox 13">
              <a:extLst>
                <a:ext uri="{FF2B5EF4-FFF2-40B4-BE49-F238E27FC236}">
                  <a16:creationId xmlns:a16="http://schemas.microsoft.com/office/drawing/2014/main" id="{80B25918-0956-40AF-9573-742F2B6DB1CD}"/>
                </a:ext>
              </a:extLst>
            </p:cNvPr>
            <p:cNvSpPr txBox="1"/>
            <p:nvPr/>
          </p:nvSpPr>
          <p:spPr>
            <a:xfrm>
              <a:off x="7360920" y="2084831"/>
              <a:ext cx="21945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900">
                  <a:solidFill>
                    <a:srgbClr val="646C72"/>
                  </a:solidFill>
                </a:defRPr>
              </a:pPr>
              <a:r>
                <a:t>Segregación objetivo</a:t>
              </a:r>
            </a:p>
          </p:txBody>
        </p:sp>
        <p:sp>
          <p:nvSpPr>
            <p:cNvPr id="40" name="Rounded Rectangle 14">
              <a:extLst>
                <a:ext uri="{FF2B5EF4-FFF2-40B4-BE49-F238E27FC236}">
                  <a16:creationId xmlns:a16="http://schemas.microsoft.com/office/drawing/2014/main" id="{26485249-BD8E-45B0-A9B8-3F53D2B55309}"/>
                </a:ext>
              </a:extLst>
            </p:cNvPr>
            <p:cNvSpPr/>
            <p:nvPr/>
          </p:nvSpPr>
          <p:spPr>
            <a:xfrm>
              <a:off x="1828800" y="3063240"/>
              <a:ext cx="7772400" cy="1508760"/>
            </a:xfrm>
            <a:prstGeom prst="roundRect">
              <a:avLst/>
            </a:prstGeom>
            <a:solidFill>
              <a:srgbClr val="F7F9FA"/>
            </a:solidFill>
            <a:ln>
              <a:solidFill>
                <a:srgbClr val="DCE1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CF19D13E-D6D2-41A7-A007-1E4D5CD78E81}"/>
                </a:ext>
              </a:extLst>
            </p:cNvPr>
            <p:cNvSpPr/>
            <p:nvPr/>
          </p:nvSpPr>
          <p:spPr>
            <a:xfrm>
              <a:off x="1828800" y="3063240"/>
              <a:ext cx="64008" cy="1508760"/>
            </a:xfrm>
            <a:prstGeom prst="rect">
              <a:avLst/>
            </a:prstGeom>
            <a:solidFill>
              <a:srgbClr val="2F8E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16">
              <a:extLst>
                <a:ext uri="{FF2B5EF4-FFF2-40B4-BE49-F238E27FC236}">
                  <a16:creationId xmlns:a16="http://schemas.microsoft.com/office/drawing/2014/main" id="{F49513A7-81CF-4209-B343-FABAACB90ED7}"/>
                </a:ext>
              </a:extLst>
            </p:cNvPr>
            <p:cNvSpPr txBox="1"/>
            <p:nvPr/>
          </p:nvSpPr>
          <p:spPr>
            <a:xfrm>
              <a:off x="1993392" y="3172968"/>
              <a:ext cx="7498079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800" b="1">
                  <a:solidFill>
                    <a:srgbClr val="2B3136"/>
                  </a:solidFill>
                </a:defRPr>
              </a:pPr>
              <a:r>
                <a:t>VALIDACIÓN</a:t>
              </a:r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01BBE1AE-ACDF-4CDE-965B-9FA780AA4736}"/>
                </a:ext>
              </a:extLst>
            </p:cNvPr>
            <p:cNvSpPr txBox="1"/>
            <p:nvPr/>
          </p:nvSpPr>
          <p:spPr>
            <a:xfrm>
              <a:off x="1993392" y="3566160"/>
              <a:ext cx="7498079" cy="914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500">
                  <a:solidFill>
                    <a:srgbClr val="646C72"/>
                  </a:solidFill>
                </a:defRPr>
              </a:pPr>
              <a:r>
                <a:t>El dispositivo fue presentado al área de Higiene, Seguridad y Medio Ambiente (HSMA), que validó su utilización mediante el formulario correspondiente.</a:t>
              </a:r>
            </a:p>
          </p:txBody>
        </p:sp>
        <p:sp>
          <p:nvSpPr>
            <p:cNvPr id="44" name="TextBox 18">
              <a:extLst>
                <a:ext uri="{FF2B5EF4-FFF2-40B4-BE49-F238E27FC236}">
                  <a16:creationId xmlns:a16="http://schemas.microsoft.com/office/drawing/2014/main" id="{103A3C7D-AE6B-44AC-A048-57923F60DC07}"/>
                </a:ext>
              </a:extLst>
            </p:cNvPr>
            <p:cNvSpPr txBox="1"/>
            <p:nvPr/>
          </p:nvSpPr>
          <p:spPr>
            <a:xfrm>
              <a:off x="1828800" y="4892040"/>
              <a:ext cx="77724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300" i="1">
                  <a:solidFill>
                    <a:srgbClr val="646C72"/>
                  </a:solidFill>
                </a:defRPr>
              </a:pPr>
              <a:r>
                <a:t>Próximo reemplazo visual: insertar aquí foto del formulario HSMA.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4066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552700" cy="5143500"/>
            <a:chOff x="0" y="0"/>
            <a:chExt cx="25527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757551" y="690626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420" y="827657"/>
            <a:ext cx="1553845" cy="7531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Estudio</a:t>
            </a:r>
            <a:r>
              <a:rPr sz="155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50" dirty="0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implementación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soluciones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003" rIns="0" bIns="0" rtlCol="0">
            <a:spAutoFit/>
          </a:bodyPr>
          <a:lstStyle/>
          <a:p>
            <a:pPr marL="2592705">
              <a:lnSpc>
                <a:spcPct val="100000"/>
              </a:lnSpc>
              <a:spcBef>
                <a:spcPts val="125"/>
              </a:spcBef>
            </a:pPr>
            <a:r>
              <a:rPr dirty="0"/>
              <a:t>Evidencias</a:t>
            </a:r>
            <a:r>
              <a:rPr spc="10" dirty="0"/>
              <a:t> </a:t>
            </a:r>
            <a:r>
              <a:rPr spc="-20" dirty="0"/>
              <a:t>de</a:t>
            </a:r>
            <a:r>
              <a:rPr spc="-65" dirty="0"/>
              <a:t> </a:t>
            </a:r>
            <a:r>
              <a:rPr dirty="0"/>
              <a:t>la</a:t>
            </a:r>
            <a:r>
              <a:rPr spc="-60" dirty="0"/>
              <a:t> </a:t>
            </a:r>
            <a:r>
              <a:rPr dirty="0"/>
              <a:t>implementación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25" dirty="0"/>
              <a:t> </a:t>
            </a:r>
            <a:r>
              <a:rPr dirty="0"/>
              <a:t>la</a:t>
            </a:r>
            <a:r>
              <a:rPr spc="-60" dirty="0"/>
              <a:t> </a:t>
            </a:r>
            <a:r>
              <a:rPr spc="-10" dirty="0"/>
              <a:t>solución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C0F453F2-4F86-40FD-A5C5-98200991D976}"/>
              </a:ext>
            </a:extLst>
          </p:cNvPr>
          <p:cNvSpPr txBox="1"/>
          <p:nvPr/>
        </p:nvSpPr>
        <p:spPr>
          <a:xfrm>
            <a:off x="2333624" y="827656"/>
            <a:ext cx="6262395" cy="478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3136"/>
                </a:solidFill>
              </a:defRPr>
            </a:pPr>
            <a:r>
              <a:t>Demostración</a:t>
            </a:r>
          </a:p>
        </p:txBody>
      </p:sp>
      <p:sp>
        <p:nvSpPr>
          <p:cNvPr id="45" name="TextBox 6">
            <a:extLst>
              <a:ext uri="{FF2B5EF4-FFF2-40B4-BE49-F238E27FC236}">
                <a16:creationId xmlns:a16="http://schemas.microsoft.com/office/drawing/2014/main" id="{E5CE6DF0-1114-43FA-A25C-86B4A0460BE5}"/>
              </a:ext>
            </a:extLst>
          </p:cNvPr>
          <p:cNvSpPr txBox="1"/>
          <p:nvPr/>
        </p:nvSpPr>
        <p:spPr>
          <a:xfrm>
            <a:off x="2333624" y="1251776"/>
            <a:ext cx="6394235" cy="3078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t>El dispositivo en funcionamiento</a:t>
            </a:r>
          </a:p>
        </p:txBody>
      </p:sp>
      <p:sp>
        <p:nvSpPr>
          <p:cNvPr id="46" name="Rounded Rectangle 7">
            <a:extLst>
              <a:ext uri="{FF2B5EF4-FFF2-40B4-BE49-F238E27FC236}">
                <a16:creationId xmlns:a16="http://schemas.microsoft.com/office/drawing/2014/main" id="{6F5B5AAC-DBED-4A20-802F-E064B388E246}"/>
              </a:ext>
            </a:extLst>
          </p:cNvPr>
          <p:cNvSpPr/>
          <p:nvPr/>
        </p:nvSpPr>
        <p:spPr>
          <a:xfrm>
            <a:off x="2406137" y="1532242"/>
            <a:ext cx="3719919" cy="3401708"/>
          </a:xfrm>
          <a:prstGeom prst="roundRect">
            <a:avLst>
              <a:gd name="adj" fmla="val 5098"/>
            </a:avLst>
          </a:prstGeom>
          <a:solidFill>
            <a:srgbClr val="2B3136"/>
          </a:solidFill>
          <a:ln>
            <a:solidFill>
              <a:srgbClr val="35A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7" name="TextBox 8">
            <a:extLst>
              <a:ext uri="{FF2B5EF4-FFF2-40B4-BE49-F238E27FC236}">
                <a16:creationId xmlns:a16="http://schemas.microsoft.com/office/drawing/2014/main" id="{40C9E1B7-9382-4F92-AF91-FB98779A56E7}"/>
              </a:ext>
            </a:extLst>
          </p:cNvPr>
          <p:cNvSpPr txBox="1"/>
          <p:nvPr/>
        </p:nvSpPr>
        <p:spPr>
          <a:xfrm>
            <a:off x="2546501" y="2797760"/>
            <a:ext cx="4218877" cy="8208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dirty="0"/>
              <a:t>▶  VIDEO</a:t>
            </a: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3354CA4F-1510-4220-AFF2-3567DD2F1FB0}"/>
              </a:ext>
            </a:extLst>
          </p:cNvPr>
          <p:cNvSpPr/>
          <p:nvPr/>
        </p:nvSpPr>
        <p:spPr>
          <a:xfrm>
            <a:off x="6786842" y="1648264"/>
            <a:ext cx="1746879" cy="923486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11">
            <a:extLst>
              <a:ext uri="{FF2B5EF4-FFF2-40B4-BE49-F238E27FC236}">
                <a16:creationId xmlns:a16="http://schemas.microsoft.com/office/drawing/2014/main" id="{7DFDA433-8B5C-418C-8A84-B0BAE6667F17}"/>
              </a:ext>
            </a:extLst>
          </p:cNvPr>
          <p:cNvSpPr/>
          <p:nvPr/>
        </p:nvSpPr>
        <p:spPr>
          <a:xfrm>
            <a:off x="6786842" y="1648264"/>
            <a:ext cx="46144" cy="923486"/>
          </a:xfrm>
          <a:prstGeom prst="rect">
            <a:avLst/>
          </a:prstGeom>
          <a:solidFill>
            <a:srgbClr val="35A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12">
            <a:extLst>
              <a:ext uri="{FF2B5EF4-FFF2-40B4-BE49-F238E27FC236}">
                <a16:creationId xmlns:a16="http://schemas.microsoft.com/office/drawing/2014/main" id="{17A6AD71-8DEB-463D-BE4A-557D0021EF76}"/>
              </a:ext>
            </a:extLst>
          </p:cNvPr>
          <p:cNvSpPr txBox="1"/>
          <p:nvPr/>
        </p:nvSpPr>
        <p:spPr>
          <a:xfrm>
            <a:off x="6905498" y="1730351"/>
            <a:ext cx="1549119" cy="2394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3136"/>
                </a:solidFill>
              </a:defRPr>
            </a:pPr>
            <a:r>
              <a:t>PASO 1</a:t>
            </a:r>
          </a:p>
        </p:txBody>
      </p:sp>
      <p:sp>
        <p:nvSpPr>
          <p:cNvPr id="52" name="TextBox 13">
            <a:extLst>
              <a:ext uri="{FF2B5EF4-FFF2-40B4-BE49-F238E27FC236}">
                <a16:creationId xmlns:a16="http://schemas.microsoft.com/office/drawing/2014/main" id="{202E808D-D752-498E-8C64-C916D68B9091}"/>
              </a:ext>
            </a:extLst>
          </p:cNvPr>
          <p:cNvSpPr txBox="1"/>
          <p:nvPr/>
        </p:nvSpPr>
        <p:spPr>
          <a:xfrm>
            <a:off x="6905498" y="2024499"/>
            <a:ext cx="1549119" cy="478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t>Pasar el escobillón por el piso.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88F751E5-06A0-4C10-8C3B-220EA8162F97}"/>
              </a:ext>
            </a:extLst>
          </p:cNvPr>
          <p:cNvSpPr/>
          <p:nvPr/>
        </p:nvSpPr>
        <p:spPr>
          <a:xfrm>
            <a:off x="6786842" y="2742766"/>
            <a:ext cx="1746879" cy="923486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5">
            <a:extLst>
              <a:ext uri="{FF2B5EF4-FFF2-40B4-BE49-F238E27FC236}">
                <a16:creationId xmlns:a16="http://schemas.microsoft.com/office/drawing/2014/main" id="{EE11B6E5-45E1-41DC-AF7B-D80E08B8E19A}"/>
              </a:ext>
            </a:extLst>
          </p:cNvPr>
          <p:cNvSpPr/>
          <p:nvPr/>
        </p:nvSpPr>
        <p:spPr>
          <a:xfrm>
            <a:off x="6786842" y="2742766"/>
            <a:ext cx="46144" cy="923486"/>
          </a:xfrm>
          <a:prstGeom prst="rect">
            <a:avLst/>
          </a:prstGeom>
          <a:solidFill>
            <a:srgbClr val="EE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16">
            <a:extLst>
              <a:ext uri="{FF2B5EF4-FFF2-40B4-BE49-F238E27FC236}">
                <a16:creationId xmlns:a16="http://schemas.microsoft.com/office/drawing/2014/main" id="{A10AE827-A04E-47A1-B4E4-84572A6D5123}"/>
              </a:ext>
            </a:extLst>
          </p:cNvPr>
          <p:cNvSpPr txBox="1"/>
          <p:nvPr/>
        </p:nvSpPr>
        <p:spPr>
          <a:xfrm>
            <a:off x="6905498" y="2824853"/>
            <a:ext cx="1549119" cy="2394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3136"/>
                </a:solidFill>
              </a:defRPr>
            </a:pPr>
            <a:r>
              <a:t>PASO 2</a:t>
            </a: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3E3BB987-56C0-483C-9902-EE4FA120FAD8}"/>
              </a:ext>
            </a:extLst>
          </p:cNvPr>
          <p:cNvSpPr txBox="1"/>
          <p:nvPr/>
        </p:nvSpPr>
        <p:spPr>
          <a:xfrm>
            <a:off x="6905498" y="3119001"/>
            <a:ext cx="1628223" cy="478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rPr dirty="0" err="1"/>
              <a:t>Recuperar</a:t>
            </a:r>
            <a:r>
              <a:rPr dirty="0"/>
              <a:t> los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metálicos</a:t>
            </a:r>
            <a:r>
              <a:rPr dirty="0"/>
              <a:t>.</a:t>
            </a:r>
          </a:p>
        </p:txBody>
      </p:sp>
      <p:sp>
        <p:nvSpPr>
          <p:cNvPr id="57" name="Rounded Rectangle 18">
            <a:extLst>
              <a:ext uri="{FF2B5EF4-FFF2-40B4-BE49-F238E27FC236}">
                <a16:creationId xmlns:a16="http://schemas.microsoft.com/office/drawing/2014/main" id="{BE426DC6-59F9-4562-AD5A-ACC8444EC43F}"/>
              </a:ext>
            </a:extLst>
          </p:cNvPr>
          <p:cNvSpPr/>
          <p:nvPr/>
        </p:nvSpPr>
        <p:spPr>
          <a:xfrm>
            <a:off x="6786842" y="3837268"/>
            <a:ext cx="1746879" cy="923486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19">
            <a:extLst>
              <a:ext uri="{FF2B5EF4-FFF2-40B4-BE49-F238E27FC236}">
                <a16:creationId xmlns:a16="http://schemas.microsoft.com/office/drawing/2014/main" id="{717AA6AE-4376-4C0E-8E2E-D4359A340855}"/>
              </a:ext>
            </a:extLst>
          </p:cNvPr>
          <p:cNvSpPr/>
          <p:nvPr/>
        </p:nvSpPr>
        <p:spPr>
          <a:xfrm>
            <a:off x="6786842" y="3837268"/>
            <a:ext cx="46144" cy="923486"/>
          </a:xfrm>
          <a:prstGeom prst="rect">
            <a:avLst/>
          </a:prstGeom>
          <a:solidFill>
            <a:srgbClr val="2F8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20">
            <a:extLst>
              <a:ext uri="{FF2B5EF4-FFF2-40B4-BE49-F238E27FC236}">
                <a16:creationId xmlns:a16="http://schemas.microsoft.com/office/drawing/2014/main" id="{5A40EA1D-EAC7-4E2E-BC14-6194FA21CD81}"/>
              </a:ext>
            </a:extLst>
          </p:cNvPr>
          <p:cNvSpPr txBox="1"/>
          <p:nvPr/>
        </p:nvSpPr>
        <p:spPr>
          <a:xfrm>
            <a:off x="6905498" y="3919356"/>
            <a:ext cx="1549119" cy="2394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3136"/>
                </a:solidFill>
              </a:defRPr>
            </a:pPr>
            <a:r>
              <a:t>PASO 3</a:t>
            </a:r>
          </a:p>
        </p:txBody>
      </p:sp>
      <p:sp>
        <p:nvSpPr>
          <p:cNvPr id="60" name="TextBox 21">
            <a:extLst>
              <a:ext uri="{FF2B5EF4-FFF2-40B4-BE49-F238E27FC236}">
                <a16:creationId xmlns:a16="http://schemas.microsoft.com/office/drawing/2014/main" id="{1E4093B3-B5B8-4671-AE99-B2FC47228EFA}"/>
              </a:ext>
            </a:extLst>
          </p:cNvPr>
          <p:cNvSpPr txBox="1"/>
          <p:nvPr/>
        </p:nvSpPr>
        <p:spPr>
          <a:xfrm>
            <a:off x="6905498" y="4213502"/>
            <a:ext cx="1549119" cy="478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t>Descargar y segregar.</a:t>
            </a:r>
          </a:p>
        </p:txBody>
      </p:sp>
      <p:pic>
        <p:nvPicPr>
          <p:cNvPr id="13" name="MS6b1">
            <a:hlinkClick r:id="" action="ppaction://media"/>
            <a:extLst>
              <a:ext uri="{FF2B5EF4-FFF2-40B4-BE49-F238E27FC236}">
                <a16:creationId xmlns:a16="http://schemas.microsoft.com/office/drawing/2014/main" id="{17B2037D-B6AA-4AD5-9AFB-A06BFA99832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280" end="0.6666"/>
                  <p14:fade in="500"/>
                </p14:media>
              </p:ext>
            </p:extLst>
          </p:nvPr>
        </p:nvPicPr>
        <p:blipFill rotWithShape="1">
          <a:blip r:embed="rId5"/>
          <a:srcRect t="30734" b="16091"/>
          <a:stretch>
            <a:fillRect/>
          </a:stretch>
        </p:blipFill>
        <p:spPr>
          <a:xfrm>
            <a:off x="2574164" y="1614330"/>
            <a:ext cx="3409168" cy="322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3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8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9" y="145732"/>
            <a:ext cx="172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35" dirty="0">
                <a:solidFill>
                  <a:srgbClr val="6CCFF6"/>
                </a:solidFill>
                <a:latin typeface="Arial Black"/>
                <a:cs typeface="Arial Black"/>
              </a:rPr>
              <a:t>9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68421" y="2028825"/>
            <a:ext cx="2513330" cy="9188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" algn="ctr">
              <a:lnSpc>
                <a:spcPts val="2330"/>
              </a:lnSpc>
              <a:spcBef>
                <a:spcPts val="130"/>
              </a:spcBef>
            </a:pPr>
            <a:r>
              <a:rPr sz="2000" b="0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2000" b="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0" spc="-2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ts val="4670"/>
              </a:lnSpc>
            </a:pPr>
            <a:r>
              <a:rPr sz="3950" spc="-10" dirty="0">
                <a:solidFill>
                  <a:srgbClr val="FFFFFF"/>
                </a:solidFill>
              </a:rPr>
              <a:t>resultados</a:t>
            </a:r>
            <a:endParaRPr sz="39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028950" cy="5143500"/>
            <a:chOff x="0" y="0"/>
            <a:chExt cx="302895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76576" y="4715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74" y="0"/>
                  </a:lnTo>
                </a:path>
              </a:pathLst>
            </a:custGeom>
            <a:ln w="28575">
              <a:solidFill>
                <a:srgbClr val="205E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776976" y="47155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15277" y="1149286"/>
            <a:ext cx="136017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50" dirty="0">
                <a:solidFill>
                  <a:srgbClr val="FFFFFF"/>
                </a:solidFill>
                <a:latin typeface="Trebuchet MS"/>
                <a:cs typeface="Trebuchet MS"/>
              </a:rPr>
              <a:t>los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resultados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2564510" y="159067"/>
            <a:ext cx="55816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Antes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755004" y="171830"/>
            <a:ext cx="842644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55" dirty="0">
                <a:solidFill>
                  <a:srgbClr val="4E6C92"/>
                </a:solidFill>
                <a:latin typeface="Trebuchet MS"/>
                <a:cs typeface="Trebuchet MS"/>
              </a:rPr>
              <a:t>Después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120C9ECE-F416-438F-8702-C033E296FCDF}"/>
              </a:ext>
            </a:extLst>
          </p:cNvPr>
          <p:cNvSpPr txBox="1"/>
          <p:nvPr/>
        </p:nvSpPr>
        <p:spPr>
          <a:xfrm>
            <a:off x="2100430" y="4527370"/>
            <a:ext cx="3675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rPr lang="es-AR" dirty="0"/>
              <a:t>No solo limpiamos: recuperamos y segregamos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2F6BAFF0-613F-46B6-911B-4ADF79D871B2}"/>
              </a:ext>
            </a:extLst>
          </p:cNvPr>
          <p:cNvGrpSpPr/>
          <p:nvPr/>
        </p:nvGrpSpPr>
        <p:grpSpPr>
          <a:xfrm>
            <a:off x="2133600" y="1765090"/>
            <a:ext cx="6517323" cy="2533075"/>
            <a:chOff x="2311400" y="648271"/>
            <a:chExt cx="6858000" cy="2834640"/>
          </a:xfrm>
        </p:grpSpPr>
        <p:sp>
          <p:nvSpPr>
            <p:cNvPr id="24" name="Oval 7">
              <a:extLst>
                <a:ext uri="{FF2B5EF4-FFF2-40B4-BE49-F238E27FC236}">
                  <a16:creationId xmlns:a16="http://schemas.microsoft.com/office/drawing/2014/main" id="{4D932AD7-10F1-4B79-AC00-8BEBAF4697CF}"/>
                </a:ext>
              </a:extLst>
            </p:cNvPr>
            <p:cNvSpPr/>
            <p:nvPr/>
          </p:nvSpPr>
          <p:spPr>
            <a:xfrm>
              <a:off x="2997200" y="648271"/>
              <a:ext cx="777240" cy="777240"/>
            </a:xfrm>
            <a:prstGeom prst="ellipse">
              <a:avLst/>
            </a:prstGeom>
            <a:solidFill>
              <a:srgbClr val="EE19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90CED5B5-525D-4875-AE73-F0226A05A9DB}"/>
                </a:ext>
              </a:extLst>
            </p:cNvPr>
            <p:cNvSpPr txBox="1"/>
            <p:nvPr/>
          </p:nvSpPr>
          <p:spPr>
            <a:xfrm>
              <a:off x="3221189" y="803719"/>
              <a:ext cx="329262" cy="4133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</a:defRPr>
              </a:pPr>
              <a:r>
                <a:rPr lang="es-AR"/>
                <a:t>1</a:t>
              </a:r>
            </a:p>
          </p:txBody>
        </p:sp>
        <p:sp>
          <p:nvSpPr>
            <p:cNvPr id="26" name="Rounded Rectangle 9">
              <a:extLst>
                <a:ext uri="{FF2B5EF4-FFF2-40B4-BE49-F238E27FC236}">
                  <a16:creationId xmlns:a16="http://schemas.microsoft.com/office/drawing/2014/main" id="{79DBDE60-DAC1-4041-9622-6A11E14BAD2B}"/>
                </a:ext>
              </a:extLst>
            </p:cNvPr>
            <p:cNvSpPr/>
            <p:nvPr/>
          </p:nvSpPr>
          <p:spPr>
            <a:xfrm>
              <a:off x="2311400" y="1654111"/>
              <a:ext cx="2103120" cy="1828800"/>
            </a:xfrm>
            <a:prstGeom prst="roundRect">
              <a:avLst/>
            </a:prstGeom>
            <a:solidFill>
              <a:srgbClr val="F7F9FA"/>
            </a:solidFill>
            <a:ln>
              <a:solidFill>
                <a:srgbClr val="DCE1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7" name="Rectangle 10">
              <a:extLst>
                <a:ext uri="{FF2B5EF4-FFF2-40B4-BE49-F238E27FC236}">
                  <a16:creationId xmlns:a16="http://schemas.microsoft.com/office/drawing/2014/main" id="{FADC720B-72B5-4358-812B-438AD91815DC}"/>
                </a:ext>
              </a:extLst>
            </p:cNvPr>
            <p:cNvSpPr/>
            <p:nvPr/>
          </p:nvSpPr>
          <p:spPr>
            <a:xfrm>
              <a:off x="2311400" y="1654111"/>
              <a:ext cx="64008" cy="1828800"/>
            </a:xfrm>
            <a:prstGeom prst="rect">
              <a:avLst/>
            </a:prstGeom>
            <a:solidFill>
              <a:srgbClr val="EE19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7C76076D-C929-4F65-9176-B616B5DED47D}"/>
                </a:ext>
              </a:extLst>
            </p:cNvPr>
            <p:cNvSpPr txBox="1"/>
            <p:nvPr/>
          </p:nvSpPr>
          <p:spPr>
            <a:xfrm>
              <a:off x="2475992" y="1763839"/>
              <a:ext cx="1479657" cy="3616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2B3136"/>
                  </a:solidFill>
                </a:defRPr>
              </a:pPr>
              <a:r>
                <a:rPr lang="es-AR"/>
                <a:t>RECUPERAR</a:t>
              </a:r>
            </a:p>
          </p:txBody>
        </p:sp>
        <p:sp>
          <p:nvSpPr>
            <p:cNvPr id="29" name="TextBox 12">
              <a:extLst>
                <a:ext uri="{FF2B5EF4-FFF2-40B4-BE49-F238E27FC236}">
                  <a16:creationId xmlns:a16="http://schemas.microsoft.com/office/drawing/2014/main" id="{D4768D1A-A3E0-4D87-9586-CDC7B453E889}"/>
                </a:ext>
              </a:extLst>
            </p:cNvPr>
            <p:cNvSpPr txBox="1"/>
            <p:nvPr/>
          </p:nvSpPr>
          <p:spPr>
            <a:xfrm>
              <a:off x="2475992" y="2157031"/>
              <a:ext cx="1828799" cy="7749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300">
                  <a:solidFill>
                    <a:srgbClr val="646C72"/>
                  </a:solidFill>
                </a:defRPr>
              </a:pPr>
              <a:r>
                <a:rPr lang="es-AR"/>
                <a:t>Los imanes atraen los elementos metálicos.</a:t>
              </a:r>
            </a:p>
          </p:txBody>
        </p:sp>
        <p:cxnSp>
          <p:nvCxnSpPr>
            <p:cNvPr id="30" name="Connector 13">
              <a:extLst>
                <a:ext uri="{FF2B5EF4-FFF2-40B4-BE49-F238E27FC236}">
                  <a16:creationId xmlns:a16="http://schemas.microsoft.com/office/drawing/2014/main" id="{1DE28B87-766A-4C6B-BB61-3F5419906B43}"/>
                </a:ext>
              </a:extLst>
            </p:cNvPr>
            <p:cNvCxnSpPr/>
            <p:nvPr/>
          </p:nvCxnSpPr>
          <p:spPr>
            <a:xfrm>
              <a:off x="4414520" y="2568511"/>
              <a:ext cx="228600" cy="0"/>
            </a:xfrm>
            <a:prstGeom prst="line">
              <a:avLst/>
            </a:prstGeom>
            <a:ln w="25400">
              <a:solidFill>
                <a:srgbClr val="646C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14">
              <a:extLst>
                <a:ext uri="{FF2B5EF4-FFF2-40B4-BE49-F238E27FC236}">
                  <a16:creationId xmlns:a16="http://schemas.microsoft.com/office/drawing/2014/main" id="{E426CF0F-B7D4-4BDB-8874-894328E9EE43}"/>
                </a:ext>
              </a:extLst>
            </p:cNvPr>
            <p:cNvSpPr/>
            <p:nvPr/>
          </p:nvSpPr>
          <p:spPr>
            <a:xfrm>
              <a:off x="5374640" y="648271"/>
              <a:ext cx="777240" cy="777240"/>
            </a:xfrm>
            <a:prstGeom prst="ellipse">
              <a:avLst/>
            </a:prstGeom>
            <a:solidFill>
              <a:srgbClr val="35AED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TextBox 15">
              <a:extLst>
                <a:ext uri="{FF2B5EF4-FFF2-40B4-BE49-F238E27FC236}">
                  <a16:creationId xmlns:a16="http://schemas.microsoft.com/office/drawing/2014/main" id="{32C9D8E3-820F-452E-9DEA-FD3A0173760D}"/>
                </a:ext>
              </a:extLst>
            </p:cNvPr>
            <p:cNvSpPr txBox="1"/>
            <p:nvPr/>
          </p:nvSpPr>
          <p:spPr>
            <a:xfrm>
              <a:off x="5598629" y="803719"/>
              <a:ext cx="329262" cy="4133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</a:defRPr>
              </a:pPr>
              <a:r>
                <a:rPr lang="es-AR"/>
                <a:t>2</a:t>
              </a:r>
            </a:p>
          </p:txBody>
        </p:sp>
        <p:sp>
          <p:nvSpPr>
            <p:cNvPr id="33" name="Rounded Rectangle 16">
              <a:extLst>
                <a:ext uri="{FF2B5EF4-FFF2-40B4-BE49-F238E27FC236}">
                  <a16:creationId xmlns:a16="http://schemas.microsoft.com/office/drawing/2014/main" id="{9F7188F1-DF03-4A6F-A4E9-D45D3FDF38A5}"/>
                </a:ext>
              </a:extLst>
            </p:cNvPr>
            <p:cNvSpPr/>
            <p:nvPr/>
          </p:nvSpPr>
          <p:spPr>
            <a:xfrm>
              <a:off x="4688840" y="1654111"/>
              <a:ext cx="2103120" cy="1828800"/>
            </a:xfrm>
            <a:prstGeom prst="roundRect">
              <a:avLst/>
            </a:prstGeom>
            <a:solidFill>
              <a:srgbClr val="F7F9FA"/>
            </a:solidFill>
            <a:ln>
              <a:solidFill>
                <a:srgbClr val="DCE1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4" name="Rectangle 17">
              <a:extLst>
                <a:ext uri="{FF2B5EF4-FFF2-40B4-BE49-F238E27FC236}">
                  <a16:creationId xmlns:a16="http://schemas.microsoft.com/office/drawing/2014/main" id="{C0B69E3B-E34C-4482-83BF-93064B44F4A9}"/>
                </a:ext>
              </a:extLst>
            </p:cNvPr>
            <p:cNvSpPr/>
            <p:nvPr/>
          </p:nvSpPr>
          <p:spPr>
            <a:xfrm>
              <a:off x="4688840" y="1654111"/>
              <a:ext cx="64008" cy="1828800"/>
            </a:xfrm>
            <a:prstGeom prst="rect">
              <a:avLst/>
            </a:prstGeom>
            <a:solidFill>
              <a:srgbClr val="35AED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5" name="TextBox 18">
              <a:extLst>
                <a:ext uri="{FF2B5EF4-FFF2-40B4-BE49-F238E27FC236}">
                  <a16:creationId xmlns:a16="http://schemas.microsoft.com/office/drawing/2014/main" id="{4F70A492-CE1F-4F0D-BBA5-E02004DD6D09}"/>
                </a:ext>
              </a:extLst>
            </p:cNvPr>
            <p:cNvSpPr txBox="1"/>
            <p:nvPr/>
          </p:nvSpPr>
          <p:spPr>
            <a:xfrm>
              <a:off x="4853431" y="1763839"/>
              <a:ext cx="1186155" cy="3616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2B3136"/>
                  </a:solidFill>
                </a:defRPr>
              </a:pPr>
              <a:r>
                <a:rPr lang="es-AR"/>
                <a:t>SEPARAR</a:t>
              </a:r>
            </a:p>
          </p:txBody>
        </p:sp>
        <p:sp>
          <p:nvSpPr>
            <p:cNvPr id="36" name="TextBox 19">
              <a:extLst>
                <a:ext uri="{FF2B5EF4-FFF2-40B4-BE49-F238E27FC236}">
                  <a16:creationId xmlns:a16="http://schemas.microsoft.com/office/drawing/2014/main" id="{DC76FACA-8D67-4923-B0D5-3DF97F9A739D}"/>
                </a:ext>
              </a:extLst>
            </p:cNvPr>
            <p:cNvSpPr txBox="1"/>
            <p:nvPr/>
          </p:nvSpPr>
          <p:spPr>
            <a:xfrm>
              <a:off x="4853431" y="2157031"/>
              <a:ext cx="1828799" cy="1234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300">
                  <a:solidFill>
                    <a:srgbClr val="646C72"/>
                  </a:solidFill>
                </a:defRPr>
              </a:pPr>
              <a:r>
                <a:rPr lang="es-AR"/>
                <a:t>Los elementos recuperados se mantienen separados de residuos comunes.</a:t>
              </a:r>
            </a:p>
          </p:txBody>
        </p: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5CD96258-13B6-4647-9CEC-2188F45D4628}"/>
                </a:ext>
              </a:extLst>
            </p:cNvPr>
            <p:cNvCxnSpPr/>
            <p:nvPr/>
          </p:nvCxnSpPr>
          <p:spPr>
            <a:xfrm>
              <a:off x="6791960" y="2568511"/>
              <a:ext cx="228600" cy="0"/>
            </a:xfrm>
            <a:prstGeom prst="line">
              <a:avLst/>
            </a:prstGeom>
            <a:ln w="25400">
              <a:solidFill>
                <a:srgbClr val="646C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21">
              <a:extLst>
                <a:ext uri="{FF2B5EF4-FFF2-40B4-BE49-F238E27FC236}">
                  <a16:creationId xmlns:a16="http://schemas.microsoft.com/office/drawing/2014/main" id="{DB06FCA1-8D16-4AB4-ACE5-67419FA1CFBA}"/>
                </a:ext>
              </a:extLst>
            </p:cNvPr>
            <p:cNvSpPr/>
            <p:nvPr/>
          </p:nvSpPr>
          <p:spPr>
            <a:xfrm>
              <a:off x="7752080" y="648271"/>
              <a:ext cx="777240" cy="777240"/>
            </a:xfrm>
            <a:prstGeom prst="ellipse">
              <a:avLst/>
            </a:prstGeom>
            <a:solidFill>
              <a:srgbClr val="EF962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F0BE8BF5-BDB5-4C54-A47C-AABFD26B8DE3}"/>
                </a:ext>
              </a:extLst>
            </p:cNvPr>
            <p:cNvSpPr txBox="1"/>
            <p:nvPr/>
          </p:nvSpPr>
          <p:spPr>
            <a:xfrm>
              <a:off x="7976069" y="803719"/>
              <a:ext cx="329262" cy="4133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800" b="1">
                  <a:solidFill>
                    <a:srgbClr val="FFFFFF"/>
                  </a:solidFill>
                </a:defRPr>
              </a:pPr>
              <a:r>
                <a:rPr lang="es-AR"/>
                <a:t>3</a:t>
              </a:r>
            </a:p>
          </p:txBody>
        </p:sp>
        <p:sp>
          <p:nvSpPr>
            <p:cNvPr id="40" name="Rounded Rectangle 23">
              <a:extLst>
                <a:ext uri="{FF2B5EF4-FFF2-40B4-BE49-F238E27FC236}">
                  <a16:creationId xmlns:a16="http://schemas.microsoft.com/office/drawing/2014/main" id="{49357EC2-277B-44C2-B356-D7948CBF7BCE}"/>
                </a:ext>
              </a:extLst>
            </p:cNvPr>
            <p:cNvSpPr/>
            <p:nvPr/>
          </p:nvSpPr>
          <p:spPr>
            <a:xfrm>
              <a:off x="7066280" y="1654111"/>
              <a:ext cx="2103120" cy="1828800"/>
            </a:xfrm>
            <a:prstGeom prst="roundRect">
              <a:avLst/>
            </a:prstGeom>
            <a:solidFill>
              <a:srgbClr val="F7F9FA"/>
            </a:solidFill>
            <a:ln>
              <a:solidFill>
                <a:srgbClr val="DCE1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1" name="Rectangle 24">
              <a:extLst>
                <a:ext uri="{FF2B5EF4-FFF2-40B4-BE49-F238E27FC236}">
                  <a16:creationId xmlns:a16="http://schemas.microsoft.com/office/drawing/2014/main" id="{5351D77F-E597-4A35-8260-E6493DD4D7CB}"/>
                </a:ext>
              </a:extLst>
            </p:cNvPr>
            <p:cNvSpPr/>
            <p:nvPr/>
          </p:nvSpPr>
          <p:spPr>
            <a:xfrm>
              <a:off x="7066280" y="1654111"/>
              <a:ext cx="64008" cy="1828800"/>
            </a:xfrm>
            <a:prstGeom prst="rect">
              <a:avLst/>
            </a:prstGeom>
            <a:solidFill>
              <a:srgbClr val="EF962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2" name="TextBox 25">
              <a:extLst>
                <a:ext uri="{FF2B5EF4-FFF2-40B4-BE49-F238E27FC236}">
                  <a16:creationId xmlns:a16="http://schemas.microsoft.com/office/drawing/2014/main" id="{E8E666C0-84C3-4056-875B-32952AD51867}"/>
                </a:ext>
              </a:extLst>
            </p:cNvPr>
            <p:cNvSpPr txBox="1"/>
            <p:nvPr/>
          </p:nvSpPr>
          <p:spPr>
            <a:xfrm>
              <a:off x="7230872" y="1763839"/>
              <a:ext cx="1353148" cy="36163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2B3136"/>
                  </a:solidFill>
                </a:defRPr>
              </a:pPr>
              <a:r>
                <a:rPr lang="es-AR"/>
                <a:t>SEGREGAR</a:t>
              </a:r>
            </a:p>
          </p:txBody>
        </p:sp>
        <p:sp>
          <p:nvSpPr>
            <p:cNvPr id="43" name="TextBox 26">
              <a:extLst>
                <a:ext uri="{FF2B5EF4-FFF2-40B4-BE49-F238E27FC236}">
                  <a16:creationId xmlns:a16="http://schemas.microsoft.com/office/drawing/2014/main" id="{F24125E5-DCF3-4164-91FF-0E09B5E83462}"/>
                </a:ext>
              </a:extLst>
            </p:cNvPr>
            <p:cNvSpPr txBox="1"/>
            <p:nvPr/>
          </p:nvSpPr>
          <p:spPr>
            <a:xfrm>
              <a:off x="7230872" y="2157031"/>
              <a:ext cx="1828799" cy="9988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300">
                  <a:solidFill>
                    <a:srgbClr val="646C72"/>
                  </a:solidFill>
                </a:defRPr>
              </a:pPr>
              <a:r>
                <a:rPr lang="es-AR"/>
                <a:t>Se clasifican y depositan en el destino correspondiente.</a:t>
              </a:r>
            </a:p>
          </p:txBody>
        </p:sp>
      </p:grpSp>
      <p:sp>
        <p:nvSpPr>
          <p:cNvPr id="58" name="object 11">
            <a:extLst>
              <a:ext uri="{FF2B5EF4-FFF2-40B4-BE49-F238E27FC236}">
                <a16:creationId xmlns:a16="http://schemas.microsoft.com/office/drawing/2014/main" id="{5B530B6F-3C07-4E44-9A8C-F2D42245CA19}"/>
              </a:ext>
            </a:extLst>
          </p:cNvPr>
          <p:cNvSpPr txBox="1"/>
          <p:nvPr/>
        </p:nvSpPr>
        <p:spPr>
          <a:xfrm>
            <a:off x="2564510" y="568261"/>
            <a:ext cx="3190494" cy="572529"/>
          </a:xfrm>
          <a:prstGeom prst="rect">
            <a:avLst/>
          </a:prstGeom>
          <a:ln w="3175">
            <a:solidFill>
              <a:srgbClr val="A6A6A6"/>
            </a:solidFill>
          </a:ln>
        </p:spPr>
        <p:txBody>
          <a:bodyPr vert="horz" wrap="square" lIns="0" tIns="142875" rIns="0" bIns="0" rtlCol="0">
            <a:spAutoFit/>
          </a:bodyPr>
          <a:lstStyle>
            <a:defPPr>
              <a:defRPr kern="0"/>
            </a:defPPr>
            <a:lvl1pPr marL="550545" marR="151130" indent="-318135">
              <a:lnSpc>
                <a:spcPct val="100600"/>
              </a:lnSpc>
              <a:spcBef>
                <a:spcPts val="1125"/>
              </a:spcBef>
              <a:buClr>
                <a:srgbClr val="EC1B2E"/>
              </a:buClr>
              <a:buFont typeface="Arial MT"/>
              <a:buChar char="•"/>
              <a:tabLst>
                <a:tab pos="550545" algn="l"/>
              </a:tabLst>
              <a:defRPr sz="140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r>
              <a:rPr lang="es-AR" dirty="0"/>
              <a:t>Las escoban no siempre lograban barrer estos elementos.</a:t>
            </a:r>
            <a:endParaRPr dirty="0"/>
          </a:p>
        </p:txBody>
      </p:sp>
      <p:sp>
        <p:nvSpPr>
          <p:cNvPr id="59" name="object 13">
            <a:extLst>
              <a:ext uri="{FF2B5EF4-FFF2-40B4-BE49-F238E27FC236}">
                <a16:creationId xmlns:a16="http://schemas.microsoft.com/office/drawing/2014/main" id="{3B6CE04C-8D3F-4B1C-B922-1956691D1029}"/>
              </a:ext>
            </a:extLst>
          </p:cNvPr>
          <p:cNvSpPr txBox="1"/>
          <p:nvPr/>
        </p:nvSpPr>
        <p:spPr>
          <a:xfrm>
            <a:off x="5736335" y="568261"/>
            <a:ext cx="3180398" cy="572529"/>
          </a:xfrm>
          <a:prstGeom prst="rect">
            <a:avLst/>
          </a:prstGeom>
          <a:ln w="3175">
            <a:solidFill>
              <a:srgbClr val="A6A6A6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550545" marR="151130" indent="-318135">
              <a:lnSpc>
                <a:spcPct val="100600"/>
              </a:lnSpc>
              <a:spcBef>
                <a:spcPts val="1125"/>
              </a:spcBef>
              <a:buClr>
                <a:srgbClr val="EC1B2E"/>
              </a:buClr>
              <a:buFont typeface="Arial MT"/>
              <a:buChar char="•"/>
              <a:tabLst>
                <a:tab pos="550545" algn="l"/>
              </a:tabLst>
            </a:pPr>
            <a:r>
              <a:rPr lang="es-AR" sz="1400" dirty="0">
                <a:solidFill>
                  <a:srgbClr val="A6A6A6"/>
                </a:solidFill>
                <a:latin typeface="Calibri"/>
                <a:cs typeface="Calibri"/>
              </a:rPr>
              <a:t>Simplemente se pasa el escobillón y se levantan del piso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028950" cy="5143500"/>
            <a:chOff x="0" y="0"/>
            <a:chExt cx="302895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76576" y="4715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74" y="0"/>
                  </a:lnTo>
                </a:path>
              </a:pathLst>
            </a:custGeom>
            <a:ln w="28575">
              <a:solidFill>
                <a:srgbClr val="205E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764910" y="453961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15277" y="1149286"/>
            <a:ext cx="136017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Análisis</a:t>
            </a:r>
            <a:r>
              <a:rPr sz="15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50" dirty="0">
                <a:solidFill>
                  <a:srgbClr val="FFFFFF"/>
                </a:solidFill>
                <a:latin typeface="Trebuchet MS"/>
                <a:cs typeface="Trebuchet MS"/>
              </a:rPr>
              <a:t>los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resultados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64510" y="568261"/>
            <a:ext cx="3009900" cy="2171700"/>
          </a:xfrm>
          <a:prstGeom prst="rect">
            <a:avLst/>
          </a:prstGeom>
          <a:ln w="3175">
            <a:solidFill>
              <a:srgbClr val="A6A6A6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544830" marR="719455" indent="-318135">
              <a:lnSpc>
                <a:spcPct val="102800"/>
              </a:lnSpc>
              <a:spcBef>
                <a:spcPts val="1105"/>
              </a:spcBef>
              <a:buClr>
                <a:srgbClr val="FF0000"/>
              </a:buClr>
              <a:buFont typeface="Arial MT"/>
              <a:buChar char="•"/>
              <a:tabLst>
                <a:tab pos="544830" algn="l"/>
              </a:tabLst>
            </a:pP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Se</a:t>
            </a:r>
            <a:r>
              <a:rPr sz="14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concreta</a:t>
            </a:r>
            <a:r>
              <a:rPr sz="1400" spc="-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la mejora</a:t>
            </a:r>
            <a:r>
              <a:rPr sz="1400" spc="-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A6A6A6"/>
                </a:solidFill>
                <a:latin typeface="Calibri"/>
                <a:cs typeface="Calibri"/>
              </a:rPr>
              <a:t>la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segregacion</a:t>
            </a:r>
            <a:r>
              <a:rPr sz="1400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1400" spc="-10" dirty="0">
                <a:solidFill>
                  <a:srgbClr val="A6A6A6"/>
                </a:solidFill>
                <a:latin typeface="Calibri"/>
                <a:cs typeface="Calibri"/>
              </a:rPr>
              <a:t> residuos</a:t>
            </a:r>
            <a:endParaRPr sz="1400" dirty="0">
              <a:latin typeface="Calibri"/>
              <a:cs typeface="Calibri"/>
            </a:endParaRPr>
          </a:p>
          <a:p>
            <a:pPr marL="544830" indent="-31813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Arial MT"/>
              <a:buChar char="•"/>
              <a:tabLst>
                <a:tab pos="544830" algn="l"/>
              </a:tabLst>
            </a:pP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Favorece</a:t>
            </a:r>
            <a:r>
              <a:rPr sz="14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el</a:t>
            </a:r>
            <a:r>
              <a:rPr sz="1400" spc="-4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A6A6A6"/>
                </a:solidFill>
                <a:latin typeface="Calibri"/>
                <a:cs typeface="Calibri"/>
              </a:rPr>
              <a:t>orden</a:t>
            </a:r>
            <a:endParaRPr sz="1400" dirty="0">
              <a:latin typeface="Calibri"/>
              <a:cs typeface="Calibri"/>
            </a:endParaRPr>
          </a:p>
          <a:p>
            <a:pPr marL="544830" marR="645795" indent="-318135">
              <a:lnSpc>
                <a:spcPts val="1660"/>
              </a:lnSpc>
              <a:spcBef>
                <a:spcPts val="720"/>
              </a:spcBef>
              <a:buClr>
                <a:srgbClr val="FF0000"/>
              </a:buClr>
              <a:buFont typeface="Arial MT"/>
              <a:buChar char="•"/>
              <a:tabLst>
                <a:tab pos="544830" algn="l"/>
              </a:tabLst>
            </a:pP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Evita</a:t>
            </a:r>
            <a:r>
              <a:rPr sz="1400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incidentes</a:t>
            </a:r>
            <a:r>
              <a:rPr sz="14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hacia</a:t>
            </a:r>
            <a:r>
              <a:rPr sz="1400" spc="-6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A6A6A6"/>
                </a:solidFill>
                <a:latin typeface="Calibri"/>
                <a:cs typeface="Calibri"/>
              </a:rPr>
              <a:t>los </a:t>
            </a:r>
            <a:r>
              <a:rPr sz="1400" spc="-10" dirty="0">
                <a:solidFill>
                  <a:srgbClr val="A6A6A6"/>
                </a:solidFill>
                <a:latin typeface="Calibri"/>
                <a:cs typeface="Calibri"/>
              </a:rPr>
              <a:t>operarios</a:t>
            </a:r>
            <a:endParaRPr sz="1400" dirty="0">
              <a:latin typeface="Calibri"/>
              <a:cs typeface="Calibri"/>
            </a:endParaRPr>
          </a:p>
          <a:p>
            <a:pPr marL="544830" marR="134620" indent="-318135">
              <a:lnSpc>
                <a:spcPct val="100699"/>
              </a:lnSpc>
              <a:spcBef>
                <a:spcPts val="500"/>
              </a:spcBef>
              <a:buClr>
                <a:srgbClr val="FF0000"/>
              </a:buClr>
              <a:buFont typeface="Arial MT"/>
              <a:buChar char="•"/>
              <a:tabLst>
                <a:tab pos="544830" algn="l"/>
              </a:tabLst>
            </a:pP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Evita</a:t>
            </a:r>
            <a:r>
              <a:rPr sz="1400" spc="-2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el</a:t>
            </a:r>
            <a:r>
              <a:rPr sz="1400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incrustamiento</a:t>
            </a:r>
            <a:r>
              <a:rPr sz="14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A6A6A6"/>
                </a:solidFill>
                <a:latin typeface="Calibri"/>
                <a:cs typeface="Calibri"/>
              </a:rPr>
              <a:t>de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residuos</a:t>
            </a:r>
            <a:r>
              <a:rPr sz="1400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metalicos</a:t>
            </a:r>
            <a:r>
              <a:rPr sz="1400" spc="-2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en</a:t>
            </a:r>
            <a:r>
              <a:rPr sz="1400" spc="-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las</a:t>
            </a:r>
            <a:r>
              <a:rPr sz="1400" spc="-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6A6A6"/>
                </a:solidFill>
                <a:latin typeface="Calibri"/>
                <a:cs typeface="Calibri"/>
              </a:rPr>
              <a:t>ruedas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de los</a:t>
            </a:r>
            <a:r>
              <a:rPr sz="14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6A6A6"/>
                </a:solidFill>
                <a:latin typeface="Calibri"/>
                <a:cs typeface="Calibri"/>
              </a:rPr>
              <a:t>vehiculos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64510" y="159067"/>
            <a:ext cx="8445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5" dirty="0">
                <a:solidFill>
                  <a:srgbClr val="4E6C92"/>
                </a:solidFill>
                <a:latin typeface="Trebuchet MS"/>
                <a:cs typeface="Trebuchet MS"/>
              </a:rPr>
              <a:t>Después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36335" y="568261"/>
            <a:ext cx="3000375" cy="790153"/>
          </a:xfrm>
          <a:prstGeom prst="rect">
            <a:avLst/>
          </a:prstGeom>
          <a:ln w="3175">
            <a:solidFill>
              <a:srgbClr val="A6A6A6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550545" marR="151130" indent="-318135">
              <a:lnSpc>
                <a:spcPct val="100600"/>
              </a:lnSpc>
              <a:spcBef>
                <a:spcPts val="1125"/>
              </a:spcBef>
              <a:buClr>
                <a:srgbClr val="EC1B2E"/>
              </a:buClr>
              <a:buFont typeface="Arial MT"/>
              <a:buChar char="•"/>
              <a:tabLst>
                <a:tab pos="550545" algn="l"/>
              </a:tabLst>
            </a:pP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La</a:t>
            </a:r>
            <a:r>
              <a:rPr sz="1400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mantiene</a:t>
            </a:r>
            <a:r>
              <a:rPr sz="1400" spc="-6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el</a:t>
            </a:r>
            <a:r>
              <a:rPr sz="1400" spc="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orden</a:t>
            </a:r>
            <a:r>
              <a:rPr sz="1400" spc="-3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dentro</a:t>
            </a:r>
            <a:r>
              <a:rPr sz="1400" spc="-3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A6A6A6"/>
                </a:solidFill>
                <a:latin typeface="Calibri"/>
                <a:cs typeface="Calibri"/>
              </a:rPr>
              <a:t>de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los</a:t>
            </a:r>
            <a:r>
              <a:rPr sz="1400" spc="-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sectores</a:t>
            </a:r>
            <a:r>
              <a:rPr sz="1400" spc="-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y</a:t>
            </a:r>
            <a:r>
              <a:rPr sz="1400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6A6A6"/>
                </a:solidFill>
                <a:latin typeface="Calibri"/>
                <a:cs typeface="Calibri"/>
              </a:rPr>
              <a:t>la</a:t>
            </a:r>
            <a:r>
              <a:rPr sz="1400" spc="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6A6A6"/>
                </a:solidFill>
                <a:latin typeface="Calibri"/>
                <a:cs typeface="Calibri"/>
              </a:rPr>
              <a:t>calles transitadas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5755004" y="122174"/>
            <a:ext cx="129984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0" dirty="0"/>
              <a:t>Conclusiones</a:t>
            </a: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8450" y="1962150"/>
            <a:ext cx="2552700" cy="2092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551" y="145732"/>
            <a:ext cx="3111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95" dirty="0">
                <a:solidFill>
                  <a:srgbClr val="6CCFF6"/>
                </a:solidFill>
                <a:latin typeface="Arial Black"/>
                <a:cs typeface="Arial Black"/>
              </a:rPr>
              <a:t>10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01034" y="1815220"/>
            <a:ext cx="1855470" cy="101091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3950" spc="-10" dirty="0">
                <a:solidFill>
                  <a:srgbClr val="FFFFFF"/>
                </a:solidFill>
              </a:rPr>
              <a:t>Freno</a:t>
            </a:r>
            <a:endParaRPr sz="3950"/>
          </a:p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2000" b="0" spc="-30" dirty="0">
                <a:solidFill>
                  <a:srgbClr val="FFFFFF"/>
                </a:solidFill>
                <a:latin typeface="Trebuchet MS"/>
                <a:cs typeface="Trebuchet MS"/>
              </a:rPr>
              <a:t>contra</a:t>
            </a:r>
            <a:r>
              <a:rPr sz="2000" b="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retroceso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552700" cy="5143500"/>
            <a:chOff x="0" y="0"/>
            <a:chExt cx="25527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757551" y="690626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374" y="0"/>
                </a:lnTo>
              </a:path>
            </a:pathLst>
          </a:custGeom>
          <a:ln w="28575">
            <a:solidFill>
              <a:srgbClr val="205E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15277" y="1149286"/>
            <a:ext cx="120459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sz="1550" b="1" spc="-20" dirty="0">
                <a:solidFill>
                  <a:srgbClr val="FFFFFF"/>
                </a:solidFill>
                <a:latin typeface="Trebuchet MS"/>
                <a:cs typeface="Trebuchet MS"/>
              </a:rPr>
              <a:t>Freno</a:t>
            </a:r>
            <a:r>
              <a:rPr sz="155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Trebuchet MS"/>
                <a:cs typeface="Trebuchet MS"/>
              </a:rPr>
              <a:t>contra retroceso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346" rIns="0" bIns="0" rtlCol="0">
            <a:spAutoFit/>
          </a:bodyPr>
          <a:lstStyle/>
          <a:p>
            <a:pPr marL="259270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Acciones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20254B3-4229-4C2A-B0D9-6897690263D1}"/>
              </a:ext>
            </a:extLst>
          </p:cNvPr>
          <p:cNvSpPr txBox="1"/>
          <p:nvPr/>
        </p:nvSpPr>
        <p:spPr>
          <a:xfrm>
            <a:off x="2057400" y="879026"/>
            <a:ext cx="38427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2"/>
                </a:solidFill>
              </a:defRPr>
            </a:pPr>
            <a:r>
              <a:rPr lang="es-AR" noProof="1"/>
              <a:t>Convertir la mejora en una forma estándar de trabajar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45A0B0FE-7E05-4FC0-8F66-7740830C4503}"/>
              </a:ext>
            </a:extLst>
          </p:cNvPr>
          <p:cNvSpPr/>
          <p:nvPr/>
        </p:nvSpPr>
        <p:spPr>
          <a:xfrm>
            <a:off x="2129896" y="1288354"/>
            <a:ext cx="2160820" cy="12377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8D0DE449-7773-49BD-82F1-BB64557E670D}"/>
              </a:ext>
            </a:extLst>
          </p:cNvPr>
          <p:cNvSpPr/>
          <p:nvPr/>
        </p:nvSpPr>
        <p:spPr>
          <a:xfrm>
            <a:off x="2129896" y="1288354"/>
            <a:ext cx="50419" cy="1237740"/>
          </a:xfrm>
          <a:prstGeom prst="rect">
            <a:avLst/>
          </a:prstGeom>
          <a:solidFill>
            <a:srgbClr val="EE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AA55CA8A-F8AD-4312-BC34-73646C8DE103}"/>
              </a:ext>
            </a:extLst>
          </p:cNvPr>
          <p:cNvSpPr txBox="1"/>
          <p:nvPr/>
        </p:nvSpPr>
        <p:spPr>
          <a:xfrm>
            <a:off x="2259545" y="1375723"/>
            <a:ext cx="17540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3136"/>
                </a:solidFill>
              </a:defRPr>
            </a:pPr>
            <a:r>
              <a:rPr lang="es-AR" noProof="1"/>
              <a:t>CAPACITACIÓN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B5454507-28D9-497E-98B4-058B66A2E76E}"/>
              </a:ext>
            </a:extLst>
          </p:cNvPr>
          <p:cNvSpPr txBox="1"/>
          <p:nvPr/>
        </p:nvSpPr>
        <p:spPr>
          <a:xfrm>
            <a:off x="2259545" y="1688799"/>
            <a:ext cx="194473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noProof="1"/>
              <a:t>Capacitación del personal.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2EA9D9C3-3C95-4CC8-94C2-6D51CA793AEC}"/>
              </a:ext>
            </a:extLst>
          </p:cNvPr>
          <p:cNvSpPr/>
          <p:nvPr/>
        </p:nvSpPr>
        <p:spPr>
          <a:xfrm>
            <a:off x="5029200" y="1334010"/>
            <a:ext cx="2160820" cy="12377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0FE5B073-2E3C-4512-846E-7DB7CE7BDCC2}"/>
              </a:ext>
            </a:extLst>
          </p:cNvPr>
          <p:cNvSpPr/>
          <p:nvPr/>
        </p:nvSpPr>
        <p:spPr>
          <a:xfrm>
            <a:off x="5029200" y="1334010"/>
            <a:ext cx="50419" cy="1237740"/>
          </a:xfrm>
          <a:prstGeom prst="rect">
            <a:avLst/>
          </a:prstGeom>
          <a:solidFill>
            <a:srgbClr val="2F8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58EC182F-7B8C-4EC7-ADD3-807CA566B8E1}"/>
              </a:ext>
            </a:extLst>
          </p:cNvPr>
          <p:cNvSpPr txBox="1"/>
          <p:nvPr/>
        </p:nvSpPr>
        <p:spPr>
          <a:xfrm>
            <a:off x="5158850" y="1421379"/>
            <a:ext cx="14125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3136"/>
                </a:solidFill>
              </a:defRPr>
            </a:pPr>
            <a:r>
              <a:rPr lang="es-AR" noProof="1"/>
              <a:t>SEGURIDAD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68584FA1-9493-4797-9F7E-6B65B0D6B605}"/>
              </a:ext>
            </a:extLst>
          </p:cNvPr>
          <p:cNvSpPr txBox="1"/>
          <p:nvPr/>
        </p:nvSpPr>
        <p:spPr>
          <a:xfrm>
            <a:off x="5158850" y="1734455"/>
            <a:ext cx="19447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noProof="1"/>
              <a:t>Validación HSMA.</a:t>
            </a:r>
          </a:p>
        </p:txBody>
      </p:sp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8587A765-EB16-4522-AAB8-EF3342FEAE94}"/>
              </a:ext>
            </a:extLst>
          </p:cNvPr>
          <p:cNvSpPr/>
          <p:nvPr/>
        </p:nvSpPr>
        <p:spPr>
          <a:xfrm>
            <a:off x="3452803" y="2798509"/>
            <a:ext cx="2160820" cy="12377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9D37FBF0-F067-4A14-88DC-1EA26121AB57}"/>
              </a:ext>
            </a:extLst>
          </p:cNvPr>
          <p:cNvSpPr/>
          <p:nvPr/>
        </p:nvSpPr>
        <p:spPr>
          <a:xfrm>
            <a:off x="3452803" y="2798509"/>
            <a:ext cx="50419" cy="1237740"/>
          </a:xfrm>
          <a:prstGeom prst="rect">
            <a:avLst/>
          </a:prstGeom>
          <a:solidFill>
            <a:srgbClr val="EF9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D7EFB86A-9748-4EA5-AE6A-AD393F6A8AF6}"/>
              </a:ext>
            </a:extLst>
          </p:cNvPr>
          <p:cNvSpPr txBox="1"/>
          <p:nvPr/>
        </p:nvSpPr>
        <p:spPr>
          <a:xfrm>
            <a:off x="3582452" y="2885879"/>
            <a:ext cx="11977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3136"/>
                </a:solidFill>
              </a:defRPr>
            </a:pPr>
            <a:r>
              <a:rPr lang="es-AR" noProof="1"/>
              <a:t>CONTROL</a:t>
            </a: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E91B6186-97E6-487A-BB6A-4F1A30ABA0AD}"/>
              </a:ext>
            </a:extLst>
          </p:cNvPr>
          <p:cNvSpPr txBox="1"/>
          <p:nvPr/>
        </p:nvSpPr>
        <p:spPr>
          <a:xfrm>
            <a:off x="3582452" y="3198954"/>
            <a:ext cx="194473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noProof="1"/>
              <a:t>Comprobar estado del dispositivo y eficacia de la limpieza.</a:t>
            </a:r>
          </a:p>
        </p:txBody>
      </p:sp>
      <p:sp>
        <p:nvSpPr>
          <p:cNvPr id="33" name="Rounded Rectangle 21">
            <a:extLst>
              <a:ext uri="{FF2B5EF4-FFF2-40B4-BE49-F238E27FC236}">
                <a16:creationId xmlns:a16="http://schemas.microsoft.com/office/drawing/2014/main" id="{C50DC44B-5240-49D4-9610-C5F8A0E2F505}"/>
              </a:ext>
            </a:extLst>
          </p:cNvPr>
          <p:cNvSpPr/>
          <p:nvPr/>
        </p:nvSpPr>
        <p:spPr>
          <a:xfrm>
            <a:off x="6629400" y="2834728"/>
            <a:ext cx="2160820" cy="1237740"/>
          </a:xfrm>
          <a:prstGeom prst="roundRect">
            <a:avLst/>
          </a:prstGeom>
          <a:solidFill>
            <a:srgbClr val="F7F9FA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34" name="Rectangle 22">
            <a:extLst>
              <a:ext uri="{FF2B5EF4-FFF2-40B4-BE49-F238E27FC236}">
                <a16:creationId xmlns:a16="http://schemas.microsoft.com/office/drawing/2014/main" id="{B2D742D2-6AD0-4227-A3D2-B6F23F76A3F6}"/>
              </a:ext>
            </a:extLst>
          </p:cNvPr>
          <p:cNvSpPr/>
          <p:nvPr/>
        </p:nvSpPr>
        <p:spPr>
          <a:xfrm>
            <a:off x="6629400" y="2834728"/>
            <a:ext cx="50419" cy="1237740"/>
          </a:xfrm>
          <a:prstGeom prst="rect">
            <a:avLst/>
          </a:prstGeom>
          <a:solidFill>
            <a:srgbClr val="35A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5158414B-5FEE-4C76-8363-EB745401ECA8}"/>
              </a:ext>
            </a:extLst>
          </p:cNvPr>
          <p:cNvSpPr txBox="1"/>
          <p:nvPr/>
        </p:nvSpPr>
        <p:spPr>
          <a:xfrm>
            <a:off x="6759048" y="2922098"/>
            <a:ext cx="120898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3136"/>
                </a:solidFill>
              </a:defRPr>
            </a:pPr>
            <a:r>
              <a:rPr lang="es-AR" noProof="1"/>
              <a:t>PROCESO</a:t>
            </a: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AC761BE2-45A2-4F67-9CBF-512973E437E5}"/>
              </a:ext>
            </a:extLst>
          </p:cNvPr>
          <p:cNvSpPr txBox="1"/>
          <p:nvPr/>
        </p:nvSpPr>
        <p:spPr>
          <a:xfrm>
            <a:off x="6759047" y="3235173"/>
            <a:ext cx="216081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C72"/>
                </a:solidFill>
              </a:defRPr>
            </a:pPr>
            <a:r>
              <a:rPr lang="es-AR" noProof="1"/>
              <a:t>Mantener el sector limpio y seguro durante la operación.</a:t>
            </a:r>
          </a:p>
        </p:txBody>
      </p:sp>
      <p:sp>
        <p:nvSpPr>
          <p:cNvPr id="37" name="TextBox 25">
            <a:extLst>
              <a:ext uri="{FF2B5EF4-FFF2-40B4-BE49-F238E27FC236}">
                <a16:creationId xmlns:a16="http://schemas.microsoft.com/office/drawing/2014/main" id="{BFF60362-B2AC-4938-AE19-46C7EF513DC2}"/>
              </a:ext>
            </a:extLst>
          </p:cNvPr>
          <p:cNvSpPr txBox="1"/>
          <p:nvPr/>
        </p:nvSpPr>
        <p:spPr>
          <a:xfrm>
            <a:off x="2207975" y="4530543"/>
            <a:ext cx="61590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3136"/>
                </a:solidFill>
              </a:defRPr>
            </a:pPr>
            <a:r>
              <a:rPr lang="es-AR" noProof="1">
                <a:latin typeface="+mn-lt"/>
              </a:rPr>
              <a:t>Objetivo: que la mejora no dependa de una persona, sino del método.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551" y="145732"/>
            <a:ext cx="3111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95" dirty="0">
                <a:solidFill>
                  <a:srgbClr val="6CCFF6"/>
                </a:solidFill>
                <a:latin typeface="Arial Black"/>
                <a:cs typeface="Arial Black"/>
              </a:rPr>
              <a:t>11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3551" y="1867788"/>
            <a:ext cx="1704339" cy="9188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05" algn="ctr">
              <a:lnSpc>
                <a:spcPts val="2330"/>
              </a:lnSpc>
              <a:spcBef>
                <a:spcPts val="130"/>
              </a:spcBef>
            </a:pPr>
            <a:r>
              <a:rPr sz="2000" b="0" spc="-10" dirty="0">
                <a:solidFill>
                  <a:srgbClr val="FFFFFF"/>
                </a:solidFill>
                <a:latin typeface="Trebuchet MS"/>
                <a:cs typeface="Trebuchet MS"/>
              </a:rPr>
              <a:t>Trabajos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ts val="4670"/>
              </a:lnSpc>
            </a:pPr>
            <a:r>
              <a:rPr sz="3950" spc="-10" dirty="0">
                <a:solidFill>
                  <a:srgbClr val="FFFFFF"/>
                </a:solidFill>
              </a:rPr>
              <a:t>futuros</a:t>
            </a:r>
            <a:endParaRPr sz="39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552700" cy="5143500"/>
            <a:chOff x="0" y="0"/>
            <a:chExt cx="25527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52700" cy="5143500"/>
            </a:xfrm>
            <a:custGeom>
              <a:avLst/>
              <a:gdLst/>
              <a:ahLst/>
              <a:cxnLst/>
              <a:rect l="l" t="t" r="r" b="b"/>
              <a:pathLst>
                <a:path w="2552700" h="5143500">
                  <a:moveTo>
                    <a:pt x="2552700" y="0"/>
                  </a:moveTo>
                  <a:lnTo>
                    <a:pt x="2279904" y="0"/>
                  </a:lnTo>
                  <a:lnTo>
                    <a:pt x="0" y="5143499"/>
                  </a:lnTo>
                  <a:lnTo>
                    <a:pt x="272757" y="5143499"/>
                  </a:lnTo>
                  <a:lnTo>
                    <a:pt x="2552700" y="0"/>
                  </a:lnTo>
                  <a:close/>
                </a:path>
              </a:pathLst>
            </a:custGeom>
            <a:solidFill>
              <a:srgbClr val="6CCF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333625" cy="5143500"/>
            </a:xfrm>
            <a:custGeom>
              <a:avLst/>
              <a:gdLst/>
              <a:ahLst/>
              <a:cxnLst/>
              <a:rect l="l" t="t" r="r" b="b"/>
              <a:pathLst>
                <a:path w="2333625" h="5143500">
                  <a:moveTo>
                    <a:pt x="2333625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333625" y="0"/>
                  </a:lnTo>
                  <a:close/>
                </a:path>
              </a:pathLst>
            </a:custGeom>
            <a:solidFill>
              <a:srgbClr val="EC1B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5" y="0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7735" y="530435"/>
                  </a:lnTo>
                  <a:lnTo>
                    <a:pt x="28828" y="561721"/>
                  </a:lnTo>
                  <a:lnTo>
                    <a:pt x="60114" y="582814"/>
                  </a:lnTo>
                  <a:lnTo>
                    <a:pt x="98425" y="590550"/>
                  </a:lnTo>
                  <a:lnTo>
                    <a:pt x="492125" y="590550"/>
                  </a:lnTo>
                  <a:lnTo>
                    <a:pt x="530435" y="582814"/>
                  </a:lnTo>
                  <a:lnTo>
                    <a:pt x="561721" y="561720"/>
                  </a:lnTo>
                  <a:lnTo>
                    <a:pt x="582814" y="530435"/>
                  </a:lnTo>
                  <a:lnTo>
                    <a:pt x="590550" y="492125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180505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5">
                  <a:moveTo>
                    <a:pt x="0" y="0"/>
                  </a:moveTo>
                  <a:lnTo>
                    <a:pt x="452399" y="0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09550"/>
            <a:ext cx="561975" cy="1809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5277" y="1149286"/>
            <a:ext cx="1204595" cy="4807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lang="es-AR" sz="1550" b="1" spc="-20" dirty="0">
                <a:solidFill>
                  <a:srgbClr val="FFFFFF"/>
                </a:solidFill>
                <a:latin typeface="Trebuchet MS"/>
                <a:cs typeface="Trebuchet MS"/>
              </a:rPr>
              <a:t>Trabajo futuros</a:t>
            </a:r>
            <a:endParaRPr sz="1550" dirty="0">
              <a:latin typeface="Trebuchet MS"/>
              <a:cs typeface="Trebuchet MS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4EDC0F5-3020-4D92-B341-82522F3E020F}"/>
              </a:ext>
            </a:extLst>
          </p:cNvPr>
          <p:cNvGrpSpPr/>
          <p:nvPr/>
        </p:nvGrpSpPr>
        <p:grpSpPr>
          <a:xfrm>
            <a:off x="2133076" y="925868"/>
            <a:ext cx="6482237" cy="3165122"/>
            <a:chOff x="1508077" y="834357"/>
            <a:chExt cx="8458883" cy="2914683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7FA73713-CA7D-4116-AB0F-71DF5425EEDE}"/>
                </a:ext>
              </a:extLst>
            </p:cNvPr>
            <p:cNvSpPr txBox="1"/>
            <p:nvPr/>
          </p:nvSpPr>
          <p:spPr>
            <a:xfrm>
              <a:off x="1508077" y="834357"/>
              <a:ext cx="4403681" cy="3117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646C72"/>
                  </a:solidFill>
                </a:defRPr>
              </a:pPr>
              <a:r>
                <a:rPr lang="es-AR" sz="1600"/>
                <a:t>Llevar la solución un paso más allá</a:t>
              </a:r>
            </a:p>
          </p:txBody>
        </p:sp>
        <p:sp>
          <p:nvSpPr>
            <p:cNvPr id="17" name="Rounded Rectangle 7">
              <a:extLst>
                <a:ext uri="{FF2B5EF4-FFF2-40B4-BE49-F238E27FC236}">
                  <a16:creationId xmlns:a16="http://schemas.microsoft.com/office/drawing/2014/main" id="{14BC6A5E-2ED0-4B85-B457-7BD9A7209912}"/>
                </a:ext>
              </a:extLst>
            </p:cNvPr>
            <p:cNvSpPr/>
            <p:nvPr/>
          </p:nvSpPr>
          <p:spPr>
            <a:xfrm>
              <a:off x="1554480" y="1463040"/>
              <a:ext cx="4023360" cy="2286000"/>
            </a:xfrm>
            <a:prstGeom prst="roundRect">
              <a:avLst/>
            </a:prstGeom>
            <a:solidFill>
              <a:srgbClr val="F7F9FA"/>
            </a:solidFill>
            <a:ln>
              <a:solidFill>
                <a:srgbClr val="DCE1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FB1952D5-C0CA-4AA9-B065-853BE8834405}"/>
                </a:ext>
              </a:extLst>
            </p:cNvPr>
            <p:cNvSpPr/>
            <p:nvPr/>
          </p:nvSpPr>
          <p:spPr>
            <a:xfrm>
              <a:off x="1554480" y="1463040"/>
              <a:ext cx="64008" cy="2286000"/>
            </a:xfrm>
            <a:prstGeom prst="rect">
              <a:avLst/>
            </a:prstGeom>
            <a:solidFill>
              <a:srgbClr val="EE19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9" name="TextBox 9">
              <a:extLst>
                <a:ext uri="{FF2B5EF4-FFF2-40B4-BE49-F238E27FC236}">
                  <a16:creationId xmlns:a16="http://schemas.microsoft.com/office/drawing/2014/main" id="{62A26FC1-E713-40E7-901F-EAB9ED5F855A}"/>
                </a:ext>
              </a:extLst>
            </p:cNvPr>
            <p:cNvSpPr txBox="1"/>
            <p:nvPr/>
          </p:nvSpPr>
          <p:spPr>
            <a:xfrm>
              <a:off x="1719072" y="1572768"/>
              <a:ext cx="2661203" cy="28342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800" b="1">
                  <a:solidFill>
                    <a:srgbClr val="2B3136"/>
                  </a:solidFill>
                </a:defRPr>
              </a:pPr>
              <a:r>
                <a:rPr lang="es-AR" sz="1400"/>
                <a:t>V2 DEL ESCOBILLÓN</a:t>
              </a:r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731C3F91-E1C0-423C-BA50-CA3E41364CB6}"/>
                </a:ext>
              </a:extLst>
            </p:cNvPr>
            <p:cNvSpPr txBox="1"/>
            <p:nvPr/>
          </p:nvSpPr>
          <p:spPr>
            <a:xfrm>
              <a:off x="1719072" y="1965960"/>
              <a:ext cx="3749040" cy="935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500">
                  <a:solidFill>
                    <a:srgbClr val="646C72"/>
                  </a:solidFill>
                </a:defRPr>
              </a:pPr>
              <a:r>
                <a:rPr lang="es-AR"/>
                <a:t>Desarrollar una segunda versión incorporando mejoras de diseño, ergonomía, descarga y durabilidad.</a:t>
              </a:r>
            </a:p>
          </p:txBody>
        </p:sp>
        <p:sp>
          <p:nvSpPr>
            <p:cNvPr id="21" name="Rounded Rectangle 11">
              <a:extLst>
                <a:ext uri="{FF2B5EF4-FFF2-40B4-BE49-F238E27FC236}">
                  <a16:creationId xmlns:a16="http://schemas.microsoft.com/office/drawing/2014/main" id="{346804AA-C8FC-462B-836C-0B11D6661696}"/>
                </a:ext>
              </a:extLst>
            </p:cNvPr>
            <p:cNvSpPr/>
            <p:nvPr/>
          </p:nvSpPr>
          <p:spPr>
            <a:xfrm>
              <a:off x="5943600" y="1463040"/>
              <a:ext cx="4023360" cy="2286000"/>
            </a:xfrm>
            <a:prstGeom prst="roundRect">
              <a:avLst/>
            </a:prstGeom>
            <a:solidFill>
              <a:srgbClr val="F7F9FA"/>
            </a:solidFill>
            <a:ln>
              <a:solidFill>
                <a:srgbClr val="DCE1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0880FED0-8DD6-4515-8C6D-2FB74E5F026E}"/>
                </a:ext>
              </a:extLst>
            </p:cNvPr>
            <p:cNvSpPr/>
            <p:nvPr/>
          </p:nvSpPr>
          <p:spPr>
            <a:xfrm>
              <a:off x="5943600" y="1463040"/>
              <a:ext cx="64008" cy="2286000"/>
            </a:xfrm>
            <a:prstGeom prst="rect">
              <a:avLst/>
            </a:prstGeom>
            <a:solidFill>
              <a:srgbClr val="35AED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3" name="TextBox 13">
              <a:extLst>
                <a:ext uri="{FF2B5EF4-FFF2-40B4-BE49-F238E27FC236}">
                  <a16:creationId xmlns:a16="http://schemas.microsoft.com/office/drawing/2014/main" id="{38E70411-69B2-4BEA-B045-E6FFBC6A77C8}"/>
                </a:ext>
              </a:extLst>
            </p:cNvPr>
            <p:cNvSpPr txBox="1"/>
            <p:nvPr/>
          </p:nvSpPr>
          <p:spPr>
            <a:xfrm>
              <a:off x="6108192" y="1572768"/>
              <a:ext cx="3822157" cy="28342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800" b="1">
                  <a:solidFill>
                    <a:srgbClr val="2B3136"/>
                  </a:solidFill>
                </a:defRPr>
              </a:pPr>
              <a:r>
                <a:rPr lang="es-AR" sz="1400"/>
                <a:t>CARROS DE ABASTECIMIENTO</a:t>
              </a:r>
            </a:p>
          </p:txBody>
        </p:sp>
        <p:sp>
          <p:nvSpPr>
            <p:cNvPr id="24" name="TextBox 14">
              <a:extLst>
                <a:ext uri="{FF2B5EF4-FFF2-40B4-BE49-F238E27FC236}">
                  <a16:creationId xmlns:a16="http://schemas.microsoft.com/office/drawing/2014/main" id="{83F391D0-A7CE-427B-B0F3-9926DBB00B07}"/>
                </a:ext>
              </a:extLst>
            </p:cNvPr>
            <p:cNvSpPr txBox="1"/>
            <p:nvPr/>
          </p:nvSpPr>
          <p:spPr>
            <a:xfrm>
              <a:off x="6108192" y="1965960"/>
              <a:ext cx="3749040" cy="935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500">
                  <a:solidFill>
                    <a:srgbClr val="646C72"/>
                  </a:solidFill>
                </a:defRPr>
              </a:pPr>
              <a:r>
                <a:rPr lang="es-AR"/>
                <a:t>Analizar la posibilidad de aplicar el principio de recuperación magnética en los carros de abastecimiento.</a:t>
              </a:r>
            </a:p>
          </p:txBody>
        </p:sp>
      </p:grpSp>
      <p:sp>
        <p:nvSpPr>
          <p:cNvPr id="25" name="TextBox 15">
            <a:extLst>
              <a:ext uri="{FF2B5EF4-FFF2-40B4-BE49-F238E27FC236}">
                <a16:creationId xmlns:a16="http://schemas.microsoft.com/office/drawing/2014/main" id="{95B2A225-9E9D-4C5B-9506-0CCD1CE10C11}"/>
              </a:ext>
            </a:extLst>
          </p:cNvPr>
          <p:cNvSpPr txBox="1"/>
          <p:nvPr/>
        </p:nvSpPr>
        <p:spPr>
          <a:xfrm>
            <a:off x="1904999" y="4492614"/>
            <a:ext cx="71899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375A6"/>
                </a:solidFill>
              </a:defRPr>
            </a:pPr>
            <a:r>
              <a:rPr lang="es-AR" sz="1600">
                <a:latin typeface="+mn-lt"/>
              </a:rPr>
              <a:t>De una solución puntual → a un principio aplicable en otros puntos del proceso.</a:t>
            </a:r>
          </a:p>
        </p:txBody>
      </p:sp>
    </p:spTree>
    <p:extLst>
      <p:ext uri="{BB962C8B-B14F-4D97-AF65-F5344CB8AC3E}">
        <p14:creationId xmlns:p14="http://schemas.microsoft.com/office/powerpoint/2010/main" val="3396432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91D2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72225" y="2325834"/>
            <a:ext cx="2771775" cy="2818130"/>
          </a:xfrm>
          <a:custGeom>
            <a:avLst/>
            <a:gdLst/>
            <a:ahLst/>
            <a:cxnLst/>
            <a:rect l="l" t="t" r="r" b="b"/>
            <a:pathLst>
              <a:path w="2771775" h="2818129">
                <a:moveTo>
                  <a:pt x="2771774" y="0"/>
                </a:moveTo>
                <a:lnTo>
                  <a:pt x="0" y="2817664"/>
                </a:lnTo>
                <a:lnTo>
                  <a:pt x="2771774" y="2817664"/>
                </a:lnTo>
                <a:lnTo>
                  <a:pt x="2771774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625" y="114299"/>
            <a:ext cx="2847975" cy="2762250"/>
          </a:xfrm>
          <a:custGeom>
            <a:avLst/>
            <a:gdLst/>
            <a:ahLst/>
            <a:cxnLst/>
            <a:rect l="l" t="t" r="r" b="b"/>
            <a:pathLst>
              <a:path w="2847975" h="2762250">
                <a:moveTo>
                  <a:pt x="2847975" y="152400"/>
                </a:moveTo>
                <a:lnTo>
                  <a:pt x="2538158" y="152400"/>
                </a:lnTo>
                <a:lnTo>
                  <a:pt x="2695575" y="0"/>
                </a:lnTo>
                <a:lnTo>
                  <a:pt x="1448435" y="0"/>
                </a:lnTo>
                <a:lnTo>
                  <a:pt x="0" y="1402334"/>
                </a:lnTo>
                <a:lnTo>
                  <a:pt x="0" y="2609850"/>
                </a:lnTo>
                <a:lnTo>
                  <a:pt x="152400" y="2462301"/>
                </a:lnTo>
                <a:lnTo>
                  <a:pt x="152400" y="2762250"/>
                </a:lnTo>
                <a:lnTo>
                  <a:pt x="2847975" y="15240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9144000" cy="5143884"/>
            <a:chOff x="0" y="0"/>
            <a:chExt cx="9144000" cy="5143884"/>
          </a:xfrm>
        </p:grpSpPr>
        <p:sp>
          <p:nvSpPr>
            <p:cNvPr id="6" name="object 6"/>
            <p:cNvSpPr/>
            <p:nvPr/>
          </p:nvSpPr>
          <p:spPr>
            <a:xfrm>
              <a:off x="7439025" y="3411604"/>
              <a:ext cx="1704975" cy="1732280"/>
            </a:xfrm>
            <a:custGeom>
              <a:avLst/>
              <a:gdLst/>
              <a:ahLst/>
              <a:cxnLst/>
              <a:rect l="l" t="t" r="r" b="b"/>
              <a:pathLst>
                <a:path w="1704975" h="1732279">
                  <a:moveTo>
                    <a:pt x="1704974" y="0"/>
                  </a:moveTo>
                  <a:lnTo>
                    <a:pt x="0" y="1731895"/>
                  </a:lnTo>
                  <a:lnTo>
                    <a:pt x="1704974" y="1731895"/>
                  </a:lnTo>
                  <a:lnTo>
                    <a:pt x="170497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4000" y="0"/>
                  </a:moveTo>
                  <a:lnTo>
                    <a:pt x="8884285" y="0"/>
                  </a:lnTo>
                  <a:lnTo>
                    <a:pt x="8884285" y="250190"/>
                  </a:lnTo>
                  <a:lnTo>
                    <a:pt x="8884285" y="4883150"/>
                  </a:lnTo>
                  <a:lnTo>
                    <a:pt x="259765" y="4883150"/>
                  </a:lnTo>
                  <a:lnTo>
                    <a:pt x="259765" y="250190"/>
                  </a:lnTo>
                  <a:lnTo>
                    <a:pt x="8884285" y="250190"/>
                  </a:lnTo>
                  <a:lnTo>
                    <a:pt x="8884285" y="0"/>
                  </a:lnTo>
                  <a:lnTo>
                    <a:pt x="0" y="0"/>
                  </a:lnTo>
                  <a:lnTo>
                    <a:pt x="0" y="250190"/>
                  </a:lnTo>
                  <a:lnTo>
                    <a:pt x="0" y="4883150"/>
                  </a:lnTo>
                  <a:lnTo>
                    <a:pt x="0" y="5143500"/>
                  </a:lnTo>
                  <a:lnTo>
                    <a:pt x="9144000" y="5143500"/>
                  </a:lnTo>
                  <a:lnTo>
                    <a:pt x="9144000" y="4883734"/>
                  </a:lnTo>
                  <a:lnTo>
                    <a:pt x="9144000" y="4883150"/>
                  </a:lnTo>
                  <a:lnTo>
                    <a:pt x="9144000" y="25019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91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7650" y="2000249"/>
              <a:ext cx="8648700" cy="3143250"/>
            </a:xfrm>
            <a:custGeom>
              <a:avLst/>
              <a:gdLst/>
              <a:ahLst/>
              <a:cxnLst/>
              <a:rect l="l" t="t" r="r" b="b"/>
              <a:pathLst>
                <a:path w="8648700" h="3143250">
                  <a:moveTo>
                    <a:pt x="4619625" y="2651125"/>
                  </a:moveTo>
                  <a:lnTo>
                    <a:pt x="4611878" y="2612821"/>
                  </a:lnTo>
                  <a:lnTo>
                    <a:pt x="4590796" y="2581529"/>
                  </a:lnTo>
                  <a:lnTo>
                    <a:pt x="4559503" y="2560447"/>
                  </a:lnTo>
                  <a:lnTo>
                    <a:pt x="4521200" y="2552700"/>
                  </a:lnTo>
                  <a:lnTo>
                    <a:pt x="4127500" y="2552700"/>
                  </a:lnTo>
                  <a:lnTo>
                    <a:pt x="4089184" y="2560447"/>
                  </a:lnTo>
                  <a:lnTo>
                    <a:pt x="4057904" y="2581529"/>
                  </a:lnTo>
                  <a:lnTo>
                    <a:pt x="4036809" y="2612821"/>
                  </a:lnTo>
                  <a:lnTo>
                    <a:pt x="4029075" y="2651125"/>
                  </a:lnTo>
                  <a:lnTo>
                    <a:pt x="4029075" y="3143250"/>
                  </a:lnTo>
                  <a:lnTo>
                    <a:pt x="4619625" y="3143250"/>
                  </a:lnTo>
                  <a:lnTo>
                    <a:pt x="4619625" y="2651125"/>
                  </a:lnTo>
                  <a:close/>
                </a:path>
                <a:path w="8648700" h="3143250">
                  <a:moveTo>
                    <a:pt x="8648700" y="0"/>
                  </a:moveTo>
                  <a:lnTo>
                    <a:pt x="0" y="0"/>
                  </a:lnTo>
                  <a:lnTo>
                    <a:pt x="0" y="542925"/>
                  </a:lnTo>
                  <a:lnTo>
                    <a:pt x="8648700" y="542925"/>
                  </a:lnTo>
                  <a:lnTo>
                    <a:pt x="8648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5775" y="4752975"/>
              <a:ext cx="561975" cy="180975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3487801" y="646430"/>
            <a:ext cx="204343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solidFill>
                  <a:srgbClr val="FFFFFF"/>
                </a:solidFill>
              </a:rPr>
              <a:t>¡Muchas</a:t>
            </a:r>
            <a:r>
              <a:rPr sz="2000" spc="30" dirty="0">
                <a:solidFill>
                  <a:srgbClr val="FFFFFF"/>
                </a:solidFill>
              </a:rPr>
              <a:t> </a:t>
            </a:r>
            <a:r>
              <a:rPr sz="2000" spc="-10" dirty="0">
                <a:solidFill>
                  <a:srgbClr val="FFFFFF"/>
                </a:solidFill>
              </a:rPr>
              <a:t>Gracias!</a:t>
            </a:r>
            <a:endParaRPr sz="2000"/>
          </a:p>
        </p:txBody>
      </p:sp>
      <p:sp>
        <p:nvSpPr>
          <p:cNvPr id="13" name="object 13"/>
          <p:cNvSpPr txBox="1"/>
          <p:nvPr/>
        </p:nvSpPr>
        <p:spPr>
          <a:xfrm>
            <a:off x="570270" y="2656203"/>
            <a:ext cx="364045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AR" sz="2000" spc="100">
                <a:solidFill>
                  <a:srgbClr val="FFFFFF"/>
                </a:solidFill>
                <a:latin typeface="Trebuchet MS"/>
                <a:cs typeface="Trebuchet MS"/>
              </a:rPr>
              <a:t>Mas</a:t>
            </a:r>
            <a:r>
              <a:rPr lang="es-AR" sz="20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AR" sz="2000" spc="-25">
                <a:solidFill>
                  <a:srgbClr val="FFFFFF"/>
                </a:solidFill>
                <a:latin typeface="Trebuchet MS"/>
                <a:cs typeface="Trebuchet MS"/>
              </a:rPr>
              <a:t>producción.</a:t>
            </a:r>
            <a:r>
              <a:rPr lang="es-AR" sz="20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AR" sz="2000" spc="75">
                <a:solidFill>
                  <a:srgbClr val="FFFFFF"/>
                </a:solidFill>
                <a:latin typeface="Trebuchet MS"/>
                <a:cs typeface="Trebuchet MS"/>
              </a:rPr>
              <a:t>Mismos</a:t>
            </a:r>
            <a:r>
              <a:rPr lang="es-AR" sz="2000" spc="-20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AR" sz="2000" spc="-10">
                <a:solidFill>
                  <a:srgbClr val="FFFFFF"/>
                </a:solidFill>
                <a:latin typeface="Trebuchet MS"/>
                <a:cs typeface="Trebuchet MS"/>
              </a:rPr>
              <a:t>valores</a:t>
            </a:r>
            <a:endParaRPr lang="es-AR" sz="2000">
              <a:latin typeface="Trebuchet MS"/>
              <a:cs typeface="Trebuchet MS"/>
            </a:endParaRPr>
          </a:p>
        </p:txBody>
      </p:sp>
      <p:pic>
        <p:nvPicPr>
          <p:cNvPr id="3076" name="Picture 4" descr="Honda">
            <a:extLst>
              <a:ext uri="{FF2B5EF4-FFF2-40B4-BE49-F238E27FC236}">
                <a16:creationId xmlns:a16="http://schemas.microsoft.com/office/drawing/2014/main" id="{A73B028A-25F2-47A0-BF69-5A06ADB02E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56" b="43300"/>
          <a:stretch/>
        </p:blipFill>
        <p:spPr bwMode="auto">
          <a:xfrm>
            <a:off x="1333500" y="2009774"/>
            <a:ext cx="6477000" cy="52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object 10">
            <a:extLst>
              <a:ext uri="{FF2B5EF4-FFF2-40B4-BE49-F238E27FC236}">
                <a16:creationId xmlns:a16="http://schemas.microsoft.com/office/drawing/2014/main" id="{E8D1F4FE-F273-469A-A2DC-176134F86DF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53300" y="2133600"/>
            <a:ext cx="1390650" cy="2886073"/>
          </a:xfrm>
          <a:prstGeom prst="rect">
            <a:avLst/>
          </a:prstGeom>
        </p:spPr>
      </p:pic>
      <p:pic>
        <p:nvPicPr>
          <p:cNvPr id="17" name="object 12">
            <a:extLst>
              <a:ext uri="{FF2B5EF4-FFF2-40B4-BE49-F238E27FC236}">
                <a16:creationId xmlns:a16="http://schemas.microsoft.com/office/drawing/2014/main" id="{6E538D69-9316-4AE9-9D1A-130D50494AA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2980372"/>
            <a:ext cx="2952634" cy="19079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</TotalTime>
  <Words>2393</Words>
  <Application>Microsoft Office PowerPoint</Application>
  <PresentationFormat>Presentación en pantalla (16:9)</PresentationFormat>
  <Paragraphs>522</Paragraphs>
  <Slides>41</Slides>
  <Notes>1</Notes>
  <HiddenSlides>0</HiddenSlides>
  <MMClips>1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52" baseType="lpstr">
      <vt:lpstr>Arial</vt:lpstr>
      <vt:lpstr>Arial Black</vt:lpstr>
      <vt:lpstr>Arial MT</vt:lpstr>
      <vt:lpstr>Arial Narrow</vt:lpstr>
      <vt:lpstr>Bahnschrift SemiLight</vt:lpstr>
      <vt:lpstr>Calibri</vt:lpstr>
      <vt:lpstr>Calibri Light</vt:lpstr>
      <vt:lpstr>Times New Roman</vt:lpstr>
      <vt:lpstr>Trebuchet MS</vt:lpstr>
      <vt:lpstr>Wingdings</vt:lpstr>
      <vt:lpstr>Office Theme</vt:lpstr>
      <vt:lpstr>MS Maind Mind</vt:lpstr>
      <vt:lpstr>Índice</vt:lpstr>
      <vt:lpstr>Formación del círculo</vt:lpstr>
      <vt:lpstr>Formación del círculo</vt:lpstr>
      <vt:lpstr>Formación del círculo</vt:lpstr>
      <vt:lpstr>¿Dónde trabajamos?</vt:lpstr>
      <vt:lpstr>Formación del círculo</vt:lpstr>
      <vt:lpstr>Origen del nombre del círculo</vt:lpstr>
      <vt:lpstr>Nombre elegido</vt:lpstr>
      <vt:lpstr>Cronograma de actividades</vt:lpstr>
      <vt:lpstr>Cronograma de actividades</vt:lpstr>
      <vt:lpstr>Selección del tema</vt:lpstr>
      <vt:lpstr>Presentación de PowerPoint</vt:lpstr>
      <vt:lpstr>Selección del tema Método GUT</vt:lpstr>
      <vt:lpstr>Análisis de la situación</vt:lpstr>
      <vt:lpstr>Análisis de la situación</vt:lpstr>
      <vt:lpstr>5W2H — ¿Cómo ocurre actualmente?</vt:lpstr>
      <vt:lpstr>5W2H — ¿Cómo ocurre actualmente?</vt:lpstr>
      <vt:lpstr>5W2H — ¿Cómo ocurre actualmente?</vt:lpstr>
      <vt:lpstr>5W2H — ¿Cómo ocurre actualmente?</vt:lpstr>
      <vt:lpstr>5W2H — ¿Cómo ocurre actualmente?</vt:lpstr>
      <vt:lpstr>5W2H — ¿Cómo ocurre actualmente?</vt:lpstr>
      <vt:lpstr>5W2H — ¿Cómo ocurre actualmente?</vt:lpstr>
      <vt:lpstr>Análisis de las causas</vt:lpstr>
      <vt:lpstr>Análisis de las causas Diagrama espina de pescado</vt:lpstr>
      <vt:lpstr>Objetivos y metas</vt:lpstr>
      <vt:lpstr>Presentación de PowerPoint</vt:lpstr>
      <vt:lpstr>Estudio e implementación de soluciones</vt:lpstr>
      <vt:lpstr>Presentación de PowerPoint</vt:lpstr>
      <vt:lpstr>Presentación de PowerPoint</vt:lpstr>
      <vt:lpstr>Evidencias de la implementación de la solución</vt:lpstr>
      <vt:lpstr>Evidencias de la implementación de la solución</vt:lpstr>
      <vt:lpstr>Evidencias de la implementación de la solución</vt:lpstr>
      <vt:lpstr>Análisis de los resultados</vt:lpstr>
      <vt:lpstr>Antes</vt:lpstr>
      <vt:lpstr>Conclusiones</vt:lpstr>
      <vt:lpstr>Freno contra retroceso</vt:lpstr>
      <vt:lpstr>Acciones</vt:lpstr>
      <vt:lpstr>Trabajos futuros</vt:lpstr>
      <vt:lpstr>Presentación de PowerPoint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Maind Mind</dc:title>
  <dc:creator>Usuario</dc:creator>
  <cp:lastModifiedBy>Patricia Richard</cp:lastModifiedBy>
  <cp:revision>28</cp:revision>
  <dcterms:created xsi:type="dcterms:W3CDTF">2026-09-13T17:04:03Z</dcterms:created>
  <dcterms:modified xsi:type="dcterms:W3CDTF">2026-09-14T01:41:04Z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LastSaved">
    <vt:filetime>2026-09-13T00:00:00Z</vt:filetime>
  </property>
</Properties>
</file>